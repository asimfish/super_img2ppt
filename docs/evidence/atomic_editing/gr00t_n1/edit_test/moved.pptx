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35711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Adapted from GR00T N1, NVIDIA et al., arXiv:2503.14734v2, Figure 3 page 4, 27 March 2025. Paper CC BY 4.0 https://creativecommons.org/licenses/by/4.0/. Native reconstruction from raster; two photographic/robot-art crops remain raster. No endorsement implied.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80" name="vision_module" descr="Move the module body and its complete editable label together; each label line stays one text object."/>
          <p:cNvGrpSpPr/>
          <p:nvPr/>
        </p:nvGrpSpPr>
        <p:grpSpPr>
          <a:xfrm>
            <a:off x="2011583" y="128947"/>
            <a:ext cx="1160528" cy="1347502"/>
            <a:chOff x="2011583" y="128947"/>
            <a:chExt cx="1160528" cy="1347502"/>
          </a:xfrm>
        </p:grpSpPr>
        <p:sp>
          <p:nvSpPr>
            <p:cNvPr id="2" name="vision" descr="Editable shape; source id vision"/>
            <p:cNvSpPr/>
            <p:nvPr/>
          </p:nvSpPr>
          <p:spPr>
            <a:xfrm>
              <a:off x="2043820" y="128947"/>
              <a:ext cx="1096054" cy="1347502"/>
            </a:xfrm>
            <a:prstGeom prst="roundRect">
              <a:avLst>
                <a:gd name="adj" fmla="val 19411"/>
              </a:avLst>
            </a:prstGeom>
            <a:solidFill>
              <a:srgbClr val="F2F2F2"/>
            </a:solidFill>
            <a:ln w="19342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vision_label_0" descr="Editable text; source id vision_label_0"/>
            <p:cNvSpPr txBox="1"/>
            <p:nvPr/>
          </p:nvSpPr>
          <p:spPr>
            <a:xfrm>
              <a:off x="2011583" y="580264"/>
              <a:ext cx="1160528" cy="238553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693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Vision</a:t>
              </a:r>
            </a:p>
          </p:txBody>
        </p:sp>
        <p:sp>
          <p:nvSpPr>
            <p:cNvPr id="4" name="vision_label_1" descr="Editable text; source id vision_label_1"/>
            <p:cNvSpPr txBox="1"/>
            <p:nvPr/>
          </p:nvSpPr>
          <p:spPr>
            <a:xfrm>
              <a:off x="2011583" y="799475"/>
              <a:ext cx="1160528" cy="238553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693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Encoder</a:t>
              </a:r>
            </a:p>
          </p:txBody>
        </p:sp>
      </p:grpSp>
      <p:grpSp>
        <p:nvGrpSpPr>
          <p:cNvPr id="181" name="tokenizer_module" descr="Move the module body and its complete editable label together; each label line stays one text object."/>
          <p:cNvGrpSpPr/>
          <p:nvPr/>
        </p:nvGrpSpPr>
        <p:grpSpPr>
          <a:xfrm>
            <a:off x="2011583" y="1682766"/>
            <a:ext cx="1160528" cy="593159"/>
            <a:chOff x="2011583" y="1682766"/>
            <a:chExt cx="1160528" cy="593159"/>
          </a:xfrm>
        </p:grpSpPr>
        <p:sp>
          <p:nvSpPr>
            <p:cNvPr id="5" name="tokenizer" descr="Editable shape; source id tokenizer"/>
            <p:cNvSpPr/>
            <p:nvPr/>
          </p:nvSpPr>
          <p:spPr>
            <a:xfrm>
              <a:off x="2043820" y="1682766"/>
              <a:ext cx="1096054" cy="593159"/>
            </a:xfrm>
            <a:prstGeom prst="roundRect">
              <a:avLst>
                <a:gd name="adj" fmla="val 27173"/>
              </a:avLst>
            </a:prstGeom>
            <a:solidFill>
              <a:srgbClr val="F2F2F2"/>
            </a:solidFill>
            <a:ln w="19342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okenizer_label_0" descr="Editable text; source id tokenizer_label_0"/>
            <p:cNvSpPr txBox="1"/>
            <p:nvPr/>
          </p:nvSpPr>
          <p:spPr>
            <a:xfrm>
              <a:off x="2011583" y="1760135"/>
              <a:ext cx="1160528" cy="238553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693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Text</a:t>
              </a:r>
            </a:p>
          </p:txBody>
        </p:sp>
        <p:sp>
          <p:nvSpPr>
            <p:cNvPr id="7" name="tokenizer_label_1" descr="Editable text; source id tokenizer_label_1"/>
            <p:cNvSpPr txBox="1"/>
            <p:nvPr/>
          </p:nvSpPr>
          <p:spPr>
            <a:xfrm>
              <a:off x="2011583" y="1972898"/>
              <a:ext cx="1160528" cy="238553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693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Tokenizer</a:t>
              </a:r>
            </a:p>
          </p:txBody>
        </p:sp>
      </p:grpSp>
      <p:grpSp>
        <p:nvGrpSpPr>
          <p:cNvPr id="183" name="vlm_module" descr="Move the module body and its complete editable label together; each label line stays one text object."/>
          <p:cNvGrpSpPr/>
          <p:nvPr/>
        </p:nvGrpSpPr>
        <p:grpSpPr>
          <a:xfrm>
            <a:off x="3668560" y="64473"/>
            <a:ext cx="1192765" cy="2333952"/>
            <a:chOff x="3668560" y="64473"/>
            <a:chExt cx="1192765" cy="2333952"/>
          </a:xfrm>
        </p:grpSpPr>
        <p:sp>
          <p:nvSpPr>
            <p:cNvPr id="8" name="vlm" descr="Editable shape; source id vlm"/>
            <p:cNvSpPr/>
            <p:nvPr/>
          </p:nvSpPr>
          <p:spPr>
            <a:xfrm>
              <a:off x="3668560" y="64473"/>
              <a:ext cx="1192765" cy="2333952"/>
            </a:xfrm>
            <a:prstGeom prst="roundRect">
              <a:avLst>
                <a:gd name="adj" fmla="val 17837"/>
              </a:avLst>
            </a:prstGeom>
            <a:solidFill>
              <a:srgbClr val="F2F2F2"/>
            </a:solidFill>
            <a:ln w="19342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vlm_label_0" descr="Editable text; source id vlm_label_0"/>
            <p:cNvSpPr txBox="1"/>
            <p:nvPr/>
          </p:nvSpPr>
          <p:spPr>
            <a:xfrm>
              <a:off x="3681455" y="1012239"/>
              <a:ext cx="1160528" cy="238553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693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Eagle-2</a:t>
              </a:r>
            </a:p>
          </p:txBody>
        </p:sp>
        <p:sp>
          <p:nvSpPr>
            <p:cNvPr id="10" name="vlm_label_1" descr="Editable text; source id vlm_label_1"/>
            <p:cNvSpPr txBox="1"/>
            <p:nvPr/>
          </p:nvSpPr>
          <p:spPr>
            <a:xfrm>
              <a:off x="3681455" y="1231449"/>
              <a:ext cx="1160528" cy="238553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693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VLM</a:t>
              </a:r>
            </a:p>
          </p:txBody>
        </p:sp>
        <p:grpSp>
          <p:nvGrpSpPr>
            <p:cNvPr id="182" name="vlm_frozen_icon" descr="Snowflake is one freeze-status symbol; all native strokes should move together, never as individual editing targets."/>
            <p:cNvGrpSpPr/>
            <p:nvPr/>
          </p:nvGrpSpPr>
          <p:grpSpPr>
            <a:xfrm>
              <a:off x="4603492" y="186974"/>
              <a:ext cx="167508" cy="193421"/>
              <a:chOff x="4603492" y="186974"/>
              <a:chExt cx="167508" cy="193421"/>
            </a:xfrm>
          </p:grpSpPr>
          <p:cxnSp>
            <p:nvCxnSpPr>
              <p:cNvPr id="11" name="vlm_frozen_icon_arm_0" descr="Editable line; source id vlm_frozen_icon_arm_0"/>
              <p:cNvCxnSpPr/>
              <p:nvPr/>
            </p:nvCxnSpPr>
            <p:spPr>
              <a:xfrm flipV="1">
                <a:off x="4687246" y="186974"/>
                <a:ext cx="0" cy="96710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vlm_frozen_icon_twig_0_0" descr="Editable line; source id vlm_frozen_icon_twig_0_0"/>
              <p:cNvCxnSpPr/>
              <p:nvPr/>
            </p:nvCxnSpPr>
            <p:spPr>
              <a:xfrm flipH="1" flipV="1">
                <a:off x="4664036" y="202447"/>
                <a:ext cx="23210" cy="26112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vlm_frozen_icon_twig_0_1" descr="Editable line; source id vlm_frozen_icon_twig_0_1"/>
              <p:cNvCxnSpPr/>
              <p:nvPr/>
            </p:nvCxnSpPr>
            <p:spPr>
              <a:xfrm flipV="1">
                <a:off x="4687246" y="202447"/>
                <a:ext cx="23211" cy="26112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vlm_frozen_icon_arm_1" descr="Editable line; source id vlm_frozen_icon_arm_1"/>
              <p:cNvCxnSpPr/>
              <p:nvPr/>
            </p:nvCxnSpPr>
            <p:spPr>
              <a:xfrm flipV="1">
                <a:off x="4687246" y="235329"/>
                <a:ext cx="83754" cy="48355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vlm_frozen_icon_twig_1_0" descr="Editable line; source id vlm_frozen_icon_twig_1_0"/>
              <p:cNvCxnSpPr/>
              <p:nvPr/>
            </p:nvCxnSpPr>
            <p:spPr>
              <a:xfrm flipV="1">
                <a:off x="4734986" y="222965"/>
                <a:ext cx="11008" cy="33157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vlm_frozen_icon_twig_1_1" descr="Editable line; source id vlm_frozen_icon_twig_1_1"/>
              <p:cNvCxnSpPr/>
              <p:nvPr/>
            </p:nvCxnSpPr>
            <p:spPr>
              <a:xfrm>
                <a:off x="4734986" y="256122"/>
                <a:ext cx="34219" cy="7045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vlm_frozen_icon_arm_2" descr="Editable line; source id vlm_frozen_icon_arm_2"/>
              <p:cNvCxnSpPr/>
              <p:nvPr/>
            </p:nvCxnSpPr>
            <p:spPr>
              <a:xfrm>
                <a:off x="4687246" y="283684"/>
                <a:ext cx="83754" cy="48356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vlm_frozen_icon_twig_2_0" descr="Editable line; source id vlm_frozen_icon_twig_2_0"/>
              <p:cNvCxnSpPr/>
              <p:nvPr/>
            </p:nvCxnSpPr>
            <p:spPr>
              <a:xfrm flipV="1">
                <a:off x="4734986" y="304202"/>
                <a:ext cx="34219" cy="7045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vlm_frozen_icon_twig_2_1" descr="Editable line; source id vlm_frozen_icon_twig_2_1"/>
              <p:cNvCxnSpPr/>
              <p:nvPr/>
            </p:nvCxnSpPr>
            <p:spPr>
              <a:xfrm>
                <a:off x="4734986" y="311247"/>
                <a:ext cx="11008" cy="33157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vlm_frozen_icon_arm_3" descr="Editable line; source id vlm_frozen_icon_arm_3"/>
              <p:cNvCxnSpPr/>
              <p:nvPr/>
            </p:nvCxnSpPr>
            <p:spPr>
              <a:xfrm>
                <a:off x="4687246" y="283684"/>
                <a:ext cx="0" cy="96711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vlm_frozen_icon_twig_3_0" descr="Editable line; source id vlm_frozen_icon_twig_3_0"/>
              <p:cNvCxnSpPr/>
              <p:nvPr/>
            </p:nvCxnSpPr>
            <p:spPr>
              <a:xfrm>
                <a:off x="4687246" y="338809"/>
                <a:ext cx="23211" cy="26112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vlm_frozen_icon_twig_3_1" descr="Editable line; source id vlm_frozen_icon_twig_3_1"/>
              <p:cNvCxnSpPr/>
              <p:nvPr/>
            </p:nvCxnSpPr>
            <p:spPr>
              <a:xfrm flipH="1">
                <a:off x="4664036" y="338809"/>
                <a:ext cx="23210" cy="26112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vlm_frozen_icon_arm_4" descr="Editable line; source id vlm_frozen_icon_arm_4"/>
              <p:cNvCxnSpPr/>
              <p:nvPr/>
            </p:nvCxnSpPr>
            <p:spPr>
              <a:xfrm flipH="1">
                <a:off x="4603492" y="283684"/>
                <a:ext cx="83754" cy="48356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vlm_frozen_icon_twig_4_0" descr="Editable line; source id vlm_frozen_icon_twig_4_0"/>
              <p:cNvCxnSpPr/>
              <p:nvPr/>
            </p:nvCxnSpPr>
            <p:spPr>
              <a:xfrm flipH="1">
                <a:off x="4628498" y="311247"/>
                <a:ext cx="11009" cy="33157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vlm_frozen_icon_twig_4_1" descr="Editable line; source id vlm_frozen_icon_twig_4_1"/>
              <p:cNvCxnSpPr/>
              <p:nvPr/>
            </p:nvCxnSpPr>
            <p:spPr>
              <a:xfrm flipH="1" flipV="1">
                <a:off x="4605288" y="304202"/>
                <a:ext cx="34219" cy="7045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vlm_frozen_icon_arm_5" descr="Editable line; source id vlm_frozen_icon_arm_5"/>
              <p:cNvCxnSpPr/>
              <p:nvPr/>
            </p:nvCxnSpPr>
            <p:spPr>
              <a:xfrm flipH="1" flipV="1">
                <a:off x="4603492" y="235329"/>
                <a:ext cx="83754" cy="48355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vlm_frozen_icon_twig_5_0" descr="Editable line; source id vlm_frozen_icon_twig_5_0"/>
              <p:cNvCxnSpPr/>
              <p:nvPr/>
            </p:nvCxnSpPr>
            <p:spPr>
              <a:xfrm flipH="1">
                <a:off x="4605288" y="256122"/>
                <a:ext cx="34219" cy="7045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vlm_frozen_icon_twig_5_1" descr="Editable line; source id vlm_frozen_icon_twig_5_1"/>
              <p:cNvCxnSpPr/>
              <p:nvPr/>
            </p:nvCxnSpPr>
            <p:spPr>
              <a:xfrm flipH="1" flipV="1">
                <a:off x="4628498" y="222965"/>
                <a:ext cx="11009" cy="33157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84" name="state_encoder_module" descr="Move the module body and its complete editable label together; each label line stays one text object."/>
          <p:cNvGrpSpPr/>
          <p:nvPr/>
        </p:nvGrpSpPr>
        <p:grpSpPr>
          <a:xfrm>
            <a:off x="3333296" y="2675663"/>
            <a:ext cx="1250792" cy="786580"/>
            <a:chOff x="3107638" y="2546715"/>
            <a:chExt cx="1250792" cy="786580"/>
          </a:xfrm>
        </p:grpSpPr>
        <p:sp>
          <p:nvSpPr>
            <p:cNvPr id="29" name="state_encoder" descr="Editable shape; source id state_encoder"/>
            <p:cNvSpPr/>
            <p:nvPr/>
          </p:nvSpPr>
          <p:spPr>
            <a:xfrm>
              <a:off x="3107638" y="2546715"/>
              <a:ext cx="1250792" cy="786580"/>
            </a:xfrm>
            <a:prstGeom prst="roundRect">
              <a:avLst>
                <a:gd name="adj" fmla="val 20491"/>
              </a:avLst>
            </a:prstGeom>
            <a:solidFill>
              <a:srgbClr val="D9EBD1"/>
            </a:solidFill>
            <a:ln w="19342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state_encoder_label_0" descr="Editable text; source id state_encoder_label_0"/>
            <p:cNvSpPr txBox="1"/>
            <p:nvPr/>
          </p:nvSpPr>
          <p:spPr>
            <a:xfrm>
              <a:off x="3152769" y="2714347"/>
              <a:ext cx="1160528" cy="238553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693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State</a:t>
              </a:r>
            </a:p>
          </p:txBody>
        </p:sp>
        <p:sp>
          <p:nvSpPr>
            <p:cNvPr id="31" name="state_encoder_label_1" descr="Editable text; source id state_encoder_label_1"/>
            <p:cNvSpPr txBox="1"/>
            <p:nvPr/>
          </p:nvSpPr>
          <p:spPr>
            <a:xfrm>
              <a:off x="3152769" y="2933558"/>
              <a:ext cx="1160528" cy="238553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693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Encoder</a:t>
              </a:r>
            </a:p>
          </p:txBody>
        </p:sp>
      </p:grpSp>
      <p:grpSp>
        <p:nvGrpSpPr>
          <p:cNvPr id="185" name="action_encoder_module" descr="Move the module body and its complete editable label together; each label line stays one text object."/>
          <p:cNvGrpSpPr/>
          <p:nvPr/>
        </p:nvGrpSpPr>
        <p:grpSpPr>
          <a:xfrm>
            <a:off x="3107638" y="3481586"/>
            <a:ext cx="1250792" cy="1798819"/>
            <a:chOff x="3107638" y="3481586"/>
            <a:chExt cx="1250792" cy="1798819"/>
          </a:xfrm>
        </p:grpSpPr>
        <p:sp>
          <p:nvSpPr>
            <p:cNvPr id="32" name="action_encoder" descr="Editable shape; source id action_encoder"/>
            <p:cNvSpPr/>
            <p:nvPr/>
          </p:nvSpPr>
          <p:spPr>
            <a:xfrm>
              <a:off x="3107638" y="3481586"/>
              <a:ext cx="1250792" cy="1798819"/>
            </a:xfrm>
            <a:prstGeom prst="roundRect">
              <a:avLst>
                <a:gd name="adj" fmla="val 17010"/>
              </a:avLst>
            </a:prstGeom>
            <a:solidFill>
              <a:srgbClr val="D9EBD1"/>
            </a:solidFill>
            <a:ln w="19342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action_encoder_label_0" descr="Editable text; source id action_encoder_label_0"/>
            <p:cNvSpPr txBox="1"/>
            <p:nvPr/>
          </p:nvSpPr>
          <p:spPr>
            <a:xfrm>
              <a:off x="3152769" y="4165008"/>
              <a:ext cx="1160528" cy="238553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693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Action</a:t>
              </a:r>
            </a:p>
          </p:txBody>
        </p:sp>
        <p:sp>
          <p:nvSpPr>
            <p:cNvPr id="34" name="action_encoder_label_1" descr="Editable text; source id action_encoder_label_1"/>
            <p:cNvSpPr txBox="1"/>
            <p:nvPr/>
          </p:nvSpPr>
          <p:spPr>
            <a:xfrm>
              <a:off x="3152769" y="4384219"/>
              <a:ext cx="1160528" cy="238553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693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Encoder</a:t>
              </a:r>
            </a:p>
          </p:txBody>
        </p:sp>
      </p:grpSp>
      <p:grpSp>
        <p:nvGrpSpPr>
          <p:cNvPr id="201" name="dit_block_stack" descr="DiT composite module, with nested editable attention sublayers and internal links. Incoming/outgoing cross-module arrows remain independent."/>
          <p:cNvGrpSpPr/>
          <p:nvPr/>
        </p:nvGrpSpPr>
        <p:grpSpPr>
          <a:xfrm>
            <a:off x="4748496" y="2546715"/>
            <a:ext cx="4461589" cy="3326849"/>
            <a:chOff x="4748496" y="2546715"/>
            <a:chExt cx="4461589" cy="3326849"/>
          </a:xfrm>
        </p:grpSpPr>
        <p:sp>
          <p:nvSpPr>
            <p:cNvPr id="35" name="dit" descr="Editable shape; source id dit"/>
            <p:cNvSpPr/>
            <p:nvPr/>
          </p:nvSpPr>
          <p:spPr>
            <a:xfrm>
              <a:off x="5415801" y="2546715"/>
              <a:ext cx="3172112" cy="2823953"/>
            </a:xfrm>
            <a:prstGeom prst="roundRect">
              <a:avLst>
                <a:gd name="adj" fmla="val 7534"/>
              </a:avLst>
            </a:prstGeom>
            <a:solidFill>
              <a:srgbClr val="F2F2F2"/>
            </a:solidFill>
            <a:ln w="19342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97" name="cross_1_module" descr="Move one attention sublayer as a unit; its whole rotated word remains one native editable text box."/>
            <p:cNvGrpSpPr/>
            <p:nvPr/>
          </p:nvGrpSpPr>
          <p:grpSpPr>
            <a:xfrm>
              <a:off x="4748496" y="2669216"/>
              <a:ext cx="2127636" cy="2566058"/>
              <a:chOff x="4748496" y="2669216"/>
              <a:chExt cx="2127636" cy="2566058"/>
            </a:xfrm>
          </p:grpSpPr>
          <p:sp>
            <p:nvSpPr>
              <p:cNvPr id="36" name="cross_1" descr="Editable shape; source id cross_1"/>
              <p:cNvSpPr/>
              <p:nvPr/>
            </p:nvSpPr>
            <p:spPr>
              <a:xfrm>
                <a:off x="5609222" y="2669216"/>
                <a:ext cx="438421" cy="2566058"/>
              </a:xfrm>
              <a:prstGeom prst="roundRect">
                <a:avLst>
                  <a:gd name="adj" fmla="val 17647"/>
                </a:avLst>
              </a:prstGeom>
              <a:solidFill>
                <a:srgbClr val="D9D9D9"/>
              </a:solidFill>
              <a:ln w="19342">
                <a:solidFill>
                  <a:srgbClr val="5B606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" name="cross_1_label" descr="Editable text; source id cross_1_label"/>
              <p:cNvSpPr txBox="1"/>
              <p:nvPr/>
            </p:nvSpPr>
            <p:spPr>
              <a:xfrm rot="5400000">
                <a:off x="4748496" y="3829745"/>
                <a:ext cx="2127636" cy="245000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ctr" fontAlgn="base">
                  <a:lnSpc>
                    <a:spcPts val="1634"/>
                  </a:lnSpc>
                  <a:spcBef>
                    <a:spcPts val="0"/>
                  </a:spcBef>
                  <a:spcAft>
                    <a:spcPts val="0"/>
                  </a:spcAft>
                  <a:defRPr sz="1421" b="0" i="0" lang="zh-CN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421" b="0" i="0" lang="zh-CN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Cross-Attention</a:t>
                </a:r>
              </a:p>
            </p:txBody>
          </p:sp>
        </p:grpSp>
        <p:grpSp>
          <p:nvGrpSpPr>
            <p:cNvPr id="198" name="self_1_module" descr="Move one attention sublayer as a unit; its whole rotated word remains one native editable text box."/>
            <p:cNvGrpSpPr/>
            <p:nvPr/>
          </p:nvGrpSpPr>
          <p:grpSpPr>
            <a:xfrm>
              <a:off x="5348103" y="2669216"/>
              <a:ext cx="2127636" cy="2566058"/>
              <a:chOff x="5348103" y="2669216"/>
              <a:chExt cx="2127636" cy="2566058"/>
            </a:xfrm>
          </p:grpSpPr>
          <p:sp>
            <p:nvSpPr>
              <p:cNvPr id="38" name="self_1" descr="Editable shape; source id self_1"/>
              <p:cNvSpPr/>
              <p:nvPr/>
            </p:nvSpPr>
            <p:spPr>
              <a:xfrm>
                <a:off x="6208829" y="2669216"/>
                <a:ext cx="444869" cy="2566058"/>
              </a:xfrm>
              <a:prstGeom prst="roundRect">
                <a:avLst>
                  <a:gd name="adj" fmla="val 17391"/>
                </a:avLst>
              </a:prstGeom>
              <a:solidFill>
                <a:srgbClr val="D9D9D9"/>
              </a:solidFill>
              <a:ln w="19342">
                <a:solidFill>
                  <a:srgbClr val="5B606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" name="self_1_label" descr="Editable text; source id self_1_label"/>
              <p:cNvSpPr txBox="1"/>
              <p:nvPr/>
            </p:nvSpPr>
            <p:spPr>
              <a:xfrm rot="5400000">
                <a:off x="5348103" y="3829745"/>
                <a:ext cx="2127636" cy="245000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ctr" fontAlgn="base">
                  <a:lnSpc>
                    <a:spcPts val="1634"/>
                  </a:lnSpc>
                  <a:spcBef>
                    <a:spcPts val="0"/>
                  </a:spcBef>
                  <a:spcAft>
                    <a:spcPts val="0"/>
                  </a:spcAft>
                  <a:defRPr sz="1421" b="0" i="0" lang="zh-CN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421" b="0" i="0" lang="zh-CN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Self-Attention</a:t>
                </a:r>
              </a:p>
            </p:txBody>
          </p:sp>
        </p:grpSp>
        <p:grpSp>
          <p:nvGrpSpPr>
            <p:cNvPr id="199" name="cross_2_module" descr="Move one attention sublayer as a unit; its whole rotated word remains one native editable text box."/>
            <p:cNvGrpSpPr/>
            <p:nvPr/>
          </p:nvGrpSpPr>
          <p:grpSpPr>
            <a:xfrm>
              <a:off x="6482842" y="2669216"/>
              <a:ext cx="2127636" cy="2566058"/>
              <a:chOff x="6482842" y="2669216"/>
              <a:chExt cx="2127636" cy="2566058"/>
            </a:xfrm>
          </p:grpSpPr>
          <p:sp>
            <p:nvSpPr>
              <p:cNvPr id="40" name="cross_2" descr="Editable shape; source id cross_2"/>
              <p:cNvSpPr/>
              <p:nvPr/>
            </p:nvSpPr>
            <p:spPr>
              <a:xfrm>
                <a:off x="7343568" y="2669216"/>
                <a:ext cx="444869" cy="2566058"/>
              </a:xfrm>
              <a:prstGeom prst="roundRect">
                <a:avLst>
                  <a:gd name="adj" fmla="val 17391"/>
                </a:avLst>
              </a:prstGeom>
              <a:solidFill>
                <a:srgbClr val="D9D9D9"/>
              </a:solidFill>
              <a:ln w="19342">
                <a:solidFill>
                  <a:srgbClr val="5B606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" name="cross_2_label" descr="Editable text; source id cross_2_label"/>
              <p:cNvSpPr txBox="1"/>
              <p:nvPr/>
            </p:nvSpPr>
            <p:spPr>
              <a:xfrm rot="5400000">
                <a:off x="6482842" y="3829745"/>
                <a:ext cx="2127636" cy="245000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ctr" fontAlgn="base">
                  <a:lnSpc>
                    <a:spcPts val="1634"/>
                  </a:lnSpc>
                  <a:spcBef>
                    <a:spcPts val="0"/>
                  </a:spcBef>
                  <a:spcAft>
                    <a:spcPts val="0"/>
                  </a:spcAft>
                  <a:defRPr sz="1421" b="0" i="0" lang="zh-CN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421" b="0" i="0" lang="zh-CN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Cross-Attention</a:t>
                </a:r>
              </a:p>
            </p:txBody>
          </p:sp>
        </p:grpSp>
        <p:grpSp>
          <p:nvGrpSpPr>
            <p:cNvPr id="200" name="self_2_module" descr="Move one attention sublayer as a unit; its whole rotated word remains one native editable text box."/>
            <p:cNvGrpSpPr/>
            <p:nvPr/>
          </p:nvGrpSpPr>
          <p:grpSpPr>
            <a:xfrm>
              <a:off x="7082449" y="2669216"/>
              <a:ext cx="2127636" cy="2566058"/>
              <a:chOff x="7082449" y="2669216"/>
              <a:chExt cx="2127636" cy="2566058"/>
            </a:xfrm>
          </p:grpSpPr>
          <p:sp>
            <p:nvSpPr>
              <p:cNvPr id="42" name="self_2" descr="Editable shape; source id self_2"/>
              <p:cNvSpPr/>
              <p:nvPr/>
            </p:nvSpPr>
            <p:spPr>
              <a:xfrm>
                <a:off x="7943174" y="2669216"/>
                <a:ext cx="444869" cy="2566058"/>
              </a:xfrm>
              <a:prstGeom prst="roundRect">
                <a:avLst>
                  <a:gd name="adj" fmla="val 17391"/>
                </a:avLst>
              </a:prstGeom>
              <a:solidFill>
                <a:srgbClr val="D9D9D9"/>
              </a:solidFill>
              <a:ln w="19342">
                <a:solidFill>
                  <a:srgbClr val="5B606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" name="self_2_label" descr="Editable text; source id self_2_label"/>
              <p:cNvSpPr txBox="1"/>
              <p:nvPr/>
            </p:nvSpPr>
            <p:spPr>
              <a:xfrm rot="5400000">
                <a:off x="7082449" y="3829745"/>
                <a:ext cx="2127636" cy="245000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ctr" fontAlgn="base">
                  <a:lnSpc>
                    <a:spcPts val="1634"/>
                  </a:lnSpc>
                  <a:spcBef>
                    <a:spcPts val="0"/>
                  </a:spcBef>
                  <a:spcAft>
                    <a:spcPts val="0"/>
                  </a:spcAft>
                  <a:defRPr sz="1421" b="0" i="0" lang="zh-CN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421" b="0" i="0" lang="zh-CN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Self-Attention</a:t>
                </a:r>
              </a:p>
            </p:txBody>
          </p:sp>
        </p:grpSp>
        <p:cxnSp>
          <p:nvCxnSpPr>
            <p:cNvPr id="44" name="cross_self_1" descr="Editable line; source id cross_self_1"/>
            <p:cNvCxnSpPr/>
            <p:nvPr/>
          </p:nvCxnSpPr>
          <p:spPr>
            <a:xfrm>
              <a:off x="6047644" y="3952245"/>
              <a:ext cx="161185" cy="0"/>
            </a:xfrm>
            <a:prstGeom prst="line">
              <a:avLst/>
            </a:prstGeom>
            <a:ln w="19342">
              <a:solidFill>
                <a:srgbClr val="5B6067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ross_self_2" descr="Editable line; source id cross_self_2"/>
            <p:cNvCxnSpPr/>
            <p:nvPr/>
          </p:nvCxnSpPr>
          <p:spPr>
            <a:xfrm>
              <a:off x="7788437" y="3952245"/>
              <a:ext cx="154737" cy="0"/>
            </a:xfrm>
            <a:prstGeom prst="line">
              <a:avLst/>
            </a:prstGeom>
            <a:ln w="19342">
              <a:solidFill>
                <a:srgbClr val="5B6067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dit_gap" descr="Editable line; source id dit_gap"/>
            <p:cNvCxnSpPr/>
            <p:nvPr/>
          </p:nvCxnSpPr>
          <p:spPr>
            <a:xfrm>
              <a:off x="6653698" y="3952245"/>
              <a:ext cx="689870" cy="0"/>
            </a:xfrm>
            <a:prstGeom prst="line">
              <a:avLst/>
            </a:prstGeom>
            <a:ln w="19342">
              <a:solidFill>
                <a:srgbClr val="5B6067"/>
              </a:solidFill>
              <a:custDash>
                <a:ds d="433333" sp="300000"/>
              </a:custDash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repeat_count" descr="Editable text; source id repeat_count"/>
            <p:cNvSpPr txBox="1"/>
            <p:nvPr/>
          </p:nvSpPr>
          <p:spPr>
            <a:xfrm>
              <a:off x="6743961" y="5351327"/>
              <a:ext cx="502895" cy="219210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401"/>
                </a:lnSpc>
                <a:spcBef>
                  <a:spcPts val="0"/>
                </a:spcBef>
                <a:spcAft>
                  <a:spcPts val="0"/>
                </a:spcAft>
                <a:defRPr sz="1218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18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x N</a:t>
              </a:r>
            </a:p>
          </p:txBody>
        </p:sp>
        <p:sp>
          <p:nvSpPr>
            <p:cNvPr id="48" name="dit_label" descr="Editable text; source id dit_label"/>
            <p:cNvSpPr txBox="1"/>
            <p:nvPr/>
          </p:nvSpPr>
          <p:spPr>
            <a:xfrm>
              <a:off x="6370013" y="5615669"/>
              <a:ext cx="1257239" cy="257895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693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DiT Blocks</a:t>
              </a:r>
            </a:p>
          </p:txBody>
        </p:sp>
      </p:grpSp>
      <p:grpSp>
        <p:nvGrpSpPr>
          <p:cNvPr id="186" name="decoder_module" descr="Move the module body and its complete editable label together; each label line stays one text object."/>
          <p:cNvGrpSpPr/>
          <p:nvPr/>
        </p:nvGrpSpPr>
        <p:grpSpPr>
          <a:xfrm>
            <a:off x="9116598" y="2591847"/>
            <a:ext cx="1160528" cy="2688558"/>
            <a:chOff x="9116598" y="2591847"/>
            <a:chExt cx="1160528" cy="2688558"/>
          </a:xfrm>
        </p:grpSpPr>
        <p:sp>
          <p:nvSpPr>
            <p:cNvPr id="49" name="decoder" descr="Editable shape; source id decoder"/>
            <p:cNvSpPr/>
            <p:nvPr/>
          </p:nvSpPr>
          <p:spPr>
            <a:xfrm>
              <a:off x="9116598" y="2591847"/>
              <a:ext cx="1160528" cy="2688558"/>
            </a:xfrm>
            <a:prstGeom prst="roundRect">
              <a:avLst>
                <a:gd name="adj" fmla="val 18333"/>
              </a:avLst>
            </a:prstGeom>
            <a:solidFill>
              <a:srgbClr val="D9EBD1"/>
            </a:solidFill>
            <a:ln w="19342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decoder_label_0" descr="Editable text; source id decoder_label_0"/>
            <p:cNvSpPr txBox="1"/>
            <p:nvPr/>
          </p:nvSpPr>
          <p:spPr>
            <a:xfrm>
              <a:off x="9116598" y="3720139"/>
              <a:ext cx="1160528" cy="238553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693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Action</a:t>
              </a:r>
            </a:p>
          </p:txBody>
        </p:sp>
        <p:sp>
          <p:nvSpPr>
            <p:cNvPr id="51" name="decoder_label_1" descr="Editable text; source id decoder_label_1"/>
            <p:cNvSpPr txBox="1"/>
            <p:nvPr/>
          </p:nvSpPr>
          <p:spPr>
            <a:xfrm>
              <a:off x="9116598" y="3932903"/>
              <a:ext cx="1160528" cy="238553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693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Decoder</a:t>
              </a:r>
            </a:p>
          </p:txBody>
        </p:sp>
      </p:grpSp>
      <p:grpSp>
        <p:nvGrpSpPr>
          <p:cNvPr id="192" name="input_action_sequence" descr="Move dashed chunk frame and all grouped formulas/ellipsis together."/>
          <p:cNvGrpSpPr/>
          <p:nvPr/>
        </p:nvGrpSpPr>
        <p:grpSpPr>
          <a:xfrm>
            <a:off x="1805267" y="3371980"/>
            <a:ext cx="709212" cy="1998688"/>
            <a:chOff x="1805267" y="3371980"/>
            <a:chExt cx="709212" cy="1998688"/>
          </a:xfrm>
        </p:grpSpPr>
        <p:sp>
          <p:nvSpPr>
            <p:cNvPr id="52" name="input_chunk" descr="Editable shape; source id input_chunk"/>
            <p:cNvSpPr/>
            <p:nvPr/>
          </p:nvSpPr>
          <p:spPr>
            <a:xfrm>
              <a:off x="1805267" y="3371980"/>
              <a:ext cx="709212" cy="1998688"/>
            </a:xfrm>
            <a:prstGeom prst="roundRect">
              <a:avLst>
                <a:gd name="adj" fmla="val 20909"/>
              </a:avLst>
            </a:prstGeom>
            <a:noFill/>
            <a:ln w="19342">
              <a:solidFill>
                <a:srgbClr val="5B6067"/>
              </a:solidFill>
              <a:custDash>
                <a:ds d="433333" sp="300000"/>
              </a:custDash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89" name="input_a0" descr="One mathematical quantity: baseline and subscript must move together. Components preserve math style; grouping must not flatten editable text."/>
            <p:cNvGrpSpPr/>
            <p:nvPr/>
          </p:nvGrpSpPr>
          <p:grpSpPr>
            <a:xfrm>
              <a:off x="2085728" y="3463856"/>
              <a:ext cx="177303" cy="298564"/>
              <a:chOff x="2085728" y="3463856"/>
              <a:chExt cx="177303" cy="298564"/>
            </a:xfrm>
          </p:grpSpPr>
          <p:sp>
            <p:nvSpPr>
              <p:cNvPr id="53" name="input_a0_0" descr="Editable text; source id input_a0_0"/>
              <p:cNvSpPr txBox="1"/>
              <p:nvPr/>
            </p:nvSpPr>
            <p:spPr>
              <a:xfrm>
                <a:off x="2085728" y="3463856"/>
                <a:ext cx="125723" cy="276592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2101"/>
                  </a:lnSpc>
                  <a:spcBef>
                    <a:spcPts val="0"/>
                  </a:spcBef>
                  <a:spcAft>
                    <a:spcPts val="0"/>
                  </a:spcAft>
                  <a:def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a</a:t>
                </a:r>
              </a:p>
            </p:txBody>
          </p:sp>
          <p:sp>
            <p:nvSpPr>
              <p:cNvPr id="54" name="input_a0_1" descr="Editable text; source id input_a0_1"/>
              <p:cNvSpPr txBox="1"/>
              <p:nvPr/>
            </p:nvSpPr>
            <p:spPr>
              <a:xfrm>
                <a:off x="2201781" y="3560566"/>
                <a:ext cx="61250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t</a:t>
                </a:r>
              </a:p>
            </p:txBody>
          </p:sp>
        </p:grpSp>
        <p:grpSp>
          <p:nvGrpSpPr>
            <p:cNvPr id="190" name="input_a1" descr="One mathematical quantity: baseline and subscript must move together. Components preserve math style; grouping must not flatten editable text."/>
            <p:cNvGrpSpPr/>
            <p:nvPr/>
          </p:nvGrpSpPr>
          <p:grpSpPr>
            <a:xfrm>
              <a:off x="1982570" y="3850699"/>
              <a:ext cx="382006" cy="298564"/>
              <a:chOff x="1982570" y="3850699"/>
              <a:chExt cx="382006" cy="298564"/>
            </a:xfrm>
          </p:grpSpPr>
          <p:sp>
            <p:nvSpPr>
              <p:cNvPr id="55" name="input_a1_0" descr="Editable text; source id input_a1_0"/>
              <p:cNvSpPr txBox="1"/>
              <p:nvPr/>
            </p:nvSpPr>
            <p:spPr>
              <a:xfrm>
                <a:off x="1982570" y="3850699"/>
                <a:ext cx="125723" cy="276592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2101"/>
                  </a:lnSpc>
                  <a:spcBef>
                    <a:spcPts val="0"/>
                  </a:spcBef>
                  <a:spcAft>
                    <a:spcPts val="0"/>
                  </a:spcAft>
                  <a:def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a</a:t>
                </a:r>
              </a:p>
            </p:txBody>
          </p:sp>
          <p:sp>
            <p:nvSpPr>
              <p:cNvPr id="56" name="input_a1_1" descr="Editable text; source id input_a1_1"/>
              <p:cNvSpPr txBox="1"/>
              <p:nvPr/>
            </p:nvSpPr>
            <p:spPr>
              <a:xfrm>
                <a:off x="2098622" y="3947409"/>
                <a:ext cx="61250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t</a:t>
                </a:r>
              </a:p>
            </p:txBody>
          </p:sp>
          <p:sp>
            <p:nvSpPr>
              <p:cNvPr id="57" name="input_a1_2" descr="Editable text; source id input_a1_2"/>
              <p:cNvSpPr txBox="1"/>
              <p:nvPr/>
            </p:nvSpPr>
            <p:spPr>
              <a:xfrm>
                <a:off x="2175991" y="3947409"/>
                <a:ext cx="188585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+1</a:t>
                </a:r>
              </a:p>
            </p:txBody>
          </p:sp>
        </p:grpSp>
        <p:grpSp>
          <p:nvGrpSpPr>
            <p:cNvPr id="191" name="input_aH" descr="One mathematical quantity: baseline and subscript must move together. Components preserve math style; grouping must not flatten editable text."/>
            <p:cNvGrpSpPr/>
            <p:nvPr/>
          </p:nvGrpSpPr>
          <p:grpSpPr>
            <a:xfrm>
              <a:off x="1866517" y="4933859"/>
              <a:ext cx="620559" cy="298564"/>
              <a:chOff x="1866517" y="4933859"/>
              <a:chExt cx="620559" cy="298564"/>
            </a:xfrm>
          </p:grpSpPr>
          <p:sp>
            <p:nvSpPr>
              <p:cNvPr id="58" name="input_aH_0" descr="Editable text; source id input_aH_0"/>
              <p:cNvSpPr txBox="1"/>
              <p:nvPr/>
            </p:nvSpPr>
            <p:spPr>
              <a:xfrm>
                <a:off x="1866517" y="4933859"/>
                <a:ext cx="125723" cy="276592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2101"/>
                  </a:lnSpc>
                  <a:spcBef>
                    <a:spcPts val="0"/>
                  </a:spcBef>
                  <a:spcAft>
                    <a:spcPts val="0"/>
                  </a:spcAft>
                  <a:def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a</a:t>
                </a:r>
              </a:p>
            </p:txBody>
          </p:sp>
          <p:sp>
            <p:nvSpPr>
              <p:cNvPr id="59" name="input_aH_1" descr="Editable text; source id input_aH_1"/>
              <p:cNvSpPr txBox="1"/>
              <p:nvPr/>
            </p:nvSpPr>
            <p:spPr>
              <a:xfrm>
                <a:off x="1982570" y="5030569"/>
                <a:ext cx="61250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t</a:t>
                </a:r>
              </a:p>
            </p:txBody>
          </p:sp>
          <p:sp>
            <p:nvSpPr>
              <p:cNvPr id="60" name="input_aH_2" descr="Editable text; source id input_aH_2"/>
              <p:cNvSpPr txBox="1"/>
              <p:nvPr/>
            </p:nvSpPr>
            <p:spPr>
              <a:xfrm>
                <a:off x="2059938" y="5030569"/>
                <a:ext cx="104769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+</a:t>
                </a:r>
              </a:p>
            </p:txBody>
          </p:sp>
          <p:sp>
            <p:nvSpPr>
              <p:cNvPr id="61" name="input_aH_3" descr="Editable text; source id input_aH_3"/>
              <p:cNvSpPr txBox="1"/>
              <p:nvPr/>
            </p:nvSpPr>
            <p:spPr>
              <a:xfrm>
                <a:off x="2164708" y="5030569"/>
                <a:ext cx="156349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8059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H</a:t>
                </a:r>
              </a:p>
            </p:txBody>
          </p:sp>
          <p:sp>
            <p:nvSpPr>
              <p:cNvPr id="62" name="input_aH_4" descr="Editable text; source id input_aH_4"/>
              <p:cNvSpPr txBox="1"/>
              <p:nvPr/>
            </p:nvSpPr>
            <p:spPr>
              <a:xfrm>
                <a:off x="2298491" y="5030569"/>
                <a:ext cx="188585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−1</a:t>
                </a:r>
              </a:p>
            </p:txBody>
          </p:sp>
        </p:grpSp>
        <p:sp>
          <p:nvSpPr>
            <p:cNvPr id="63" name="input_ellipsis" descr="Editable text; source id input_ellipsis"/>
            <p:cNvSpPr txBox="1"/>
            <p:nvPr/>
          </p:nvSpPr>
          <p:spPr>
            <a:xfrm>
              <a:off x="2018030" y="4493825"/>
              <a:ext cx="257895" cy="315921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967"/>
                </a:lnSpc>
                <a:spcBef>
                  <a:spcPts val="0"/>
                </a:spcBef>
                <a:spcAft>
                  <a:spcPts val="0"/>
                </a:spcAft>
                <a:defRPr sz="1675" b="0" i="0" lang="zh-CN" dirty="0">
                  <a:solidFill>
                    <a:srgbClr val="000000"/>
                  </a:solidFill>
                  <a:latin typeface="DejaVu Sans"/>
                  <a:ea typeface="DejaVu Sans"/>
                  <a:cs typeface="DejaVu Sans"/>
                </a:defRPr>
              </a:pPr>
              <a:r>
                <a:rPr sz="1675" b="0" i="0" lang="zh-CN" dirty="0">
                  <a:solidFill>
                    <a:srgbClr val="000000"/>
                  </a:solidFill>
                  <a:latin typeface="DejaVu Sans"/>
                  <a:ea typeface="DejaVu Sans"/>
                  <a:cs typeface="DejaVu Sans"/>
                </a:rPr>
                <a:t>⋮</a:t>
              </a:r>
            </a:p>
          </p:txBody>
        </p:sp>
      </p:grpSp>
      <p:grpSp>
        <p:nvGrpSpPr>
          <p:cNvPr id="196" name="output_action_sequence" descr="Move output chunk frame and all grouped formulas/ellipsis together."/>
          <p:cNvGrpSpPr/>
          <p:nvPr/>
        </p:nvGrpSpPr>
        <p:grpSpPr>
          <a:xfrm>
            <a:off x="10502785" y="2940006"/>
            <a:ext cx="709212" cy="1992241"/>
            <a:chOff x="10502785" y="2940006"/>
            <a:chExt cx="709212" cy="1992241"/>
          </a:xfrm>
        </p:grpSpPr>
        <p:sp>
          <p:nvSpPr>
            <p:cNvPr id="64" name="output_chunk" descr="Editable shape; source id output_chunk"/>
            <p:cNvSpPr/>
            <p:nvPr/>
          </p:nvSpPr>
          <p:spPr>
            <a:xfrm>
              <a:off x="10502785" y="2940006"/>
              <a:ext cx="709212" cy="1992241"/>
            </a:xfrm>
            <a:prstGeom prst="roundRect">
              <a:avLst>
                <a:gd name="adj" fmla="val 20909"/>
              </a:avLst>
            </a:prstGeom>
            <a:noFill/>
            <a:ln w="19342">
              <a:solidFill>
                <a:srgbClr val="5B6067"/>
              </a:solidFill>
              <a:custDash>
                <a:ds d="433333" sp="300000"/>
              </a:custDash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93" name="output_a0" descr="One mathematical quantity: baseline and subscript must move together. Components preserve math style; grouping must not flatten editable text."/>
            <p:cNvGrpSpPr/>
            <p:nvPr/>
          </p:nvGrpSpPr>
          <p:grpSpPr>
            <a:xfrm>
              <a:off x="10783246" y="3025434"/>
              <a:ext cx="177303" cy="298564"/>
              <a:chOff x="10783246" y="3025434"/>
              <a:chExt cx="177303" cy="298564"/>
            </a:xfrm>
          </p:grpSpPr>
          <p:sp>
            <p:nvSpPr>
              <p:cNvPr id="65" name="output_a0_0" descr="Editable text; source id output_a0_0"/>
              <p:cNvSpPr txBox="1"/>
              <p:nvPr/>
            </p:nvSpPr>
            <p:spPr>
              <a:xfrm>
                <a:off x="10783246" y="3025434"/>
                <a:ext cx="125723" cy="276592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2101"/>
                  </a:lnSpc>
                  <a:spcBef>
                    <a:spcPts val="0"/>
                  </a:spcBef>
                  <a:spcAft>
                    <a:spcPts val="0"/>
                  </a:spcAft>
                  <a:def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a</a:t>
                </a:r>
              </a:p>
            </p:txBody>
          </p:sp>
          <p:sp>
            <p:nvSpPr>
              <p:cNvPr id="66" name="output_a0_1" descr="Editable text; source id output_a0_1"/>
              <p:cNvSpPr txBox="1"/>
              <p:nvPr/>
            </p:nvSpPr>
            <p:spPr>
              <a:xfrm>
                <a:off x="10899299" y="3122144"/>
                <a:ext cx="61250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t</a:t>
                </a:r>
              </a:p>
            </p:txBody>
          </p:sp>
        </p:grpSp>
        <p:grpSp>
          <p:nvGrpSpPr>
            <p:cNvPr id="194" name="output_a1" descr="One mathematical quantity: baseline and subscript must move together. Components preserve math style; grouping must not flatten editable text."/>
            <p:cNvGrpSpPr/>
            <p:nvPr/>
          </p:nvGrpSpPr>
          <p:grpSpPr>
            <a:xfrm>
              <a:off x="10680088" y="3412277"/>
              <a:ext cx="382007" cy="298564"/>
              <a:chOff x="10680088" y="3412277"/>
              <a:chExt cx="382007" cy="298564"/>
            </a:xfrm>
          </p:grpSpPr>
          <p:sp>
            <p:nvSpPr>
              <p:cNvPr id="67" name="output_a1_0" descr="Editable text; source id output_a1_0"/>
              <p:cNvSpPr txBox="1"/>
              <p:nvPr/>
            </p:nvSpPr>
            <p:spPr>
              <a:xfrm>
                <a:off x="10680088" y="3412277"/>
                <a:ext cx="125723" cy="276592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2101"/>
                  </a:lnSpc>
                  <a:spcBef>
                    <a:spcPts val="0"/>
                  </a:spcBef>
                  <a:spcAft>
                    <a:spcPts val="0"/>
                  </a:spcAft>
                  <a:def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a</a:t>
                </a:r>
              </a:p>
            </p:txBody>
          </p:sp>
          <p:sp>
            <p:nvSpPr>
              <p:cNvPr id="68" name="output_a1_1" descr="Editable text; source id output_a1_1"/>
              <p:cNvSpPr txBox="1"/>
              <p:nvPr/>
            </p:nvSpPr>
            <p:spPr>
              <a:xfrm>
                <a:off x="10796141" y="3508987"/>
                <a:ext cx="61250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t</a:t>
                </a:r>
              </a:p>
            </p:txBody>
          </p:sp>
          <p:sp>
            <p:nvSpPr>
              <p:cNvPr id="69" name="output_a1_2" descr="Editable text; source id output_a1_2"/>
              <p:cNvSpPr txBox="1"/>
              <p:nvPr/>
            </p:nvSpPr>
            <p:spPr>
              <a:xfrm>
                <a:off x="10873510" y="3508987"/>
                <a:ext cx="188585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+1</a:t>
                </a:r>
              </a:p>
            </p:txBody>
          </p:sp>
        </p:grpSp>
        <p:grpSp>
          <p:nvGrpSpPr>
            <p:cNvPr id="195" name="output_aH" descr="One mathematical quantity: baseline and subscript must move together. Components preserve math style; grouping must not flatten editable text."/>
            <p:cNvGrpSpPr/>
            <p:nvPr/>
          </p:nvGrpSpPr>
          <p:grpSpPr>
            <a:xfrm>
              <a:off x="10564035" y="4495437"/>
              <a:ext cx="620560" cy="298564"/>
              <a:chOff x="10564035" y="4495437"/>
              <a:chExt cx="620560" cy="298564"/>
            </a:xfrm>
          </p:grpSpPr>
          <p:sp>
            <p:nvSpPr>
              <p:cNvPr id="70" name="output_aH_0" descr="Editable text; source id output_aH_0"/>
              <p:cNvSpPr txBox="1"/>
              <p:nvPr/>
            </p:nvSpPr>
            <p:spPr>
              <a:xfrm>
                <a:off x="10564035" y="4495437"/>
                <a:ext cx="125723" cy="276592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2101"/>
                  </a:lnSpc>
                  <a:spcBef>
                    <a:spcPts val="0"/>
                  </a:spcBef>
                  <a:spcAft>
                    <a:spcPts val="0"/>
                  </a:spcAft>
                  <a:def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a</a:t>
                </a:r>
              </a:p>
            </p:txBody>
          </p:sp>
          <p:sp>
            <p:nvSpPr>
              <p:cNvPr id="71" name="output_aH_1" descr="Editable text; source id output_aH_1"/>
              <p:cNvSpPr txBox="1"/>
              <p:nvPr/>
            </p:nvSpPr>
            <p:spPr>
              <a:xfrm>
                <a:off x="10680088" y="4592147"/>
                <a:ext cx="61250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t</a:t>
                </a:r>
              </a:p>
            </p:txBody>
          </p:sp>
          <p:sp>
            <p:nvSpPr>
              <p:cNvPr id="72" name="output_aH_2" descr="Editable text; source id output_aH_2"/>
              <p:cNvSpPr txBox="1"/>
              <p:nvPr/>
            </p:nvSpPr>
            <p:spPr>
              <a:xfrm>
                <a:off x="10757457" y="4592147"/>
                <a:ext cx="104769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+</a:t>
                </a:r>
              </a:p>
            </p:txBody>
          </p:sp>
          <p:sp>
            <p:nvSpPr>
              <p:cNvPr id="73" name="output_aH_3" descr="Editable text; source id output_aH_3"/>
              <p:cNvSpPr txBox="1"/>
              <p:nvPr/>
            </p:nvSpPr>
            <p:spPr>
              <a:xfrm>
                <a:off x="10862227" y="4592147"/>
                <a:ext cx="156349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8059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H</a:t>
                </a:r>
              </a:p>
            </p:txBody>
          </p:sp>
          <p:sp>
            <p:nvSpPr>
              <p:cNvPr id="74" name="output_aH_4" descr="Editable text; source id output_aH_4"/>
              <p:cNvSpPr txBox="1"/>
              <p:nvPr/>
            </p:nvSpPr>
            <p:spPr>
              <a:xfrm>
                <a:off x="10996010" y="4592147"/>
                <a:ext cx="188585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−1</a:t>
                </a:r>
              </a:p>
            </p:txBody>
          </p:sp>
        </p:grpSp>
        <p:sp>
          <p:nvSpPr>
            <p:cNvPr id="75" name="output_ellipsis" descr="Editable text; source id output_ellipsis"/>
            <p:cNvSpPr txBox="1"/>
            <p:nvPr/>
          </p:nvSpPr>
          <p:spPr>
            <a:xfrm>
              <a:off x="10721996" y="4055403"/>
              <a:ext cx="257895" cy="315921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967"/>
                </a:lnSpc>
                <a:spcBef>
                  <a:spcPts val="0"/>
                </a:spcBef>
                <a:spcAft>
                  <a:spcPts val="0"/>
                </a:spcAft>
                <a:defRPr sz="1675" b="0" i="0" lang="zh-CN" dirty="0">
                  <a:solidFill>
                    <a:srgbClr val="000000"/>
                  </a:solidFill>
                  <a:latin typeface="DejaVu Sans"/>
                  <a:ea typeface="DejaVu Sans"/>
                  <a:cs typeface="DejaVu Sans"/>
                </a:defRPr>
              </a:pPr>
              <a:r>
                <a:rPr sz="1675" b="0" i="0" lang="zh-CN" dirty="0">
                  <a:solidFill>
                    <a:srgbClr val="000000"/>
                  </a:solidFill>
                  <a:latin typeface="DejaVu Sans"/>
                  <a:ea typeface="DejaVu Sans"/>
                  <a:cs typeface="DejaVu Sans"/>
                </a:rPr>
                <a:t>⋮</a:t>
              </a:r>
            </a:p>
          </p:txBody>
        </p:sp>
      </p:grpSp>
      <p:grpSp>
        <p:nvGrpSpPr>
          <p:cNvPr id="204" name="embodiment_legend" descr="Embodiment legend swatch and full label."/>
          <p:cNvGrpSpPr/>
          <p:nvPr/>
        </p:nvGrpSpPr>
        <p:grpSpPr>
          <a:xfrm>
            <a:off x="8246201" y="741448"/>
            <a:ext cx="3791061" cy="341711"/>
            <a:chOff x="8246201" y="741448"/>
            <a:chExt cx="3791061" cy="341711"/>
          </a:xfrm>
        </p:grpSpPr>
        <p:sp>
          <p:nvSpPr>
            <p:cNvPr id="76" name="legend_module" descr="Editable shape; source id legend_module"/>
            <p:cNvSpPr/>
            <p:nvPr/>
          </p:nvSpPr>
          <p:spPr>
            <a:xfrm>
              <a:off x="8246201" y="741448"/>
              <a:ext cx="341711" cy="341711"/>
            </a:xfrm>
            <a:prstGeom prst="roundRect">
              <a:avLst>
                <a:gd name="adj" fmla="val 16981"/>
              </a:avLst>
            </a:prstGeom>
            <a:solidFill>
              <a:srgbClr val="D9EBD1"/>
            </a:solidFill>
            <a:ln w="19342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legend_module_label" descr="Editable text; source id legend_module_label"/>
            <p:cNvSpPr txBox="1"/>
            <p:nvPr/>
          </p:nvSpPr>
          <p:spPr>
            <a:xfrm>
              <a:off x="8761992" y="799475"/>
              <a:ext cx="3275270" cy="251447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l" fontAlgn="base">
                <a:lnSpc>
                  <a:spcPts val="1652"/>
                </a:lnSpc>
                <a:spcBef>
                  <a:spcPts val="0"/>
                </a:spcBef>
                <a:spcAft>
                  <a:spcPts val="0"/>
                </a:spcAft>
                <a:defRPr sz="1436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36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Embodiment-Specific Module</a:t>
              </a:r>
            </a:p>
          </p:txBody>
        </p:sp>
      </p:grpSp>
      <p:cxnSp>
        <p:nvCxnSpPr>
          <p:cNvPr id="78" name="vision_stub" descr="Editable line; source id vision_stub"/>
          <p:cNvCxnSpPr/>
          <p:nvPr/>
        </p:nvCxnSpPr>
        <p:spPr>
          <a:xfrm>
            <a:off x="1927767" y="786580"/>
            <a:ext cx="116053" cy="0"/>
          </a:xfrm>
          <a:prstGeom prst="line">
            <a:avLst/>
          </a:prstGeom>
          <a:ln w="19342">
            <a:solidFill>
              <a:srgbClr val="5B606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vision_out" descr="Editable line; source id vision_out"/>
          <p:cNvSpPr/>
          <p:nvPr/>
        </p:nvSpPr>
        <p:spPr>
          <a:xfrm>
            <a:off x="3139875" y="754344"/>
            <a:ext cx="180527" cy="64474"/>
          </a:xfrm>
          <a:custGeom>
            <a:avLst/>
            <a:gdLst/>
            <a:ahLst/>
            <a:cxnLst/>
            <a:rect l="l" t="t" r="r" b="b"/>
            <a:pathLst>
              <a:path w="28000" h="10000">
                <a:moveTo>
                  <a:pt x="0" y="3500"/>
                </a:moveTo>
                <a:lnTo>
                  <a:pt x="16000" y="3500"/>
                </a:lnTo>
                <a:lnTo>
                  <a:pt x="16000" y="0"/>
                </a:lnTo>
                <a:lnTo>
                  <a:pt x="28000" y="5000"/>
                </a:lnTo>
                <a:lnTo>
                  <a:pt x="16000" y="10000"/>
                </a:lnTo>
                <a:lnTo>
                  <a:pt x="16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5B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0" name="text_stub" descr="Editable line; source id text_stub"/>
          <p:cNvCxnSpPr/>
          <p:nvPr/>
        </p:nvCxnSpPr>
        <p:spPr>
          <a:xfrm>
            <a:off x="1927767" y="1953556"/>
            <a:ext cx="116053" cy="0"/>
          </a:xfrm>
          <a:prstGeom prst="line">
            <a:avLst/>
          </a:prstGeom>
          <a:ln w="19342">
            <a:solidFill>
              <a:srgbClr val="5B606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_out" descr="Editable line; source id text_out"/>
          <p:cNvSpPr/>
          <p:nvPr/>
        </p:nvSpPr>
        <p:spPr>
          <a:xfrm>
            <a:off x="3139875" y="1921320"/>
            <a:ext cx="180527" cy="64474"/>
          </a:xfrm>
          <a:custGeom>
            <a:avLst/>
            <a:gdLst/>
            <a:ahLst/>
            <a:cxnLst/>
            <a:rect l="l" t="t" r="r" b="b"/>
            <a:pathLst>
              <a:path w="28000" h="10000">
                <a:moveTo>
                  <a:pt x="0" y="3500"/>
                </a:moveTo>
                <a:lnTo>
                  <a:pt x="16000" y="3500"/>
                </a:lnTo>
                <a:lnTo>
                  <a:pt x="16000" y="0"/>
                </a:lnTo>
                <a:lnTo>
                  <a:pt x="28000" y="5000"/>
                </a:lnTo>
                <a:lnTo>
                  <a:pt x="16000" y="10000"/>
                </a:lnTo>
                <a:lnTo>
                  <a:pt x="16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5B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2" name="state_in" descr="Editable line; source id state_in"/>
          <p:cNvCxnSpPr/>
          <p:nvPr/>
        </p:nvCxnSpPr>
        <p:spPr>
          <a:xfrm>
            <a:off x="2624084" y="2927111"/>
            <a:ext cx="483554" cy="0"/>
          </a:xfrm>
          <a:prstGeom prst="line">
            <a:avLst/>
          </a:prstGeom>
          <a:ln w="19342">
            <a:solidFill>
              <a:srgbClr val="5B606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state_out" descr="Editable line; source id state_out"/>
          <p:cNvSpPr/>
          <p:nvPr/>
        </p:nvSpPr>
        <p:spPr>
          <a:xfrm>
            <a:off x="4358430" y="2894875"/>
            <a:ext cx="361053" cy="64474"/>
          </a:xfrm>
          <a:custGeom>
            <a:avLst/>
            <a:gdLst/>
            <a:ahLst/>
            <a:cxnLst/>
            <a:rect l="l" t="t" r="r" b="b"/>
            <a:pathLst>
              <a:path w="56000" h="10000">
                <a:moveTo>
                  <a:pt x="0" y="3500"/>
                </a:moveTo>
                <a:lnTo>
                  <a:pt x="44000" y="3500"/>
                </a:lnTo>
                <a:lnTo>
                  <a:pt x="44000" y="0"/>
                </a:lnTo>
                <a:lnTo>
                  <a:pt x="56000" y="5000"/>
                </a:lnTo>
                <a:lnTo>
                  <a:pt x="44000" y="10000"/>
                </a:lnTo>
                <a:lnTo>
                  <a:pt x="44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5B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4" name="action_in" descr="Editable line; source id action_in"/>
          <p:cNvCxnSpPr/>
          <p:nvPr/>
        </p:nvCxnSpPr>
        <p:spPr>
          <a:xfrm>
            <a:off x="2624084" y="4364877"/>
            <a:ext cx="483554" cy="0"/>
          </a:xfrm>
          <a:prstGeom prst="line">
            <a:avLst/>
          </a:prstGeom>
          <a:ln w="19342">
            <a:solidFill>
              <a:srgbClr val="5B606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action_out" descr="Editable line; source id action_out"/>
          <p:cNvSpPr/>
          <p:nvPr/>
        </p:nvSpPr>
        <p:spPr>
          <a:xfrm>
            <a:off x="4358430" y="4332641"/>
            <a:ext cx="361053" cy="64474"/>
          </a:xfrm>
          <a:custGeom>
            <a:avLst/>
            <a:gdLst/>
            <a:ahLst/>
            <a:cxnLst/>
            <a:rect l="l" t="t" r="r" b="b"/>
            <a:pathLst>
              <a:path w="56000" h="10000">
                <a:moveTo>
                  <a:pt x="0" y="3500"/>
                </a:moveTo>
                <a:lnTo>
                  <a:pt x="44000" y="3500"/>
                </a:lnTo>
                <a:lnTo>
                  <a:pt x="44000" y="0"/>
                </a:lnTo>
                <a:lnTo>
                  <a:pt x="56000" y="5000"/>
                </a:lnTo>
                <a:lnTo>
                  <a:pt x="44000" y="10000"/>
                </a:lnTo>
                <a:lnTo>
                  <a:pt x="44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5B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okens_to_dit" descr="Editable line; source id tokens_to_dit"/>
          <p:cNvSpPr/>
          <p:nvPr/>
        </p:nvSpPr>
        <p:spPr>
          <a:xfrm>
            <a:off x="5203037" y="3926456"/>
            <a:ext cx="212764" cy="64474"/>
          </a:xfrm>
          <a:custGeom>
            <a:avLst/>
            <a:gdLst/>
            <a:ahLst/>
            <a:cxnLst/>
            <a:rect l="l" t="t" r="r" b="b"/>
            <a:pathLst>
              <a:path w="33000" h="10000">
                <a:moveTo>
                  <a:pt x="0" y="3500"/>
                </a:moveTo>
                <a:lnTo>
                  <a:pt x="21000" y="3500"/>
                </a:lnTo>
                <a:lnTo>
                  <a:pt x="21000" y="0"/>
                </a:lnTo>
                <a:lnTo>
                  <a:pt x="33000" y="5000"/>
                </a:lnTo>
                <a:lnTo>
                  <a:pt x="21000" y="10000"/>
                </a:lnTo>
                <a:lnTo>
                  <a:pt x="21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5B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dit_to_tokens" descr="Editable line; source id dit_to_tokens"/>
          <p:cNvSpPr/>
          <p:nvPr/>
        </p:nvSpPr>
        <p:spPr>
          <a:xfrm>
            <a:off x="8587913" y="3926456"/>
            <a:ext cx="206316" cy="64474"/>
          </a:xfrm>
          <a:custGeom>
            <a:avLst/>
            <a:gdLst/>
            <a:ahLst/>
            <a:cxnLst/>
            <a:rect l="l" t="t" r="r" b="b"/>
            <a:pathLst>
              <a:path w="32000" h="10000">
                <a:moveTo>
                  <a:pt x="0" y="3500"/>
                </a:moveTo>
                <a:lnTo>
                  <a:pt x="20000" y="3500"/>
                </a:lnTo>
                <a:lnTo>
                  <a:pt x="20000" y="0"/>
                </a:lnTo>
                <a:lnTo>
                  <a:pt x="32000" y="5000"/>
                </a:lnTo>
                <a:lnTo>
                  <a:pt x="20000" y="10000"/>
                </a:lnTo>
                <a:lnTo>
                  <a:pt x="20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5B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decoder_out" descr="Editable line; source id decoder_out"/>
          <p:cNvSpPr/>
          <p:nvPr/>
        </p:nvSpPr>
        <p:spPr>
          <a:xfrm>
            <a:off x="10277127" y="3907114"/>
            <a:ext cx="225658" cy="64474"/>
          </a:xfrm>
          <a:custGeom>
            <a:avLst/>
            <a:gdLst/>
            <a:ahLst/>
            <a:cxnLst/>
            <a:rect l="l" t="t" r="r" b="b"/>
            <a:pathLst>
              <a:path w="35000" h="10000">
                <a:moveTo>
                  <a:pt x="0" y="3500"/>
                </a:moveTo>
                <a:lnTo>
                  <a:pt x="23000" y="3500"/>
                </a:lnTo>
                <a:lnTo>
                  <a:pt x="23000" y="0"/>
                </a:lnTo>
                <a:lnTo>
                  <a:pt x="35000" y="5000"/>
                </a:lnTo>
                <a:lnTo>
                  <a:pt x="23000" y="10000"/>
                </a:lnTo>
                <a:lnTo>
                  <a:pt x="23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5B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motor_out" descr="Editable line; source id motor_out"/>
          <p:cNvSpPr/>
          <p:nvPr/>
        </p:nvSpPr>
        <p:spPr>
          <a:xfrm>
            <a:off x="11211998" y="3907114"/>
            <a:ext cx="186974" cy="64474"/>
          </a:xfrm>
          <a:custGeom>
            <a:avLst/>
            <a:gdLst/>
            <a:ahLst/>
            <a:cxnLst/>
            <a:rect l="l" t="t" r="r" b="b"/>
            <a:pathLst>
              <a:path w="29000" h="10000">
                <a:moveTo>
                  <a:pt x="0" y="3500"/>
                </a:moveTo>
                <a:lnTo>
                  <a:pt x="17000" y="3500"/>
                </a:lnTo>
                <a:lnTo>
                  <a:pt x="17000" y="0"/>
                </a:lnTo>
                <a:lnTo>
                  <a:pt x="29000" y="5000"/>
                </a:lnTo>
                <a:lnTo>
                  <a:pt x="17000" y="10000"/>
                </a:lnTo>
                <a:lnTo>
                  <a:pt x="17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5B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" name="vlm_bus" descr="Editable line; source id vlm_bus"/>
          <p:cNvCxnSpPr/>
          <p:nvPr/>
        </p:nvCxnSpPr>
        <p:spPr>
          <a:xfrm>
            <a:off x="5203037" y="1212107"/>
            <a:ext cx="2359742" cy="0"/>
          </a:xfrm>
          <a:prstGeom prst="line">
            <a:avLst/>
          </a:prstGeom>
          <a:ln w="19342">
            <a:solidFill>
              <a:srgbClr val="5B606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vlm_cross_1" descr="Editable line; source id vlm_cross_1"/>
          <p:cNvSpPr/>
          <p:nvPr/>
        </p:nvSpPr>
        <p:spPr>
          <a:xfrm>
            <a:off x="5796197" y="1212108"/>
            <a:ext cx="64474" cy="1457108"/>
          </a:xfrm>
          <a:custGeom>
            <a:avLst/>
            <a:gdLst/>
            <a:ahLst/>
            <a:cxnLst/>
            <a:rect l="l" t="t" r="r" b="b"/>
            <a:pathLst>
              <a:path w="10000" h="226000">
                <a:moveTo>
                  <a:pt x="6500" y="0"/>
                </a:moveTo>
                <a:lnTo>
                  <a:pt x="6500" y="214000"/>
                </a:lnTo>
                <a:lnTo>
                  <a:pt x="10000" y="214000"/>
                </a:lnTo>
                <a:lnTo>
                  <a:pt x="5000" y="226000"/>
                </a:lnTo>
                <a:lnTo>
                  <a:pt x="0" y="214000"/>
                </a:lnTo>
                <a:lnTo>
                  <a:pt x="3500" y="214000"/>
                </a:lnTo>
                <a:lnTo>
                  <a:pt x="3500" y="0"/>
                </a:lnTo>
                <a:close/>
              </a:path>
            </a:pathLst>
          </a:custGeom>
          <a:solidFill>
            <a:srgbClr val="5B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vlm_cross_2" descr="Editable line; source id vlm_cross_2"/>
          <p:cNvSpPr/>
          <p:nvPr/>
        </p:nvSpPr>
        <p:spPr>
          <a:xfrm>
            <a:off x="7530542" y="1212108"/>
            <a:ext cx="64474" cy="1457108"/>
          </a:xfrm>
          <a:custGeom>
            <a:avLst/>
            <a:gdLst/>
            <a:ahLst/>
            <a:cxnLst/>
            <a:rect l="l" t="t" r="r" b="b"/>
            <a:pathLst>
              <a:path w="10000" h="226000">
                <a:moveTo>
                  <a:pt x="6500" y="0"/>
                </a:moveTo>
                <a:lnTo>
                  <a:pt x="6500" y="214000"/>
                </a:lnTo>
                <a:lnTo>
                  <a:pt x="10000" y="214000"/>
                </a:lnTo>
                <a:lnTo>
                  <a:pt x="5000" y="226000"/>
                </a:lnTo>
                <a:lnTo>
                  <a:pt x="0" y="214000"/>
                </a:lnTo>
                <a:lnTo>
                  <a:pt x="3500" y="214000"/>
                </a:lnTo>
                <a:lnTo>
                  <a:pt x="3500" y="0"/>
                </a:lnTo>
                <a:close/>
              </a:path>
            </a:pathLst>
          </a:custGeom>
          <a:solidFill>
            <a:srgbClr val="5B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06" name="feedback_path" descr="One feedback route made of editable segments/head and K iterations label; no automatic rerouting."/>
          <p:cNvGrpSpPr/>
          <p:nvPr/>
        </p:nvGrpSpPr>
        <p:grpSpPr>
          <a:xfrm>
            <a:off x="2127636" y="4932247"/>
            <a:ext cx="8729755" cy="1418424"/>
            <a:chOff x="2127636" y="4932247"/>
            <a:chExt cx="8729755" cy="1418424"/>
          </a:xfrm>
        </p:grpSpPr>
        <p:cxnSp>
          <p:nvCxnSpPr>
            <p:cNvPr id="93" name="feedback_right" descr="Editable line; source id feedback_right"/>
            <p:cNvCxnSpPr/>
            <p:nvPr/>
          </p:nvCxnSpPr>
          <p:spPr>
            <a:xfrm>
              <a:off x="10857391" y="4932247"/>
              <a:ext cx="0" cy="1050923"/>
            </a:xfrm>
            <a:prstGeom prst="line">
              <a:avLst/>
            </a:prstGeom>
            <a:ln w="19342">
              <a:solidFill>
                <a:srgbClr val="5B6067"/>
              </a:solidFill>
              <a:custDash>
                <a:ds d="66667" sp="133333"/>
              </a:custDash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feedback_bottom" descr="Editable line; source id feedback_bottom"/>
            <p:cNvCxnSpPr/>
            <p:nvPr/>
          </p:nvCxnSpPr>
          <p:spPr>
            <a:xfrm flipH="1">
              <a:off x="2159873" y="5983170"/>
              <a:ext cx="8697518" cy="0"/>
            </a:xfrm>
            <a:prstGeom prst="line">
              <a:avLst/>
            </a:prstGeom>
            <a:ln w="19342">
              <a:solidFill>
                <a:srgbClr val="5B6067"/>
              </a:solidFill>
              <a:custDash>
                <a:ds d="66667" sp="133333"/>
              </a:custDash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feedback_left" descr="Editable line; source id feedback_left"/>
            <p:cNvCxnSpPr/>
            <p:nvPr/>
          </p:nvCxnSpPr>
          <p:spPr>
            <a:xfrm flipV="1">
              <a:off x="2159873" y="5370669"/>
              <a:ext cx="0" cy="612501"/>
            </a:xfrm>
            <a:prstGeom prst="line">
              <a:avLst/>
            </a:prstGeom>
            <a:ln w="19342">
              <a:solidFill>
                <a:srgbClr val="5B6067"/>
              </a:solidFill>
              <a:custDash>
                <a:ds d="66667" sp="133333"/>
              </a:custDash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feedback_head" descr="Editable shape; source id feedback_head"/>
            <p:cNvSpPr/>
            <p:nvPr/>
          </p:nvSpPr>
          <p:spPr>
            <a:xfrm>
              <a:off x="2127636" y="5370669"/>
              <a:ext cx="64473" cy="70921"/>
            </a:xfrm>
            <a:prstGeom prst="triangle">
              <a:avLst/>
            </a:prstGeom>
            <a:solidFill>
              <a:srgbClr val="5B606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iteration_label" descr="Editable text; source id iteration_label"/>
            <p:cNvSpPr txBox="1"/>
            <p:nvPr/>
          </p:nvSpPr>
          <p:spPr>
            <a:xfrm>
              <a:off x="5918696" y="6092776"/>
              <a:ext cx="1225002" cy="257895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634"/>
                </a:lnSpc>
                <a:spcBef>
                  <a:spcPts val="0"/>
                </a:spcBef>
                <a:spcAft>
                  <a:spcPts val="0"/>
                </a:spcAft>
                <a:defRPr sz="1421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21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K iterations</a:t>
              </a:r>
            </a:p>
          </p:txBody>
        </p:sp>
      </p:grpSp>
      <p:grpSp>
        <p:nvGrpSpPr>
          <p:cNvPr id="172" name="input_vision_tokens" descr="Move one semantic token sequence as a strip; preserve per-token native rectangles for optional count/color editing."/>
          <p:cNvGrpSpPr/>
          <p:nvPr/>
        </p:nvGrpSpPr>
        <p:grpSpPr>
          <a:xfrm>
            <a:off x="3384875" y="154737"/>
            <a:ext cx="148289" cy="1257239"/>
            <a:chOff x="3384875" y="154737"/>
            <a:chExt cx="148289" cy="1257239"/>
          </a:xfrm>
        </p:grpSpPr>
        <p:sp>
          <p:nvSpPr>
            <p:cNvPr id="98" name="input_vision_token_0" descr="Editable shape; source id input_vision_token_0"/>
            <p:cNvSpPr/>
            <p:nvPr/>
          </p:nvSpPr>
          <p:spPr>
            <a:xfrm>
              <a:off x="3384875" y="154737"/>
              <a:ext cx="148289" cy="154737"/>
            </a:xfrm>
            <a:prstGeom prst="rect">
              <a:avLst/>
            </a:prstGeom>
            <a:solidFill>
              <a:srgbClr val="D398E8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" name="input_vision_token_1" descr="Editable shape; source id input_vision_token_1"/>
            <p:cNvSpPr/>
            <p:nvPr/>
          </p:nvSpPr>
          <p:spPr>
            <a:xfrm>
              <a:off x="3384875" y="341711"/>
              <a:ext cx="148289" cy="154737"/>
            </a:xfrm>
            <a:prstGeom prst="rect">
              <a:avLst/>
            </a:prstGeom>
            <a:solidFill>
              <a:srgbClr val="D398E8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input_vision_token_2" descr="Editable shape; source id input_vision_token_2"/>
            <p:cNvSpPr/>
            <p:nvPr/>
          </p:nvSpPr>
          <p:spPr>
            <a:xfrm>
              <a:off x="3384875" y="522237"/>
              <a:ext cx="148289" cy="154737"/>
            </a:xfrm>
            <a:prstGeom prst="rect">
              <a:avLst/>
            </a:prstGeom>
            <a:solidFill>
              <a:srgbClr val="D398E8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input_vision_token_3" descr="Editable shape; source id input_vision_token_3"/>
            <p:cNvSpPr/>
            <p:nvPr/>
          </p:nvSpPr>
          <p:spPr>
            <a:xfrm>
              <a:off x="3384875" y="709212"/>
              <a:ext cx="148289" cy="154737"/>
            </a:xfrm>
            <a:prstGeom prst="rect">
              <a:avLst/>
            </a:prstGeom>
            <a:solidFill>
              <a:srgbClr val="D398E8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input_vision_token_4" descr="Editable shape; source id input_vision_token_4"/>
            <p:cNvSpPr/>
            <p:nvPr/>
          </p:nvSpPr>
          <p:spPr>
            <a:xfrm>
              <a:off x="3384875" y="889738"/>
              <a:ext cx="148289" cy="154737"/>
            </a:xfrm>
            <a:prstGeom prst="rect">
              <a:avLst/>
            </a:prstGeom>
            <a:solidFill>
              <a:srgbClr val="D398E8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input_vision_token_5" descr="Editable shape; source id input_vision_token_5"/>
            <p:cNvSpPr/>
            <p:nvPr/>
          </p:nvSpPr>
          <p:spPr>
            <a:xfrm>
              <a:off x="3384875" y="1076712"/>
              <a:ext cx="148289" cy="154737"/>
            </a:xfrm>
            <a:prstGeom prst="rect">
              <a:avLst/>
            </a:prstGeom>
            <a:solidFill>
              <a:srgbClr val="D398E8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input_vision_token_6" descr="Editable shape; source id input_vision_token_6"/>
            <p:cNvSpPr/>
            <p:nvPr/>
          </p:nvSpPr>
          <p:spPr>
            <a:xfrm>
              <a:off x="3384875" y="1257239"/>
              <a:ext cx="148289" cy="154737"/>
            </a:xfrm>
            <a:prstGeom prst="rect">
              <a:avLst/>
            </a:prstGeom>
            <a:solidFill>
              <a:srgbClr val="D398E8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3" name="input_language_tokens" descr="Move one semantic token sequence as a strip; preserve per-token native rectangles for optional count/color editing."/>
          <p:cNvGrpSpPr/>
          <p:nvPr/>
        </p:nvGrpSpPr>
        <p:grpSpPr>
          <a:xfrm>
            <a:off x="3384875" y="1592503"/>
            <a:ext cx="148289" cy="715659"/>
            <a:chOff x="3384875" y="1592503"/>
            <a:chExt cx="148289" cy="715659"/>
          </a:xfrm>
        </p:grpSpPr>
        <p:sp>
          <p:nvSpPr>
            <p:cNvPr id="105" name="input_language_token_0" descr="Editable shape; source id input_language_token_0"/>
            <p:cNvSpPr/>
            <p:nvPr/>
          </p:nvSpPr>
          <p:spPr>
            <a:xfrm>
              <a:off x="3384875" y="1592503"/>
              <a:ext cx="148289" cy="154737"/>
            </a:xfrm>
            <a:prstGeom prst="rect">
              <a:avLst/>
            </a:prstGeom>
            <a:solidFill>
              <a:srgbClr val="0070C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" name="input_language_token_1" descr="Editable shape; source id input_language_token_1"/>
            <p:cNvSpPr/>
            <p:nvPr/>
          </p:nvSpPr>
          <p:spPr>
            <a:xfrm>
              <a:off x="3384875" y="1779477"/>
              <a:ext cx="148289" cy="154737"/>
            </a:xfrm>
            <a:prstGeom prst="rect">
              <a:avLst/>
            </a:prstGeom>
            <a:solidFill>
              <a:srgbClr val="0070C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input_language_token_2" descr="Editable shape; source id input_language_token_2"/>
            <p:cNvSpPr/>
            <p:nvPr/>
          </p:nvSpPr>
          <p:spPr>
            <a:xfrm>
              <a:off x="3384875" y="1966451"/>
              <a:ext cx="148289" cy="154737"/>
            </a:xfrm>
            <a:prstGeom prst="rect">
              <a:avLst/>
            </a:prstGeom>
            <a:solidFill>
              <a:srgbClr val="0070C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input_language_token_3" descr="Editable shape; source id input_language_token_3"/>
            <p:cNvSpPr/>
            <p:nvPr/>
          </p:nvSpPr>
          <p:spPr>
            <a:xfrm>
              <a:off x="3384875" y="2153425"/>
              <a:ext cx="148289" cy="154737"/>
            </a:xfrm>
            <a:prstGeom prst="rect">
              <a:avLst/>
            </a:prstGeom>
            <a:solidFill>
              <a:srgbClr val="0070C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4" name="output_vision_tokens" descr="Move one semantic token sequence as a strip; preserve per-token native rectangles for optional count/color editing."/>
          <p:cNvGrpSpPr/>
          <p:nvPr/>
        </p:nvGrpSpPr>
        <p:grpSpPr>
          <a:xfrm>
            <a:off x="4983826" y="154737"/>
            <a:ext cx="148289" cy="1257239"/>
            <a:chOff x="4983826" y="154737"/>
            <a:chExt cx="148289" cy="1257239"/>
          </a:xfrm>
        </p:grpSpPr>
        <p:sp>
          <p:nvSpPr>
            <p:cNvPr id="109" name="output_vision_token_0" descr="Editable shape; source id output_vision_token_0"/>
            <p:cNvSpPr/>
            <p:nvPr/>
          </p:nvSpPr>
          <p:spPr>
            <a:xfrm>
              <a:off x="4983826" y="154737"/>
              <a:ext cx="148289" cy="154737"/>
            </a:xfrm>
            <a:prstGeom prst="rect">
              <a:avLst/>
            </a:prstGeom>
            <a:solidFill>
              <a:srgbClr val="D398E8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output_vision_token_1" descr="Editable shape; source id output_vision_token_1"/>
            <p:cNvSpPr/>
            <p:nvPr/>
          </p:nvSpPr>
          <p:spPr>
            <a:xfrm>
              <a:off x="4983826" y="341711"/>
              <a:ext cx="148289" cy="154737"/>
            </a:xfrm>
            <a:prstGeom prst="rect">
              <a:avLst/>
            </a:prstGeom>
            <a:solidFill>
              <a:srgbClr val="D398E8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output_vision_token_2" descr="Editable shape; source id output_vision_token_2"/>
            <p:cNvSpPr/>
            <p:nvPr/>
          </p:nvSpPr>
          <p:spPr>
            <a:xfrm>
              <a:off x="4983826" y="522237"/>
              <a:ext cx="148289" cy="154737"/>
            </a:xfrm>
            <a:prstGeom prst="rect">
              <a:avLst/>
            </a:prstGeom>
            <a:solidFill>
              <a:srgbClr val="D398E8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output_vision_token_3" descr="Editable shape; source id output_vision_token_3"/>
            <p:cNvSpPr/>
            <p:nvPr/>
          </p:nvSpPr>
          <p:spPr>
            <a:xfrm>
              <a:off x="4983826" y="709212"/>
              <a:ext cx="148289" cy="154737"/>
            </a:xfrm>
            <a:prstGeom prst="rect">
              <a:avLst/>
            </a:prstGeom>
            <a:solidFill>
              <a:srgbClr val="D398E8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" name="output_vision_token_4" descr="Editable shape; source id output_vision_token_4"/>
            <p:cNvSpPr/>
            <p:nvPr/>
          </p:nvSpPr>
          <p:spPr>
            <a:xfrm>
              <a:off x="4983826" y="889738"/>
              <a:ext cx="148289" cy="154737"/>
            </a:xfrm>
            <a:prstGeom prst="rect">
              <a:avLst/>
            </a:prstGeom>
            <a:solidFill>
              <a:srgbClr val="D398E8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output_vision_token_5" descr="Editable shape; source id output_vision_token_5"/>
            <p:cNvSpPr/>
            <p:nvPr/>
          </p:nvSpPr>
          <p:spPr>
            <a:xfrm>
              <a:off x="4983826" y="1076712"/>
              <a:ext cx="148289" cy="154737"/>
            </a:xfrm>
            <a:prstGeom prst="rect">
              <a:avLst/>
            </a:prstGeom>
            <a:solidFill>
              <a:srgbClr val="D398E8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output_vision_token_6" descr="Editable shape; source id output_vision_token_6"/>
            <p:cNvSpPr/>
            <p:nvPr/>
          </p:nvSpPr>
          <p:spPr>
            <a:xfrm>
              <a:off x="4983826" y="1257239"/>
              <a:ext cx="148289" cy="154737"/>
            </a:xfrm>
            <a:prstGeom prst="rect">
              <a:avLst/>
            </a:prstGeom>
            <a:solidFill>
              <a:srgbClr val="D398E8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5" name="output_language_tokens" descr="Move one semantic token sequence as a strip; preserve per-token native rectangles for optional count/color editing."/>
          <p:cNvGrpSpPr/>
          <p:nvPr/>
        </p:nvGrpSpPr>
        <p:grpSpPr>
          <a:xfrm>
            <a:off x="4983826" y="1592503"/>
            <a:ext cx="148289" cy="715659"/>
            <a:chOff x="4983826" y="1592503"/>
            <a:chExt cx="148289" cy="715659"/>
          </a:xfrm>
        </p:grpSpPr>
        <p:sp>
          <p:nvSpPr>
            <p:cNvPr id="116" name="output_language_token_0" descr="Editable shape; source id output_language_token_0"/>
            <p:cNvSpPr/>
            <p:nvPr/>
          </p:nvSpPr>
          <p:spPr>
            <a:xfrm>
              <a:off x="4983826" y="1592503"/>
              <a:ext cx="148289" cy="154737"/>
            </a:xfrm>
            <a:prstGeom prst="rect">
              <a:avLst/>
            </a:prstGeom>
            <a:solidFill>
              <a:srgbClr val="0070C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output_language_token_1" descr="Editable shape; source id output_language_token_1"/>
            <p:cNvSpPr/>
            <p:nvPr/>
          </p:nvSpPr>
          <p:spPr>
            <a:xfrm>
              <a:off x="4983826" y="1779477"/>
              <a:ext cx="148289" cy="154737"/>
            </a:xfrm>
            <a:prstGeom prst="rect">
              <a:avLst/>
            </a:prstGeom>
            <a:solidFill>
              <a:srgbClr val="0070C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output_language_token_2" descr="Editable shape; source id output_language_token_2"/>
            <p:cNvSpPr/>
            <p:nvPr/>
          </p:nvSpPr>
          <p:spPr>
            <a:xfrm>
              <a:off x="4983826" y="1966451"/>
              <a:ext cx="148289" cy="154737"/>
            </a:xfrm>
            <a:prstGeom prst="rect">
              <a:avLst/>
            </a:prstGeom>
            <a:solidFill>
              <a:srgbClr val="0070C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output_language_token_3" descr="Editable shape; source id output_language_token_3"/>
            <p:cNvSpPr/>
            <p:nvPr/>
          </p:nvSpPr>
          <p:spPr>
            <a:xfrm>
              <a:off x="4983826" y="2153425"/>
              <a:ext cx="148289" cy="154737"/>
            </a:xfrm>
            <a:prstGeom prst="rect">
              <a:avLst/>
            </a:prstGeom>
            <a:solidFill>
              <a:srgbClr val="0070C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6" name="dit_input_state_tokens" descr="A semantically single state/action token strip; moving individual cells is rarely the intended edit."/>
          <p:cNvGrpSpPr/>
          <p:nvPr/>
        </p:nvGrpSpPr>
        <p:grpSpPr>
          <a:xfrm>
            <a:off x="4983826" y="2740137"/>
            <a:ext cx="148289" cy="341711"/>
            <a:chOff x="4983826" y="2740137"/>
            <a:chExt cx="148289" cy="341711"/>
          </a:xfrm>
        </p:grpSpPr>
        <p:sp>
          <p:nvSpPr>
            <p:cNvPr id="120" name="dit_input_state_0" descr="Editable shape; source id dit_input_state_0"/>
            <p:cNvSpPr/>
            <p:nvPr/>
          </p:nvSpPr>
          <p:spPr>
            <a:xfrm>
              <a:off x="4983826" y="2740137"/>
              <a:ext cx="148289" cy="154737"/>
            </a:xfrm>
            <a:prstGeom prst="rect">
              <a:avLst/>
            </a:prstGeom>
            <a:solidFill>
              <a:srgbClr val="E36565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dit_input_state_1" descr="Editable shape; source id dit_input_state_1"/>
            <p:cNvSpPr/>
            <p:nvPr/>
          </p:nvSpPr>
          <p:spPr>
            <a:xfrm>
              <a:off x="4983826" y="2927111"/>
              <a:ext cx="148289" cy="154737"/>
            </a:xfrm>
            <a:prstGeom prst="rect">
              <a:avLst/>
            </a:prstGeom>
            <a:solidFill>
              <a:srgbClr val="E36565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7" name="dit_input_action_tokens" descr="A semantically single state/action token strip; moving individual cells is rarely the intended edit."/>
          <p:cNvGrpSpPr/>
          <p:nvPr/>
        </p:nvGrpSpPr>
        <p:grpSpPr>
          <a:xfrm>
            <a:off x="4983826" y="3558954"/>
            <a:ext cx="148289" cy="1624741"/>
            <a:chOff x="4983826" y="3558954"/>
            <a:chExt cx="148289" cy="1624741"/>
          </a:xfrm>
        </p:grpSpPr>
        <p:sp>
          <p:nvSpPr>
            <p:cNvPr id="122" name="dit_input_action_0" descr="Editable shape; source id dit_input_action_0"/>
            <p:cNvSpPr/>
            <p:nvPr/>
          </p:nvSpPr>
          <p:spPr>
            <a:xfrm>
              <a:off x="4983826" y="3558954"/>
              <a:ext cx="148289" cy="154737"/>
            </a:xfrm>
            <a:prstGeom prst="rect">
              <a:avLst/>
            </a:prstGeom>
            <a:solidFill>
              <a:srgbClr val="FFF2D9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dit_input_action_1" descr="Editable shape; source id dit_input_action_1"/>
            <p:cNvSpPr/>
            <p:nvPr/>
          </p:nvSpPr>
          <p:spPr>
            <a:xfrm>
              <a:off x="4983826" y="3745929"/>
              <a:ext cx="148289" cy="154737"/>
            </a:xfrm>
            <a:prstGeom prst="rect">
              <a:avLst/>
            </a:prstGeom>
            <a:solidFill>
              <a:srgbClr val="FFF2D9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" name="dit_input_action_2" descr="Editable shape; source id dit_input_action_2"/>
            <p:cNvSpPr/>
            <p:nvPr/>
          </p:nvSpPr>
          <p:spPr>
            <a:xfrm>
              <a:off x="4983826" y="3926455"/>
              <a:ext cx="148289" cy="154737"/>
            </a:xfrm>
            <a:prstGeom prst="rect">
              <a:avLst/>
            </a:prstGeom>
            <a:solidFill>
              <a:srgbClr val="FFF2D9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" name="dit_input_action_3" descr="Editable shape; source id dit_input_action_3"/>
            <p:cNvSpPr/>
            <p:nvPr/>
          </p:nvSpPr>
          <p:spPr>
            <a:xfrm>
              <a:off x="4983826" y="4113429"/>
              <a:ext cx="148289" cy="154737"/>
            </a:xfrm>
            <a:prstGeom prst="rect">
              <a:avLst/>
            </a:prstGeom>
            <a:solidFill>
              <a:srgbClr val="FFF2D9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" name="dit_input_action_4" descr="Editable shape; source id dit_input_action_4"/>
            <p:cNvSpPr/>
            <p:nvPr/>
          </p:nvSpPr>
          <p:spPr>
            <a:xfrm>
              <a:off x="4983826" y="4293956"/>
              <a:ext cx="148289" cy="154737"/>
            </a:xfrm>
            <a:prstGeom prst="rect">
              <a:avLst/>
            </a:prstGeom>
            <a:solidFill>
              <a:srgbClr val="FFF2D9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" name="dit_input_action_5" descr="Editable shape; source id dit_input_action_5"/>
            <p:cNvSpPr/>
            <p:nvPr/>
          </p:nvSpPr>
          <p:spPr>
            <a:xfrm>
              <a:off x="4983826" y="4480930"/>
              <a:ext cx="148289" cy="154737"/>
            </a:xfrm>
            <a:prstGeom prst="rect">
              <a:avLst/>
            </a:prstGeom>
            <a:solidFill>
              <a:srgbClr val="FFF2D9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" name="dit_input_action_6" descr="Editable shape; source id dit_input_action_6"/>
            <p:cNvSpPr/>
            <p:nvPr/>
          </p:nvSpPr>
          <p:spPr>
            <a:xfrm>
              <a:off x="4983826" y="4667904"/>
              <a:ext cx="148289" cy="154737"/>
            </a:xfrm>
            <a:prstGeom prst="rect">
              <a:avLst/>
            </a:prstGeom>
            <a:solidFill>
              <a:srgbClr val="FFF2D9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dit_input_action_7" descr="Editable shape; source id dit_input_action_7"/>
            <p:cNvSpPr/>
            <p:nvPr/>
          </p:nvSpPr>
          <p:spPr>
            <a:xfrm>
              <a:off x="4983826" y="4848431"/>
              <a:ext cx="148289" cy="154737"/>
            </a:xfrm>
            <a:prstGeom prst="rect">
              <a:avLst/>
            </a:prstGeom>
            <a:solidFill>
              <a:srgbClr val="FFF2D9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dit_input_action_8" descr="Editable shape; source id dit_input_action_8"/>
            <p:cNvSpPr/>
            <p:nvPr/>
          </p:nvSpPr>
          <p:spPr>
            <a:xfrm>
              <a:off x="4983826" y="5028958"/>
              <a:ext cx="148289" cy="154737"/>
            </a:xfrm>
            <a:prstGeom prst="rect">
              <a:avLst/>
            </a:prstGeom>
            <a:solidFill>
              <a:srgbClr val="FFF2D9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8" name="dit_output_state_tokens" descr="A semantically single state/action token strip; moving individual cells is rarely the intended edit."/>
          <p:cNvGrpSpPr/>
          <p:nvPr/>
        </p:nvGrpSpPr>
        <p:grpSpPr>
          <a:xfrm>
            <a:off x="8852255" y="2740137"/>
            <a:ext cx="148289" cy="341711"/>
            <a:chOff x="8852255" y="2740137"/>
            <a:chExt cx="148289" cy="341711"/>
          </a:xfrm>
        </p:grpSpPr>
        <p:sp>
          <p:nvSpPr>
            <p:cNvPr id="131" name="dit_output_state_0" descr="Editable shape; source id dit_output_state_0"/>
            <p:cNvSpPr/>
            <p:nvPr/>
          </p:nvSpPr>
          <p:spPr>
            <a:xfrm>
              <a:off x="8852255" y="2740137"/>
              <a:ext cx="148289" cy="154737"/>
            </a:xfrm>
            <a:prstGeom prst="rect">
              <a:avLst/>
            </a:prstGeom>
            <a:solidFill>
              <a:srgbClr val="E36565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2" name="dit_output_state_1" descr="Editable shape; source id dit_output_state_1"/>
            <p:cNvSpPr/>
            <p:nvPr/>
          </p:nvSpPr>
          <p:spPr>
            <a:xfrm>
              <a:off x="8852255" y="2927111"/>
              <a:ext cx="148289" cy="154737"/>
            </a:xfrm>
            <a:prstGeom prst="rect">
              <a:avLst/>
            </a:prstGeom>
            <a:solidFill>
              <a:srgbClr val="E36565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9" name="dit_output_action_tokens" descr="A semantically single state/action token strip; moving individual cells is rarely the intended edit."/>
          <p:cNvGrpSpPr/>
          <p:nvPr/>
        </p:nvGrpSpPr>
        <p:grpSpPr>
          <a:xfrm>
            <a:off x="8852255" y="3558954"/>
            <a:ext cx="148289" cy="1624741"/>
            <a:chOff x="8852255" y="3558954"/>
            <a:chExt cx="148289" cy="1624741"/>
          </a:xfrm>
        </p:grpSpPr>
        <p:sp>
          <p:nvSpPr>
            <p:cNvPr id="133" name="dit_output_action_0" descr="Editable shape; source id dit_output_action_0"/>
            <p:cNvSpPr/>
            <p:nvPr/>
          </p:nvSpPr>
          <p:spPr>
            <a:xfrm>
              <a:off x="8852255" y="3558954"/>
              <a:ext cx="148289" cy="154737"/>
            </a:xfrm>
            <a:prstGeom prst="rect">
              <a:avLst/>
            </a:prstGeom>
            <a:solidFill>
              <a:srgbClr val="FF990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4" name="dit_output_action_1" descr="Editable shape; source id dit_output_action_1"/>
            <p:cNvSpPr/>
            <p:nvPr/>
          </p:nvSpPr>
          <p:spPr>
            <a:xfrm>
              <a:off x="8852255" y="3745929"/>
              <a:ext cx="148289" cy="154737"/>
            </a:xfrm>
            <a:prstGeom prst="rect">
              <a:avLst/>
            </a:prstGeom>
            <a:solidFill>
              <a:srgbClr val="FF990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5" name="dit_output_action_2" descr="Editable shape; source id dit_output_action_2"/>
            <p:cNvSpPr/>
            <p:nvPr/>
          </p:nvSpPr>
          <p:spPr>
            <a:xfrm>
              <a:off x="8852255" y="3926455"/>
              <a:ext cx="148289" cy="154737"/>
            </a:xfrm>
            <a:prstGeom prst="rect">
              <a:avLst/>
            </a:prstGeom>
            <a:solidFill>
              <a:srgbClr val="FF990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6" name="dit_output_action_3" descr="Editable shape; source id dit_output_action_3"/>
            <p:cNvSpPr/>
            <p:nvPr/>
          </p:nvSpPr>
          <p:spPr>
            <a:xfrm>
              <a:off x="8852255" y="4113429"/>
              <a:ext cx="148289" cy="154737"/>
            </a:xfrm>
            <a:prstGeom prst="rect">
              <a:avLst/>
            </a:prstGeom>
            <a:solidFill>
              <a:srgbClr val="FF990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7" name="dit_output_action_4" descr="Editable shape; source id dit_output_action_4"/>
            <p:cNvSpPr/>
            <p:nvPr/>
          </p:nvSpPr>
          <p:spPr>
            <a:xfrm>
              <a:off x="8852255" y="4293956"/>
              <a:ext cx="148289" cy="154737"/>
            </a:xfrm>
            <a:prstGeom prst="rect">
              <a:avLst/>
            </a:prstGeom>
            <a:solidFill>
              <a:srgbClr val="FF990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8" name="dit_output_action_5" descr="Editable shape; source id dit_output_action_5"/>
            <p:cNvSpPr/>
            <p:nvPr/>
          </p:nvSpPr>
          <p:spPr>
            <a:xfrm>
              <a:off x="8852255" y="4480930"/>
              <a:ext cx="148289" cy="154737"/>
            </a:xfrm>
            <a:prstGeom prst="rect">
              <a:avLst/>
            </a:prstGeom>
            <a:solidFill>
              <a:srgbClr val="FF990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9" name="dit_output_action_6" descr="Editable shape; source id dit_output_action_6"/>
            <p:cNvSpPr/>
            <p:nvPr/>
          </p:nvSpPr>
          <p:spPr>
            <a:xfrm>
              <a:off x="8852255" y="4667904"/>
              <a:ext cx="148289" cy="154737"/>
            </a:xfrm>
            <a:prstGeom prst="rect">
              <a:avLst/>
            </a:prstGeom>
            <a:solidFill>
              <a:srgbClr val="FF990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0" name="dit_output_action_7" descr="Editable shape; source id dit_output_action_7"/>
            <p:cNvSpPr/>
            <p:nvPr/>
          </p:nvSpPr>
          <p:spPr>
            <a:xfrm>
              <a:off x="8852255" y="4848431"/>
              <a:ext cx="148289" cy="154737"/>
            </a:xfrm>
            <a:prstGeom prst="rect">
              <a:avLst/>
            </a:prstGeom>
            <a:solidFill>
              <a:srgbClr val="FF990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1" name="dit_output_action_8" descr="Editable shape; source id dit_output_action_8"/>
            <p:cNvSpPr/>
            <p:nvPr/>
          </p:nvSpPr>
          <p:spPr>
            <a:xfrm>
              <a:off x="8852255" y="5028958"/>
              <a:ext cx="148289" cy="154737"/>
            </a:xfrm>
            <a:prstGeom prst="rect">
              <a:avLst/>
            </a:prstGeom>
            <a:solidFill>
              <a:srgbClr val="FF990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42" name="observation_photo" descr="Exact source raster crop; photo/complex robot rendering, excluding labels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26" y="180526"/>
            <a:ext cx="1702108" cy="1212107"/>
          </a:xfrm>
          <a:prstGeom prst="rect">
            <a:avLst/>
          </a:prstGeom>
          <a:effectLst/>
        </p:spPr>
      </p:pic>
      <p:grpSp>
        <p:nvGrpSpPr>
          <p:cNvPr id="205" name="motor_output" descr="Robot artwork and its two-line editable Motor Action label."/>
          <p:cNvGrpSpPr/>
          <p:nvPr/>
        </p:nvGrpSpPr>
        <p:grpSpPr>
          <a:xfrm>
            <a:off x="11547261" y="2894874"/>
            <a:ext cx="644738" cy="2146978"/>
            <a:chOff x="11547261" y="2894874"/>
            <a:chExt cx="644738" cy="2146978"/>
          </a:xfrm>
        </p:grpSpPr>
        <p:pic>
          <p:nvPicPr>
            <p:cNvPr id="143" name="humanoid_art" descr="Exact source raster crop; photo/complex robot rendering, excluding labels.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579498" y="2894874"/>
              <a:ext cx="567369" cy="1528029"/>
            </a:xfrm>
            <a:prstGeom prst="rect">
              <a:avLst/>
            </a:prstGeom>
            <a:effectLst/>
          </p:spPr>
        </p:pic>
        <p:sp>
          <p:nvSpPr>
            <p:cNvPr id="144" name="motor_label_0" descr="Editable text; source id motor_label_0"/>
            <p:cNvSpPr txBox="1"/>
            <p:nvPr/>
          </p:nvSpPr>
          <p:spPr>
            <a:xfrm>
              <a:off x="11547261" y="4577641"/>
              <a:ext cx="644738" cy="245000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693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Motor</a:t>
              </a:r>
            </a:p>
          </p:txBody>
        </p:sp>
        <p:sp>
          <p:nvSpPr>
            <p:cNvPr id="145" name="motor_label_1" descr="Editable text; source id motor_label_1"/>
            <p:cNvSpPr txBox="1"/>
            <p:nvPr/>
          </p:nvSpPr>
          <p:spPr>
            <a:xfrm>
              <a:off x="11547261" y="4796852"/>
              <a:ext cx="644738" cy="245000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693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Action</a:t>
              </a:r>
            </a:p>
          </p:txBody>
        </p:sp>
      </p:grpSp>
      <p:sp>
        <p:nvSpPr>
          <p:cNvPr id="146" name="robot_state_label" descr="Editable text; source id robot_state_label"/>
          <p:cNvSpPr txBox="1"/>
          <p:nvPr/>
        </p:nvSpPr>
        <p:spPr>
          <a:xfrm>
            <a:off x="419079" y="2823953"/>
            <a:ext cx="1128291" cy="24500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693"/>
              </a:lnSpc>
              <a:spcBef>
                <a:spcPts val="0"/>
              </a:spcBef>
              <a:spcAft>
                <a:spcPts val="0"/>
              </a:spcAft>
              <a:defRPr sz="147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7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Robot State</a:t>
            </a:r>
          </a:p>
        </p:txBody>
      </p:sp>
      <p:sp>
        <p:nvSpPr>
          <p:cNvPr id="147" name="noised_action_label" descr="Editable text; source id noised_action_label"/>
          <p:cNvSpPr txBox="1"/>
          <p:nvPr/>
        </p:nvSpPr>
        <p:spPr>
          <a:xfrm>
            <a:off x="341711" y="4255272"/>
            <a:ext cx="1257239" cy="24500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693"/>
              </a:lnSpc>
              <a:spcBef>
                <a:spcPts val="0"/>
              </a:spcBef>
              <a:spcAft>
                <a:spcPts val="0"/>
              </a:spcAft>
              <a:defRPr sz="147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7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Noised Action</a:t>
            </a:r>
          </a:p>
        </p:txBody>
      </p:sp>
      <p:grpSp>
        <p:nvGrpSpPr>
          <p:cNvPr id="203" name="frozen_legend" descr="Freeze-status legend icon and full label."/>
          <p:cNvGrpSpPr/>
          <p:nvPr/>
        </p:nvGrpSpPr>
        <p:grpSpPr>
          <a:xfrm>
            <a:off x="8291858" y="1308818"/>
            <a:ext cx="3468166" cy="296580"/>
            <a:chOff x="8291858" y="1308818"/>
            <a:chExt cx="3468166" cy="296580"/>
          </a:xfrm>
        </p:grpSpPr>
        <p:sp>
          <p:nvSpPr>
            <p:cNvPr id="148" name="legend_frozen_label" descr="Editable text; source id legend_frozen_label"/>
            <p:cNvSpPr txBox="1"/>
            <p:nvPr/>
          </p:nvSpPr>
          <p:spPr>
            <a:xfrm>
              <a:off x="8761992" y="1341055"/>
              <a:ext cx="2998032" cy="251447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l" fontAlgn="base">
                <a:lnSpc>
                  <a:spcPts val="1652"/>
                </a:lnSpc>
                <a:spcBef>
                  <a:spcPts val="0"/>
                </a:spcBef>
                <a:spcAft>
                  <a:spcPts val="0"/>
                </a:spcAft>
                <a:defRPr sz="1436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36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Pre-trained and Frozen</a:t>
              </a:r>
            </a:p>
          </p:txBody>
        </p:sp>
        <p:grpSp>
          <p:nvGrpSpPr>
            <p:cNvPr id="202" name="legend_frozen_icon" descr="Snowflake is one freeze-status symbol; all native strokes should move together, never as individual editing targets."/>
            <p:cNvGrpSpPr/>
            <p:nvPr/>
          </p:nvGrpSpPr>
          <p:grpSpPr>
            <a:xfrm>
              <a:off x="8291858" y="1308818"/>
              <a:ext cx="256845" cy="296580"/>
              <a:chOff x="8291858" y="1308818"/>
              <a:chExt cx="256845" cy="296580"/>
            </a:xfrm>
          </p:grpSpPr>
          <p:cxnSp>
            <p:nvCxnSpPr>
              <p:cNvPr id="149" name="legend_frozen_icon_arm_0" descr="Editable line; source id legend_frozen_icon_arm_0"/>
              <p:cNvCxnSpPr/>
              <p:nvPr/>
            </p:nvCxnSpPr>
            <p:spPr>
              <a:xfrm flipV="1">
                <a:off x="8420281" y="1308818"/>
                <a:ext cx="0" cy="148290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legend_frozen_icon_twig_0_0" descr="Editable line; source id legend_frozen_icon_twig_0_0"/>
              <p:cNvCxnSpPr/>
              <p:nvPr/>
            </p:nvCxnSpPr>
            <p:spPr>
              <a:xfrm flipH="1" flipV="1">
                <a:off x="8384691" y="1332544"/>
                <a:ext cx="35590" cy="40039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legend_frozen_icon_twig_0_1" descr="Editable line; source id legend_frozen_icon_twig_0_1"/>
              <p:cNvCxnSpPr/>
              <p:nvPr/>
            </p:nvCxnSpPr>
            <p:spPr>
              <a:xfrm flipV="1">
                <a:off x="8420281" y="1332544"/>
                <a:ext cx="35589" cy="40039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legend_frozen_icon_arm_1" descr="Editable line; source id legend_frozen_icon_arm_1"/>
              <p:cNvCxnSpPr/>
              <p:nvPr/>
            </p:nvCxnSpPr>
            <p:spPr>
              <a:xfrm flipV="1">
                <a:off x="8420281" y="1382963"/>
                <a:ext cx="128422" cy="74145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legend_frozen_icon_twig_1_0" descr="Editable line; source id legend_frozen_icon_twig_1_0"/>
              <p:cNvCxnSpPr/>
              <p:nvPr/>
            </p:nvCxnSpPr>
            <p:spPr>
              <a:xfrm flipV="1">
                <a:off x="8493482" y="1364005"/>
                <a:ext cx="16879" cy="50840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legend_frozen_icon_twig_1_1" descr="Editable line; source id legend_frozen_icon_twig_1_1"/>
              <p:cNvCxnSpPr/>
              <p:nvPr/>
            </p:nvCxnSpPr>
            <p:spPr>
              <a:xfrm>
                <a:off x="8493482" y="1414845"/>
                <a:ext cx="52468" cy="10803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legend_frozen_icon_arm_2" descr="Editable line; source id legend_frozen_icon_arm_2"/>
              <p:cNvCxnSpPr/>
              <p:nvPr/>
            </p:nvCxnSpPr>
            <p:spPr>
              <a:xfrm>
                <a:off x="8420281" y="1457108"/>
                <a:ext cx="128422" cy="74145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legend_frozen_icon_twig_2_0" descr="Editable line; source id legend_frozen_icon_twig_2_0"/>
              <p:cNvCxnSpPr/>
              <p:nvPr/>
            </p:nvCxnSpPr>
            <p:spPr>
              <a:xfrm flipV="1">
                <a:off x="8493482" y="1488568"/>
                <a:ext cx="52468" cy="10802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legend_frozen_icon_twig_2_1" descr="Editable line; source id legend_frozen_icon_twig_2_1"/>
              <p:cNvCxnSpPr/>
              <p:nvPr/>
            </p:nvCxnSpPr>
            <p:spPr>
              <a:xfrm>
                <a:off x="8493482" y="1499370"/>
                <a:ext cx="16879" cy="50841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legend_frozen_icon_arm_3" descr="Editable line; source id legend_frozen_icon_arm_3"/>
              <p:cNvCxnSpPr/>
              <p:nvPr/>
            </p:nvCxnSpPr>
            <p:spPr>
              <a:xfrm>
                <a:off x="8420281" y="1457108"/>
                <a:ext cx="0" cy="148290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legend_frozen_icon_twig_3_0" descr="Editable line; source id legend_frozen_icon_twig_3_0"/>
              <p:cNvCxnSpPr/>
              <p:nvPr/>
            </p:nvCxnSpPr>
            <p:spPr>
              <a:xfrm>
                <a:off x="8420281" y="1541633"/>
                <a:ext cx="35589" cy="40038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legend_frozen_icon_twig_3_1" descr="Editable line; source id legend_frozen_icon_twig_3_1"/>
              <p:cNvCxnSpPr/>
              <p:nvPr/>
            </p:nvCxnSpPr>
            <p:spPr>
              <a:xfrm flipH="1">
                <a:off x="8384691" y="1541633"/>
                <a:ext cx="35590" cy="40038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legend_frozen_icon_arm_4" descr="Editable line; source id legend_frozen_icon_arm_4"/>
              <p:cNvCxnSpPr/>
              <p:nvPr/>
            </p:nvCxnSpPr>
            <p:spPr>
              <a:xfrm flipH="1">
                <a:off x="8291858" y="1457108"/>
                <a:ext cx="128423" cy="74145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legend_frozen_icon_twig_4_0" descr="Editable line; source id legend_frozen_icon_twig_4_0"/>
              <p:cNvCxnSpPr/>
              <p:nvPr/>
            </p:nvCxnSpPr>
            <p:spPr>
              <a:xfrm flipH="1">
                <a:off x="8330200" y="1499370"/>
                <a:ext cx="16880" cy="50841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legend_frozen_icon_twig_4_1" descr="Editable line; source id legend_frozen_icon_twig_4_1"/>
              <p:cNvCxnSpPr/>
              <p:nvPr/>
            </p:nvCxnSpPr>
            <p:spPr>
              <a:xfrm flipH="1" flipV="1">
                <a:off x="8294611" y="1488568"/>
                <a:ext cx="52469" cy="10802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legend_frozen_icon_arm_5" descr="Editable line; source id legend_frozen_icon_arm_5"/>
              <p:cNvCxnSpPr/>
              <p:nvPr/>
            </p:nvCxnSpPr>
            <p:spPr>
              <a:xfrm flipH="1" flipV="1">
                <a:off x="8291858" y="1382963"/>
                <a:ext cx="128423" cy="74145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legend_frozen_icon_twig_5_0" descr="Editable line; source id legend_frozen_icon_twig_5_0"/>
              <p:cNvCxnSpPr/>
              <p:nvPr/>
            </p:nvCxnSpPr>
            <p:spPr>
              <a:xfrm flipH="1">
                <a:off x="8294611" y="1414845"/>
                <a:ext cx="52469" cy="10803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legend_frozen_icon_twig_5_1" descr="Editable line; source id legend_frozen_icon_twig_5_1"/>
              <p:cNvCxnSpPr/>
              <p:nvPr/>
            </p:nvCxnSpPr>
            <p:spPr>
              <a:xfrm flipH="1" flipV="1">
                <a:off x="8330200" y="1364005"/>
                <a:ext cx="16880" cy="50840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88" name="instruction_text" descr="One language instruction with three source-prescribed editable lines."/>
          <p:cNvGrpSpPr/>
          <p:nvPr/>
        </p:nvGrpSpPr>
        <p:grpSpPr>
          <a:xfrm>
            <a:off x="109605" y="1669871"/>
            <a:ext cx="1837503" cy="606054"/>
            <a:chOff x="109605" y="1669871"/>
            <a:chExt cx="1837503" cy="606054"/>
          </a:xfrm>
        </p:grpSpPr>
        <p:sp>
          <p:nvSpPr>
            <p:cNvPr id="167" name="instruction_0" descr="Editable text; source id instruction_0"/>
            <p:cNvSpPr txBox="1"/>
            <p:nvPr/>
          </p:nvSpPr>
          <p:spPr>
            <a:xfrm>
              <a:off x="109605" y="1669871"/>
              <a:ext cx="1837503" cy="232105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l" fontAlgn="base">
                <a:lnSpc>
                  <a:spcPts val="1401"/>
                </a:lnSpc>
                <a:spcBef>
                  <a:spcPts val="0"/>
                </a:spcBef>
                <a:spcAft>
                  <a:spcPts val="0"/>
                </a:spcAft>
                <a:defRPr sz="1218" b="0" i="0" lang="zh-CN" dirty="0">
                  <a:solidFill>
                    <a:srgbClr val="000000"/>
                  </a:solidFill>
                  <a:latin typeface="Andale Mono"/>
                  <a:ea typeface="Andale Mono"/>
                  <a:cs typeface="Andale Mono"/>
                </a:defRPr>
              </a:pPr>
              <a:r>
                <a:rPr sz="1218" b="0" i="0" lang="zh-CN" dirty="0">
                  <a:solidFill>
                    <a:srgbClr val="000000"/>
                  </a:solidFill>
                  <a:latin typeface="Andale Mono"/>
                  <a:ea typeface="Andale Mono"/>
                  <a:cs typeface="Andale Mono"/>
                </a:rPr>
                <a:t>“Pick up the apple</a:t>
              </a:r>
            </a:p>
          </p:txBody>
        </p:sp>
        <p:sp>
          <p:nvSpPr>
            <p:cNvPr id="168" name="instruction_1" descr="Editable text; source id instruction_1"/>
            <p:cNvSpPr txBox="1"/>
            <p:nvPr/>
          </p:nvSpPr>
          <p:spPr>
            <a:xfrm>
              <a:off x="109605" y="1856846"/>
              <a:ext cx="1837503" cy="232105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l" fontAlgn="base">
                <a:lnSpc>
                  <a:spcPts val="1401"/>
                </a:lnSpc>
                <a:spcBef>
                  <a:spcPts val="0"/>
                </a:spcBef>
                <a:spcAft>
                  <a:spcPts val="0"/>
                </a:spcAft>
                <a:defRPr sz="1218" b="0" i="0" lang="zh-CN" dirty="0">
                  <a:solidFill>
                    <a:srgbClr val="000000"/>
                  </a:solidFill>
                  <a:latin typeface="Andale Mono"/>
                  <a:ea typeface="Andale Mono"/>
                  <a:cs typeface="Andale Mono"/>
                </a:defRPr>
              </a:pPr>
              <a:r>
                <a:rPr sz="1218" b="0" i="0" lang="zh-CN" dirty="0">
                  <a:solidFill>
                    <a:srgbClr val="000000"/>
                  </a:solidFill>
                  <a:latin typeface="Andale Mono"/>
                  <a:ea typeface="Andale Mono"/>
                  <a:cs typeface="Andale Mono"/>
                </a:rPr>
                <a:t>and place it into</a:t>
              </a:r>
            </a:p>
          </p:txBody>
        </p:sp>
        <p:sp>
          <p:nvSpPr>
            <p:cNvPr id="169" name="instruction_2" descr="Editable text; source id instruction_2"/>
            <p:cNvSpPr txBox="1"/>
            <p:nvPr/>
          </p:nvSpPr>
          <p:spPr>
            <a:xfrm>
              <a:off x="109605" y="2043820"/>
              <a:ext cx="1837503" cy="232105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l" fontAlgn="base">
                <a:lnSpc>
                  <a:spcPts val="1401"/>
                </a:lnSpc>
                <a:spcBef>
                  <a:spcPts val="0"/>
                </a:spcBef>
                <a:spcAft>
                  <a:spcPts val="0"/>
                </a:spcAft>
                <a:defRPr sz="1218" b="0" i="0" lang="zh-CN" dirty="0">
                  <a:solidFill>
                    <a:srgbClr val="000000"/>
                  </a:solidFill>
                  <a:latin typeface="Andale Mono"/>
                  <a:ea typeface="Andale Mono"/>
                  <a:cs typeface="Andale Mono"/>
                </a:defRPr>
              </a:pPr>
              <a:r>
                <a:rPr sz="1218" b="0" i="0" lang="zh-CN" dirty="0">
                  <a:solidFill>
                    <a:srgbClr val="000000"/>
                  </a:solidFill>
                  <a:latin typeface="Andale Mono"/>
                  <a:ea typeface="Andale Mono"/>
                  <a:cs typeface="Andale Mono"/>
                </a:rPr>
                <a:t>the bottom shelf”</a:t>
              </a:r>
            </a:p>
          </p:txBody>
        </p:sp>
      </p:grpSp>
      <p:grpSp>
        <p:nvGrpSpPr>
          <p:cNvPr id="187" name="state_q" descr="One mathematical quantity: baseline and subscript must move together. Components preserve math style; grouping must not flatten editable text."/>
          <p:cNvGrpSpPr/>
          <p:nvPr/>
        </p:nvGrpSpPr>
        <p:grpSpPr>
          <a:xfrm>
            <a:off x="2072833" y="2799775"/>
            <a:ext cx="177303" cy="298565"/>
            <a:chOff x="2072833" y="2799775"/>
            <a:chExt cx="177303" cy="298565"/>
          </a:xfrm>
        </p:grpSpPr>
        <p:sp>
          <p:nvSpPr>
            <p:cNvPr id="170" name="state_q_0" descr="Editable text; source id state_q_0"/>
            <p:cNvSpPr txBox="1"/>
            <p:nvPr/>
          </p:nvSpPr>
          <p:spPr>
            <a:xfrm>
              <a:off x="2072833" y="2799775"/>
              <a:ext cx="125723" cy="276592"/>
            </a:xfrm>
            <a:prstGeom prst="rect">
              <a:avLst/>
            </a:prstGeom>
            <a:noFill/>
            <a:effectLst/>
          </p:spPr>
          <p:txBody>
            <a:bodyPr wrap="none" anchor="t" tIns="3223" rIns="0" bIns="0" lIns="3223" anchorCtr="0" vertOverflow="overflow">
              <a:noAutofit/>
            </a:bodyPr>
            <a:lstStyle/>
            <a:p>
              <a:pPr algn="l" fontAlgn="base">
                <a:lnSpc>
                  <a:spcPts val="2101"/>
                </a:lnSpc>
                <a:spcBef>
                  <a:spcPts val="0"/>
                </a:spcBef>
                <a:spcAft>
                  <a:spcPts val="0"/>
                </a:spcAft>
                <a:defRPr sz="1827" b="0" i="1" lang="zh-CN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827" b="0" i="1" lang="zh-CN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q</a:t>
              </a:r>
            </a:p>
          </p:txBody>
        </p:sp>
        <p:sp>
          <p:nvSpPr>
            <p:cNvPr id="171" name="state_q_1" descr="Editable text; source id state_q_1"/>
            <p:cNvSpPr txBox="1"/>
            <p:nvPr/>
          </p:nvSpPr>
          <p:spPr>
            <a:xfrm>
              <a:off x="2188886" y="2896486"/>
              <a:ext cx="61250" cy="201854"/>
            </a:xfrm>
            <a:prstGeom prst="rect">
              <a:avLst/>
            </a:prstGeom>
            <a:noFill/>
            <a:effectLst/>
          </p:spPr>
          <p:txBody>
            <a:bodyPr wrap="none" anchor="t" tIns="3223" rIns="0" bIns="0" lIns="3223" anchorCtr="0" vertOverflow="overflow">
              <a:noAutofit/>
            </a:bodyPr>
            <a:lstStyle/>
            <a:p>
              <a:pPr algn="l" fontAlgn="base">
                <a:lnSpc>
                  <a:spcPts val="1513"/>
                </a:lnSpc>
                <a:spcBef>
                  <a:spcPts val="0"/>
                </a:spcBef>
                <a:spcAft>
                  <a:spcPts val="0"/>
                </a:spcAft>
                <a:defRPr sz="1315" b="0" i="1" lang="zh-CN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15" b="0" i="1" lang="zh-CN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t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