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35711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GR00T N1, NVIDIA et al., arXiv:2503.14734v2, Figure 3 page 4, 27 March 2025. Paper CC BY 4.0 https://creativecommons.org/licenses/by/4.0/. Native reconstruction from raster; two photographic/robot-art crops remain raster.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ision" descr="Editable shape; source id vision"/>
          <p:cNvSpPr/>
          <p:nvPr/>
        </p:nvSpPr>
        <p:spPr>
          <a:xfrm>
            <a:off x="2043820" y="128947"/>
            <a:ext cx="1096054" cy="1347502"/>
          </a:xfrm>
          <a:prstGeom prst="roundRect">
            <a:avLst>
              <a:gd name="adj" fmla="val 19411"/>
            </a:avLst>
          </a:prstGeom>
          <a:solidFill>
            <a:srgbClr val="F2F2F2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ision_label" descr="Editable text; source id vision_label"/>
          <p:cNvSpPr txBox="1"/>
          <p:nvPr/>
        </p:nvSpPr>
        <p:spPr>
          <a:xfrm>
            <a:off x="2011583" y="576301"/>
            <a:ext cx="1160528" cy="45776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4" name="tokenizer" descr="Editable shape; source id tokenizer"/>
          <p:cNvSpPr/>
          <p:nvPr/>
        </p:nvSpPr>
        <p:spPr>
          <a:xfrm>
            <a:off x="2043820" y="1682766"/>
            <a:ext cx="1096054" cy="593159"/>
          </a:xfrm>
          <a:prstGeom prst="roundRect">
            <a:avLst>
              <a:gd name="adj" fmla="val 27173"/>
            </a:avLst>
          </a:prstGeom>
          <a:solidFill>
            <a:srgbClr val="F2F2F2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kenizer_label" descr="Editable text; source id tokenizer_label"/>
          <p:cNvSpPr txBox="1"/>
          <p:nvPr/>
        </p:nvSpPr>
        <p:spPr>
          <a:xfrm>
            <a:off x="2011583" y="1762662"/>
            <a:ext cx="1160528" cy="4513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</a:t>
            </a:r>
          </a:p>
          <a:p>
            <a:pPr algn="ctr" fontAlgn="base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Tokenizer</a:t>
            </a:r>
          </a:p>
        </p:txBody>
      </p:sp>
      <p:sp>
        <p:nvSpPr>
          <p:cNvPr id="6" name="vlm" descr="Editable shape; source id vlm"/>
          <p:cNvSpPr/>
          <p:nvPr/>
        </p:nvSpPr>
        <p:spPr>
          <a:xfrm>
            <a:off x="3668560" y="64473"/>
            <a:ext cx="1192765" cy="2333952"/>
          </a:xfrm>
          <a:prstGeom prst="roundRect">
            <a:avLst>
              <a:gd name="adj" fmla="val 17837"/>
            </a:avLst>
          </a:prstGeom>
          <a:solidFill>
            <a:srgbClr val="F2F2F2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lm_label" descr="Editable text; source id vlm_label"/>
          <p:cNvSpPr txBox="1"/>
          <p:nvPr/>
        </p:nvSpPr>
        <p:spPr>
          <a:xfrm>
            <a:off x="3681455" y="1008276"/>
            <a:ext cx="1160528" cy="45776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Eagle-2</a:t>
            </a:r>
          </a:p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cxnSp>
        <p:nvCxnSpPr>
          <p:cNvPr id="8" name="vlm_frozen_icon_arm_0" descr="Editable line; source id vlm_frozen_icon_arm_0"/>
          <p:cNvCxnSpPr/>
          <p:nvPr/>
        </p:nvCxnSpPr>
        <p:spPr>
          <a:xfrm flipV="1">
            <a:off x="4687246" y="186974"/>
            <a:ext cx="0" cy="96710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vlm_frozen_icon_twig_0_0" descr="Editable line; source id vlm_frozen_icon_twig_0_0"/>
          <p:cNvCxnSpPr/>
          <p:nvPr/>
        </p:nvCxnSpPr>
        <p:spPr>
          <a:xfrm flipH="1" flipV="1">
            <a:off x="4664036" y="202447"/>
            <a:ext cx="23210" cy="26112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vlm_frozen_icon_twig_0_1" descr="Editable line; source id vlm_frozen_icon_twig_0_1"/>
          <p:cNvCxnSpPr/>
          <p:nvPr/>
        </p:nvCxnSpPr>
        <p:spPr>
          <a:xfrm flipV="1">
            <a:off x="4687246" y="202447"/>
            <a:ext cx="23211" cy="26112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vlm_frozen_icon_arm_1" descr="Editable line; source id vlm_frozen_icon_arm_1"/>
          <p:cNvCxnSpPr/>
          <p:nvPr/>
        </p:nvCxnSpPr>
        <p:spPr>
          <a:xfrm flipV="1">
            <a:off x="4687246" y="235329"/>
            <a:ext cx="83754" cy="48355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lm_frozen_icon_twig_1_0" descr="Editable line; source id vlm_frozen_icon_twig_1_0"/>
          <p:cNvCxnSpPr/>
          <p:nvPr/>
        </p:nvCxnSpPr>
        <p:spPr>
          <a:xfrm flipV="1">
            <a:off x="4734986" y="222965"/>
            <a:ext cx="11008" cy="33157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vlm_frozen_icon_twig_1_1" descr="Editable line; source id vlm_frozen_icon_twig_1_1"/>
          <p:cNvCxnSpPr/>
          <p:nvPr/>
        </p:nvCxnSpPr>
        <p:spPr>
          <a:xfrm>
            <a:off x="4734986" y="256122"/>
            <a:ext cx="34219" cy="7045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vlm_frozen_icon_arm_2" descr="Editable line; source id vlm_frozen_icon_arm_2"/>
          <p:cNvCxnSpPr/>
          <p:nvPr/>
        </p:nvCxnSpPr>
        <p:spPr>
          <a:xfrm>
            <a:off x="4687246" y="283684"/>
            <a:ext cx="83754" cy="48356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lm_frozen_icon_twig_2_0" descr="Editable line; source id vlm_frozen_icon_twig_2_0"/>
          <p:cNvCxnSpPr/>
          <p:nvPr/>
        </p:nvCxnSpPr>
        <p:spPr>
          <a:xfrm flipV="1">
            <a:off x="4734986" y="304202"/>
            <a:ext cx="34219" cy="7045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lm_frozen_icon_twig_2_1" descr="Editable line; source id vlm_frozen_icon_twig_2_1"/>
          <p:cNvCxnSpPr/>
          <p:nvPr/>
        </p:nvCxnSpPr>
        <p:spPr>
          <a:xfrm>
            <a:off x="4734986" y="311247"/>
            <a:ext cx="11008" cy="33157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vlm_frozen_icon_arm_3" descr="Editable line; source id vlm_frozen_icon_arm_3"/>
          <p:cNvCxnSpPr/>
          <p:nvPr/>
        </p:nvCxnSpPr>
        <p:spPr>
          <a:xfrm>
            <a:off x="4687246" y="283684"/>
            <a:ext cx="0" cy="96711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vlm_frozen_icon_twig_3_0" descr="Editable line; source id vlm_frozen_icon_twig_3_0"/>
          <p:cNvCxnSpPr/>
          <p:nvPr/>
        </p:nvCxnSpPr>
        <p:spPr>
          <a:xfrm>
            <a:off x="4687246" y="338809"/>
            <a:ext cx="23211" cy="26112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lm_frozen_icon_twig_3_1" descr="Editable line; source id vlm_frozen_icon_twig_3_1"/>
          <p:cNvCxnSpPr/>
          <p:nvPr/>
        </p:nvCxnSpPr>
        <p:spPr>
          <a:xfrm flipH="1">
            <a:off x="4664036" y="338809"/>
            <a:ext cx="23210" cy="26112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lm_frozen_icon_arm_4" descr="Editable line; source id vlm_frozen_icon_arm_4"/>
          <p:cNvCxnSpPr/>
          <p:nvPr/>
        </p:nvCxnSpPr>
        <p:spPr>
          <a:xfrm flipH="1">
            <a:off x="4603492" y="283684"/>
            <a:ext cx="83754" cy="48356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vlm_frozen_icon_twig_4_0" descr="Editable line; source id vlm_frozen_icon_twig_4_0"/>
          <p:cNvCxnSpPr/>
          <p:nvPr/>
        </p:nvCxnSpPr>
        <p:spPr>
          <a:xfrm flipH="1">
            <a:off x="4628498" y="311247"/>
            <a:ext cx="11009" cy="33157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vlm_frozen_icon_twig_4_1" descr="Editable line; source id vlm_frozen_icon_twig_4_1"/>
          <p:cNvCxnSpPr/>
          <p:nvPr/>
        </p:nvCxnSpPr>
        <p:spPr>
          <a:xfrm flipH="1" flipV="1">
            <a:off x="4605288" y="304202"/>
            <a:ext cx="34219" cy="7045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vlm_frozen_icon_arm_5" descr="Editable line; source id vlm_frozen_icon_arm_5"/>
          <p:cNvCxnSpPr/>
          <p:nvPr/>
        </p:nvCxnSpPr>
        <p:spPr>
          <a:xfrm flipH="1" flipV="1">
            <a:off x="4603492" y="235329"/>
            <a:ext cx="83754" cy="48355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vlm_frozen_icon_twig_5_0" descr="Editable line; source id vlm_frozen_icon_twig_5_0"/>
          <p:cNvCxnSpPr/>
          <p:nvPr/>
        </p:nvCxnSpPr>
        <p:spPr>
          <a:xfrm flipH="1">
            <a:off x="4605288" y="256122"/>
            <a:ext cx="34219" cy="7045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vlm_frozen_icon_twig_5_1" descr="Editable line; source id vlm_frozen_icon_twig_5_1"/>
          <p:cNvCxnSpPr/>
          <p:nvPr/>
        </p:nvCxnSpPr>
        <p:spPr>
          <a:xfrm flipH="1" flipV="1">
            <a:off x="4628498" y="222965"/>
            <a:ext cx="11009" cy="33157"/>
          </a:xfrm>
          <a:prstGeom prst="line">
            <a:avLst/>
          </a:prstGeom>
          <a:ln w="15473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tate_encoder" descr="Editable shape; source id state_encoder"/>
          <p:cNvSpPr/>
          <p:nvPr/>
        </p:nvSpPr>
        <p:spPr>
          <a:xfrm>
            <a:off x="3107638" y="2546715"/>
            <a:ext cx="1250792" cy="786580"/>
          </a:xfrm>
          <a:prstGeom prst="roundRect">
            <a:avLst>
              <a:gd name="adj" fmla="val 20491"/>
            </a:avLst>
          </a:prstGeom>
          <a:solidFill>
            <a:srgbClr val="D9EBD1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te_encoder_label" descr="Editable text; source id state_encoder_label"/>
          <p:cNvSpPr txBox="1"/>
          <p:nvPr/>
        </p:nvSpPr>
        <p:spPr>
          <a:xfrm>
            <a:off x="3152769" y="2710385"/>
            <a:ext cx="1160528" cy="45776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28" name="action_encoder" descr="Editable shape; source id action_encoder"/>
          <p:cNvSpPr/>
          <p:nvPr/>
        </p:nvSpPr>
        <p:spPr>
          <a:xfrm>
            <a:off x="3107638" y="3481586"/>
            <a:ext cx="1250792" cy="1798819"/>
          </a:xfrm>
          <a:prstGeom prst="roundRect">
            <a:avLst>
              <a:gd name="adj" fmla="val 17010"/>
            </a:avLst>
          </a:prstGeom>
          <a:solidFill>
            <a:srgbClr val="D9EBD1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ction_encoder_label" descr="Editable text; source id action_encoder_label"/>
          <p:cNvSpPr txBox="1"/>
          <p:nvPr/>
        </p:nvSpPr>
        <p:spPr>
          <a:xfrm>
            <a:off x="3152769" y="4161046"/>
            <a:ext cx="1160528" cy="45776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30" name="dit" descr="Editable shape; source id dit"/>
          <p:cNvSpPr/>
          <p:nvPr/>
        </p:nvSpPr>
        <p:spPr>
          <a:xfrm>
            <a:off x="5415801" y="2546715"/>
            <a:ext cx="3172112" cy="2823953"/>
          </a:xfrm>
          <a:prstGeom prst="roundRect">
            <a:avLst>
              <a:gd name="adj" fmla="val 7534"/>
            </a:avLst>
          </a:prstGeom>
          <a:solidFill>
            <a:srgbClr val="F2F2F2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ross_1" descr="Editable shape; source id cross_1"/>
          <p:cNvSpPr/>
          <p:nvPr/>
        </p:nvSpPr>
        <p:spPr>
          <a:xfrm>
            <a:off x="5609222" y="2669216"/>
            <a:ext cx="438421" cy="2566058"/>
          </a:xfrm>
          <a:prstGeom prst="roundRect">
            <a:avLst>
              <a:gd name="adj" fmla="val 17647"/>
            </a:avLst>
          </a:prstGeom>
          <a:solidFill>
            <a:srgbClr val="D9D9D9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ross_1_label" descr="Editable text; source id cross_1_label"/>
          <p:cNvSpPr txBox="1"/>
          <p:nvPr/>
        </p:nvSpPr>
        <p:spPr>
          <a:xfrm rot="5400000">
            <a:off x="4748496" y="3829745"/>
            <a:ext cx="2127636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34"/>
              </a:lnSpc>
              <a:spcBef>
                <a:spcPts val="0"/>
              </a:spcBef>
              <a:spcAft>
                <a:spcPts val="0"/>
              </a:spcAft>
              <a:def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Cross-Attention</a:t>
            </a:r>
          </a:p>
        </p:txBody>
      </p:sp>
      <p:sp>
        <p:nvSpPr>
          <p:cNvPr id="33" name="self_1" descr="Editable shape; source id self_1"/>
          <p:cNvSpPr/>
          <p:nvPr/>
        </p:nvSpPr>
        <p:spPr>
          <a:xfrm>
            <a:off x="6208829" y="2669216"/>
            <a:ext cx="444869" cy="2566058"/>
          </a:xfrm>
          <a:prstGeom prst="roundRect">
            <a:avLst>
              <a:gd name="adj" fmla="val 17391"/>
            </a:avLst>
          </a:prstGeom>
          <a:solidFill>
            <a:srgbClr val="D9D9D9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elf_1_label" descr="Editable text; source id self_1_label"/>
          <p:cNvSpPr txBox="1"/>
          <p:nvPr/>
        </p:nvSpPr>
        <p:spPr>
          <a:xfrm rot="5400000">
            <a:off x="5348103" y="3829745"/>
            <a:ext cx="2127636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34"/>
              </a:lnSpc>
              <a:spcBef>
                <a:spcPts val="0"/>
              </a:spcBef>
              <a:spcAft>
                <a:spcPts val="0"/>
              </a:spcAft>
              <a:def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Self-Attention</a:t>
            </a:r>
          </a:p>
        </p:txBody>
      </p:sp>
      <p:sp>
        <p:nvSpPr>
          <p:cNvPr id="35" name="cross_2" descr="Editable shape; source id cross_2"/>
          <p:cNvSpPr/>
          <p:nvPr/>
        </p:nvSpPr>
        <p:spPr>
          <a:xfrm>
            <a:off x="7343568" y="2669216"/>
            <a:ext cx="444869" cy="2566058"/>
          </a:xfrm>
          <a:prstGeom prst="roundRect">
            <a:avLst>
              <a:gd name="adj" fmla="val 17391"/>
            </a:avLst>
          </a:prstGeom>
          <a:solidFill>
            <a:srgbClr val="D9D9D9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ross_2_label" descr="Editable text; source id cross_2_label"/>
          <p:cNvSpPr txBox="1"/>
          <p:nvPr/>
        </p:nvSpPr>
        <p:spPr>
          <a:xfrm rot="5400000">
            <a:off x="6482842" y="3829745"/>
            <a:ext cx="2127636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34"/>
              </a:lnSpc>
              <a:spcBef>
                <a:spcPts val="0"/>
              </a:spcBef>
              <a:spcAft>
                <a:spcPts val="0"/>
              </a:spcAft>
              <a:def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Cross-Attention</a:t>
            </a:r>
          </a:p>
        </p:txBody>
      </p:sp>
      <p:sp>
        <p:nvSpPr>
          <p:cNvPr id="37" name="self_2" descr="Editable shape; source id self_2"/>
          <p:cNvSpPr/>
          <p:nvPr/>
        </p:nvSpPr>
        <p:spPr>
          <a:xfrm>
            <a:off x="7943174" y="2669216"/>
            <a:ext cx="444869" cy="2566058"/>
          </a:xfrm>
          <a:prstGeom prst="roundRect">
            <a:avLst>
              <a:gd name="adj" fmla="val 17391"/>
            </a:avLst>
          </a:prstGeom>
          <a:solidFill>
            <a:srgbClr val="D9D9D9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lf_2_label" descr="Editable text; source id self_2_label"/>
          <p:cNvSpPr txBox="1"/>
          <p:nvPr/>
        </p:nvSpPr>
        <p:spPr>
          <a:xfrm rot="5400000">
            <a:off x="7082449" y="3829745"/>
            <a:ext cx="2127636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34"/>
              </a:lnSpc>
              <a:spcBef>
                <a:spcPts val="0"/>
              </a:spcBef>
              <a:spcAft>
                <a:spcPts val="0"/>
              </a:spcAft>
              <a:def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Self-Attention</a:t>
            </a:r>
          </a:p>
        </p:txBody>
      </p:sp>
      <p:cxnSp>
        <p:nvCxnSpPr>
          <p:cNvPr id="39" name="cross_self_1" descr="Editable line; source id cross_self_1"/>
          <p:cNvCxnSpPr/>
          <p:nvPr/>
        </p:nvCxnSpPr>
        <p:spPr>
          <a:xfrm>
            <a:off x="6047644" y="3952245"/>
            <a:ext cx="161185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ross_self_2" descr="Editable line; source id cross_self_2"/>
          <p:cNvCxnSpPr/>
          <p:nvPr/>
        </p:nvCxnSpPr>
        <p:spPr>
          <a:xfrm>
            <a:off x="7788437" y="3952245"/>
            <a:ext cx="154737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dit_gap" descr="Editable line; source id dit_gap"/>
          <p:cNvCxnSpPr/>
          <p:nvPr/>
        </p:nvCxnSpPr>
        <p:spPr>
          <a:xfrm>
            <a:off x="6653698" y="3952245"/>
            <a:ext cx="689870" cy="0"/>
          </a:xfrm>
          <a:prstGeom prst="line">
            <a:avLst/>
          </a:prstGeom>
          <a:ln w="19342">
            <a:solidFill>
              <a:srgbClr val="5B6067"/>
            </a:solidFill>
            <a:custDash>
              <a:ds d="433333" sp="3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peat_count" descr="Editable text; source id repeat_count"/>
          <p:cNvSpPr txBox="1"/>
          <p:nvPr/>
        </p:nvSpPr>
        <p:spPr>
          <a:xfrm>
            <a:off x="6743961" y="5351327"/>
            <a:ext cx="502895" cy="21921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401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18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N</a:t>
            </a:r>
          </a:p>
        </p:txBody>
      </p:sp>
      <p:sp>
        <p:nvSpPr>
          <p:cNvPr id="43" name="dit_label" descr="Editable text; source id dit_label"/>
          <p:cNvSpPr txBox="1"/>
          <p:nvPr/>
        </p:nvSpPr>
        <p:spPr>
          <a:xfrm>
            <a:off x="6370013" y="5615669"/>
            <a:ext cx="1257239" cy="25789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DiT Blocks</a:t>
            </a:r>
          </a:p>
        </p:txBody>
      </p:sp>
      <p:sp>
        <p:nvSpPr>
          <p:cNvPr id="44" name="decoder" descr="Editable shape; source id decoder"/>
          <p:cNvSpPr/>
          <p:nvPr/>
        </p:nvSpPr>
        <p:spPr>
          <a:xfrm>
            <a:off x="9116598" y="2591847"/>
            <a:ext cx="1160528" cy="2688558"/>
          </a:xfrm>
          <a:prstGeom prst="roundRect">
            <a:avLst>
              <a:gd name="adj" fmla="val 18333"/>
            </a:avLst>
          </a:prstGeom>
          <a:solidFill>
            <a:srgbClr val="D9EBD1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ecoder_label" descr="Editable text; source id decoder_label"/>
          <p:cNvSpPr txBox="1"/>
          <p:nvPr/>
        </p:nvSpPr>
        <p:spPr>
          <a:xfrm>
            <a:off x="9116598" y="3722654"/>
            <a:ext cx="1160528" cy="451316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  <a:p>
            <a:pPr algn="ctr" fontAlgn="base">
              <a:lnSpc>
                <a:spcPts val="1675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46" name="input_chunk" descr="Editable shape; source id input_chunk"/>
          <p:cNvSpPr/>
          <p:nvPr/>
        </p:nvSpPr>
        <p:spPr>
          <a:xfrm>
            <a:off x="1805267" y="3371980"/>
            <a:ext cx="709212" cy="1998688"/>
          </a:xfrm>
          <a:prstGeom prst="roundRect">
            <a:avLst>
              <a:gd name="adj" fmla="val 20909"/>
            </a:avLst>
          </a:prstGeom>
          <a:noFill/>
          <a:ln w="19342">
            <a:solidFill>
              <a:srgbClr val="5B6067"/>
            </a:solidFill>
            <a:custDash>
              <a:ds d="433333" sp="3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nput_a0_0" descr="Editable text; source id input_a0_0"/>
          <p:cNvSpPr txBox="1"/>
          <p:nvPr/>
        </p:nvSpPr>
        <p:spPr>
          <a:xfrm>
            <a:off x="2085728" y="3463856"/>
            <a:ext cx="125723" cy="276592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2101"/>
              </a:lnSpc>
              <a:spcBef>
                <a:spcPts val="0"/>
              </a:spcBef>
              <a:spcAft>
                <a:spcPts val="0"/>
              </a:spcAft>
              <a:def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8" name="input_a0_1" descr="Editable text; source id input_a0_1"/>
          <p:cNvSpPr txBox="1"/>
          <p:nvPr/>
        </p:nvSpPr>
        <p:spPr>
          <a:xfrm>
            <a:off x="2201781" y="3560566"/>
            <a:ext cx="61250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9" name="input_a1_0" descr="Editable text; source id input_a1_0"/>
          <p:cNvSpPr txBox="1"/>
          <p:nvPr/>
        </p:nvSpPr>
        <p:spPr>
          <a:xfrm>
            <a:off x="1982570" y="3850699"/>
            <a:ext cx="125723" cy="276592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2101"/>
              </a:lnSpc>
              <a:spcBef>
                <a:spcPts val="0"/>
              </a:spcBef>
              <a:spcAft>
                <a:spcPts val="0"/>
              </a:spcAft>
              <a:def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50" name="input_a1_1" descr="Editable text; source id input_a1_1"/>
          <p:cNvSpPr txBox="1"/>
          <p:nvPr/>
        </p:nvSpPr>
        <p:spPr>
          <a:xfrm>
            <a:off x="2098622" y="3947409"/>
            <a:ext cx="61250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1" name="input_a1_2" descr="Editable text; source id input_a1_2"/>
          <p:cNvSpPr txBox="1"/>
          <p:nvPr/>
        </p:nvSpPr>
        <p:spPr>
          <a:xfrm>
            <a:off x="2175991" y="3947409"/>
            <a:ext cx="188585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+1</a:t>
            </a:r>
          </a:p>
        </p:txBody>
      </p:sp>
      <p:sp>
        <p:nvSpPr>
          <p:cNvPr id="52" name="input_aH_0" descr="Editable text; source id input_aH_0"/>
          <p:cNvSpPr txBox="1"/>
          <p:nvPr/>
        </p:nvSpPr>
        <p:spPr>
          <a:xfrm>
            <a:off x="1866517" y="4933859"/>
            <a:ext cx="125723" cy="276592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2101"/>
              </a:lnSpc>
              <a:spcBef>
                <a:spcPts val="0"/>
              </a:spcBef>
              <a:spcAft>
                <a:spcPts val="0"/>
              </a:spcAft>
              <a:def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53" name="input_aH_1" descr="Editable text; source id input_aH_1"/>
          <p:cNvSpPr txBox="1"/>
          <p:nvPr/>
        </p:nvSpPr>
        <p:spPr>
          <a:xfrm>
            <a:off x="1982570" y="5030569"/>
            <a:ext cx="61250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54" name="input_aH_2" descr="Editable text; source id input_aH_2"/>
          <p:cNvSpPr txBox="1"/>
          <p:nvPr/>
        </p:nvSpPr>
        <p:spPr>
          <a:xfrm>
            <a:off x="2059938" y="5030569"/>
            <a:ext cx="104769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55" name="input_aH_3" descr="Editable text; source id input_aH_3"/>
          <p:cNvSpPr txBox="1"/>
          <p:nvPr/>
        </p:nvSpPr>
        <p:spPr>
          <a:xfrm>
            <a:off x="2164708" y="5030569"/>
            <a:ext cx="156349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8059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56" name="input_aH_4" descr="Editable text; source id input_aH_4"/>
          <p:cNvSpPr txBox="1"/>
          <p:nvPr/>
        </p:nvSpPr>
        <p:spPr>
          <a:xfrm>
            <a:off x="2298491" y="5030569"/>
            <a:ext cx="188585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−1</a:t>
            </a:r>
          </a:p>
        </p:txBody>
      </p:sp>
      <p:sp>
        <p:nvSpPr>
          <p:cNvPr id="57" name="input_ellipsis" descr="Editable text; source id input_ellipsis"/>
          <p:cNvSpPr txBox="1"/>
          <p:nvPr/>
        </p:nvSpPr>
        <p:spPr>
          <a:xfrm>
            <a:off x="2018030" y="4493825"/>
            <a:ext cx="257895" cy="31592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67"/>
              </a:lnSpc>
              <a:spcBef>
                <a:spcPts val="0"/>
              </a:spcBef>
              <a:spcAft>
                <a:spcPts val="0"/>
              </a:spcAft>
              <a:defRPr sz="1675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75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⋮</a:t>
            </a:r>
          </a:p>
        </p:txBody>
      </p:sp>
      <p:sp>
        <p:nvSpPr>
          <p:cNvPr id="58" name="output_chunk" descr="Editable shape; source id output_chunk"/>
          <p:cNvSpPr/>
          <p:nvPr/>
        </p:nvSpPr>
        <p:spPr>
          <a:xfrm>
            <a:off x="10502785" y="2940006"/>
            <a:ext cx="709212" cy="1992241"/>
          </a:xfrm>
          <a:prstGeom prst="roundRect">
            <a:avLst>
              <a:gd name="adj" fmla="val 20909"/>
            </a:avLst>
          </a:prstGeom>
          <a:noFill/>
          <a:ln w="19342">
            <a:solidFill>
              <a:srgbClr val="5B6067"/>
            </a:solidFill>
            <a:custDash>
              <a:ds d="433333" sp="3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utput_a0_0" descr="Editable text; source id output_a0_0"/>
          <p:cNvSpPr txBox="1"/>
          <p:nvPr/>
        </p:nvSpPr>
        <p:spPr>
          <a:xfrm>
            <a:off x="10783246" y="3025434"/>
            <a:ext cx="125723" cy="276592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2101"/>
              </a:lnSpc>
              <a:spcBef>
                <a:spcPts val="0"/>
              </a:spcBef>
              <a:spcAft>
                <a:spcPts val="0"/>
              </a:spcAft>
              <a:def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0" name="output_a0_1" descr="Editable text; source id output_a0_1"/>
          <p:cNvSpPr txBox="1"/>
          <p:nvPr/>
        </p:nvSpPr>
        <p:spPr>
          <a:xfrm>
            <a:off x="10899299" y="3122144"/>
            <a:ext cx="61250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1" name="output_a1_0" descr="Editable text; source id output_a1_0"/>
          <p:cNvSpPr txBox="1"/>
          <p:nvPr/>
        </p:nvSpPr>
        <p:spPr>
          <a:xfrm>
            <a:off x="10680088" y="3412277"/>
            <a:ext cx="125723" cy="276592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2101"/>
              </a:lnSpc>
              <a:spcBef>
                <a:spcPts val="0"/>
              </a:spcBef>
              <a:spcAft>
                <a:spcPts val="0"/>
              </a:spcAft>
              <a:def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2" name="output_a1_1" descr="Editable text; source id output_a1_1"/>
          <p:cNvSpPr txBox="1"/>
          <p:nvPr/>
        </p:nvSpPr>
        <p:spPr>
          <a:xfrm>
            <a:off x="10796141" y="3508987"/>
            <a:ext cx="61250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3" name="output_a1_2" descr="Editable text; source id output_a1_2"/>
          <p:cNvSpPr txBox="1"/>
          <p:nvPr/>
        </p:nvSpPr>
        <p:spPr>
          <a:xfrm>
            <a:off x="10873510" y="3508987"/>
            <a:ext cx="188585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+1</a:t>
            </a:r>
          </a:p>
        </p:txBody>
      </p:sp>
      <p:sp>
        <p:nvSpPr>
          <p:cNvPr id="64" name="output_aH_0" descr="Editable text; source id output_aH_0"/>
          <p:cNvSpPr txBox="1"/>
          <p:nvPr/>
        </p:nvSpPr>
        <p:spPr>
          <a:xfrm>
            <a:off x="10564035" y="4495437"/>
            <a:ext cx="125723" cy="276592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2101"/>
              </a:lnSpc>
              <a:spcBef>
                <a:spcPts val="0"/>
              </a:spcBef>
              <a:spcAft>
                <a:spcPts val="0"/>
              </a:spcAft>
              <a:def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5" name="output_aH_1" descr="Editable text; source id output_aH_1"/>
          <p:cNvSpPr txBox="1"/>
          <p:nvPr/>
        </p:nvSpPr>
        <p:spPr>
          <a:xfrm>
            <a:off x="10680088" y="4592147"/>
            <a:ext cx="61250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66" name="output_aH_2" descr="Editable text; source id output_aH_2"/>
          <p:cNvSpPr txBox="1"/>
          <p:nvPr/>
        </p:nvSpPr>
        <p:spPr>
          <a:xfrm>
            <a:off x="10757457" y="4592147"/>
            <a:ext cx="104769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7" name="output_aH_3" descr="Editable text; source id output_aH_3"/>
          <p:cNvSpPr txBox="1"/>
          <p:nvPr/>
        </p:nvSpPr>
        <p:spPr>
          <a:xfrm>
            <a:off x="10862227" y="4592147"/>
            <a:ext cx="156349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8059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68" name="output_aH_4" descr="Editable text; source id output_aH_4"/>
          <p:cNvSpPr txBox="1"/>
          <p:nvPr/>
        </p:nvSpPr>
        <p:spPr>
          <a:xfrm>
            <a:off x="10996010" y="4592147"/>
            <a:ext cx="188585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−1</a:t>
            </a:r>
          </a:p>
        </p:txBody>
      </p:sp>
      <p:sp>
        <p:nvSpPr>
          <p:cNvPr id="69" name="output_ellipsis" descr="Editable text; source id output_ellipsis"/>
          <p:cNvSpPr txBox="1"/>
          <p:nvPr/>
        </p:nvSpPr>
        <p:spPr>
          <a:xfrm>
            <a:off x="10721996" y="4055403"/>
            <a:ext cx="257895" cy="31592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67"/>
              </a:lnSpc>
              <a:spcBef>
                <a:spcPts val="0"/>
              </a:spcBef>
              <a:spcAft>
                <a:spcPts val="0"/>
              </a:spcAft>
              <a:defRPr sz="1675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675" b="0" i="0" lang="zh-CN" dirty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⋮</a:t>
            </a:r>
          </a:p>
        </p:txBody>
      </p:sp>
      <p:sp>
        <p:nvSpPr>
          <p:cNvPr id="70" name="legend_module" descr="Editable shape; source id legend_module"/>
          <p:cNvSpPr/>
          <p:nvPr/>
        </p:nvSpPr>
        <p:spPr>
          <a:xfrm>
            <a:off x="8246201" y="741448"/>
            <a:ext cx="341711" cy="341711"/>
          </a:xfrm>
          <a:prstGeom prst="roundRect">
            <a:avLst>
              <a:gd name="adj" fmla="val 16981"/>
            </a:avLst>
          </a:prstGeom>
          <a:solidFill>
            <a:srgbClr val="D9EBD1"/>
          </a:solidFill>
          <a:ln w="19342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_module_label" descr="Editable text; source id legend_module_label"/>
          <p:cNvSpPr txBox="1"/>
          <p:nvPr/>
        </p:nvSpPr>
        <p:spPr>
          <a:xfrm>
            <a:off x="8761992" y="799475"/>
            <a:ext cx="3275270" cy="251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sz="1436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6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Embodiment-Specific Module</a:t>
            </a:r>
          </a:p>
        </p:txBody>
      </p:sp>
      <p:cxnSp>
        <p:nvCxnSpPr>
          <p:cNvPr id="72" name="vision_stub" descr="Editable line; source id vision_stub"/>
          <p:cNvCxnSpPr/>
          <p:nvPr/>
        </p:nvCxnSpPr>
        <p:spPr>
          <a:xfrm>
            <a:off x="1927767" y="786580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vision_out" descr="Editable line; source id vision_out"/>
          <p:cNvSpPr/>
          <p:nvPr/>
        </p:nvSpPr>
        <p:spPr>
          <a:xfrm>
            <a:off x="3139875" y="754344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text_stub" descr="Editable line; source id text_stub"/>
          <p:cNvCxnSpPr/>
          <p:nvPr/>
        </p:nvCxnSpPr>
        <p:spPr>
          <a:xfrm>
            <a:off x="1927767" y="1953556"/>
            <a:ext cx="116053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_out" descr="Editable line; source id text_out"/>
          <p:cNvSpPr/>
          <p:nvPr/>
        </p:nvSpPr>
        <p:spPr>
          <a:xfrm>
            <a:off x="3139875" y="1921320"/>
            <a:ext cx="180527" cy="64474"/>
          </a:xfrm>
          <a:custGeom>
            <a:avLst/>
            <a:gdLst/>
            <a:ahLst/>
            <a:cxnLst/>
            <a:rect l="l" t="t" r="r" b="b"/>
            <a:pathLst>
              <a:path w="28000" h="10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000"/>
                </a:lnTo>
                <a:lnTo>
                  <a:pt x="16000" y="10000"/>
                </a:lnTo>
                <a:lnTo>
                  <a:pt x="16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state_in" descr="Editable line; source id state_in"/>
          <p:cNvCxnSpPr/>
          <p:nvPr/>
        </p:nvCxnSpPr>
        <p:spPr>
          <a:xfrm>
            <a:off x="2624084" y="2927111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tate_out" descr="Editable line; source id state_out"/>
          <p:cNvSpPr/>
          <p:nvPr/>
        </p:nvSpPr>
        <p:spPr>
          <a:xfrm>
            <a:off x="4358430" y="2894875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action_in" descr="Editable line; source id action_in"/>
          <p:cNvCxnSpPr/>
          <p:nvPr/>
        </p:nvCxnSpPr>
        <p:spPr>
          <a:xfrm>
            <a:off x="2624084" y="4364877"/>
            <a:ext cx="483554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action_out" descr="Editable line; source id action_out"/>
          <p:cNvSpPr/>
          <p:nvPr/>
        </p:nvSpPr>
        <p:spPr>
          <a:xfrm>
            <a:off x="4358430" y="4332641"/>
            <a:ext cx="361053" cy="64474"/>
          </a:xfrm>
          <a:custGeom>
            <a:avLst/>
            <a:gdLst/>
            <a:ahLst/>
            <a:cxnLst/>
            <a:rect l="l" t="t" r="r" b="b"/>
            <a:pathLst>
              <a:path w="56000" h="10000">
                <a:moveTo>
                  <a:pt x="0" y="3500"/>
                </a:moveTo>
                <a:lnTo>
                  <a:pt x="44000" y="3500"/>
                </a:lnTo>
                <a:lnTo>
                  <a:pt x="44000" y="0"/>
                </a:lnTo>
                <a:lnTo>
                  <a:pt x="56000" y="5000"/>
                </a:lnTo>
                <a:lnTo>
                  <a:pt x="44000" y="10000"/>
                </a:lnTo>
                <a:lnTo>
                  <a:pt x="44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okens_to_dit" descr="Editable line; source id tokens_to_dit"/>
          <p:cNvSpPr/>
          <p:nvPr/>
        </p:nvSpPr>
        <p:spPr>
          <a:xfrm>
            <a:off x="5203037" y="3926456"/>
            <a:ext cx="212764" cy="64474"/>
          </a:xfrm>
          <a:custGeom>
            <a:avLst/>
            <a:gdLst/>
            <a:ahLst/>
            <a:cxnLst/>
            <a:rect l="l" t="t" r="r" b="b"/>
            <a:pathLst>
              <a:path w="33000" h="10000">
                <a:moveTo>
                  <a:pt x="0" y="3500"/>
                </a:moveTo>
                <a:lnTo>
                  <a:pt x="21000" y="3500"/>
                </a:lnTo>
                <a:lnTo>
                  <a:pt x="21000" y="0"/>
                </a:lnTo>
                <a:lnTo>
                  <a:pt x="33000" y="5000"/>
                </a:lnTo>
                <a:lnTo>
                  <a:pt x="21000" y="10000"/>
                </a:lnTo>
                <a:lnTo>
                  <a:pt x="21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it_to_tokens" descr="Editable line; source id dit_to_tokens"/>
          <p:cNvSpPr/>
          <p:nvPr/>
        </p:nvSpPr>
        <p:spPr>
          <a:xfrm>
            <a:off x="8587913" y="3926456"/>
            <a:ext cx="206316" cy="64474"/>
          </a:xfrm>
          <a:custGeom>
            <a:avLst/>
            <a:gdLst/>
            <a:ahLst/>
            <a:cxnLst/>
            <a:rect l="l" t="t" r="r" b="b"/>
            <a:pathLst>
              <a:path w="32000" h="10000">
                <a:moveTo>
                  <a:pt x="0" y="3500"/>
                </a:moveTo>
                <a:lnTo>
                  <a:pt x="20000" y="3500"/>
                </a:lnTo>
                <a:lnTo>
                  <a:pt x="20000" y="0"/>
                </a:lnTo>
                <a:lnTo>
                  <a:pt x="32000" y="5000"/>
                </a:lnTo>
                <a:lnTo>
                  <a:pt x="20000" y="10000"/>
                </a:lnTo>
                <a:lnTo>
                  <a:pt x="2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ecoder_out" descr="Editable line; source id decoder_out"/>
          <p:cNvSpPr/>
          <p:nvPr/>
        </p:nvSpPr>
        <p:spPr>
          <a:xfrm>
            <a:off x="10277127" y="3907114"/>
            <a:ext cx="225658" cy="64474"/>
          </a:xfrm>
          <a:custGeom>
            <a:avLst/>
            <a:gdLst/>
            <a:ahLst/>
            <a:cxnLst/>
            <a:rect l="l" t="t" r="r" b="b"/>
            <a:pathLst>
              <a:path w="35000" h="10000">
                <a:moveTo>
                  <a:pt x="0" y="3500"/>
                </a:moveTo>
                <a:lnTo>
                  <a:pt x="23000" y="3500"/>
                </a:lnTo>
                <a:lnTo>
                  <a:pt x="23000" y="0"/>
                </a:lnTo>
                <a:lnTo>
                  <a:pt x="35000" y="5000"/>
                </a:lnTo>
                <a:lnTo>
                  <a:pt x="23000" y="10000"/>
                </a:lnTo>
                <a:lnTo>
                  <a:pt x="2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motor_out" descr="Editable line; source id motor_out"/>
          <p:cNvSpPr/>
          <p:nvPr/>
        </p:nvSpPr>
        <p:spPr>
          <a:xfrm>
            <a:off x="11211998" y="3907114"/>
            <a:ext cx="186974" cy="64474"/>
          </a:xfrm>
          <a:custGeom>
            <a:avLst/>
            <a:gdLst/>
            <a:ahLst/>
            <a:cxnLst/>
            <a:rect l="l" t="t" r="r" b="b"/>
            <a:pathLst>
              <a:path w="29000" h="10000">
                <a:moveTo>
                  <a:pt x="0" y="3500"/>
                </a:moveTo>
                <a:lnTo>
                  <a:pt x="17000" y="3500"/>
                </a:lnTo>
                <a:lnTo>
                  <a:pt x="17000" y="0"/>
                </a:lnTo>
                <a:lnTo>
                  <a:pt x="29000" y="5000"/>
                </a:lnTo>
                <a:lnTo>
                  <a:pt x="17000" y="10000"/>
                </a:lnTo>
                <a:lnTo>
                  <a:pt x="17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vlm_bus" descr="Editable line; source id vlm_bus"/>
          <p:cNvCxnSpPr/>
          <p:nvPr/>
        </p:nvCxnSpPr>
        <p:spPr>
          <a:xfrm>
            <a:off x="5203037" y="1212107"/>
            <a:ext cx="2359742" cy="0"/>
          </a:xfrm>
          <a:prstGeom prst="line">
            <a:avLst/>
          </a:prstGeom>
          <a:ln w="19342">
            <a:solidFill>
              <a:srgbClr val="5B606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vlm_cross_1" descr="Editable line; source id vlm_cross_1"/>
          <p:cNvSpPr/>
          <p:nvPr/>
        </p:nvSpPr>
        <p:spPr>
          <a:xfrm>
            <a:off x="5796197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lm_cross_2" descr="Editable line; source id vlm_cross_2"/>
          <p:cNvSpPr/>
          <p:nvPr/>
        </p:nvSpPr>
        <p:spPr>
          <a:xfrm>
            <a:off x="7530542" y="1212108"/>
            <a:ext cx="64474" cy="1457108"/>
          </a:xfrm>
          <a:custGeom>
            <a:avLst/>
            <a:gdLst/>
            <a:ahLst/>
            <a:cxnLst/>
            <a:rect l="l" t="t" r="r" b="b"/>
            <a:pathLst>
              <a:path w="10000" h="226000">
                <a:moveTo>
                  <a:pt x="6500" y="0"/>
                </a:moveTo>
                <a:lnTo>
                  <a:pt x="6500" y="214000"/>
                </a:lnTo>
                <a:lnTo>
                  <a:pt x="10000" y="214000"/>
                </a:lnTo>
                <a:lnTo>
                  <a:pt x="5000" y="226000"/>
                </a:lnTo>
                <a:lnTo>
                  <a:pt x="0" y="214000"/>
                </a:lnTo>
                <a:lnTo>
                  <a:pt x="3500" y="214000"/>
                </a:lnTo>
                <a:lnTo>
                  <a:pt x="3500" y="0"/>
                </a:lnTo>
                <a:close/>
              </a:path>
            </a:pathLst>
          </a:cu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feedback_right" descr="Editable line; source id feedback_right"/>
          <p:cNvCxnSpPr/>
          <p:nvPr/>
        </p:nvCxnSpPr>
        <p:spPr>
          <a:xfrm>
            <a:off x="10857391" y="4932247"/>
            <a:ext cx="0" cy="1050923"/>
          </a:xfrm>
          <a:prstGeom prst="line">
            <a:avLst/>
          </a:prstGeom>
          <a:ln w="19342">
            <a:solidFill>
              <a:srgbClr val="5B6067"/>
            </a:solidFill>
            <a:custDash>
              <a:ds d="66667" sp="1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feedback_bottom" descr="Editable line; source id feedback_bottom"/>
          <p:cNvCxnSpPr/>
          <p:nvPr/>
        </p:nvCxnSpPr>
        <p:spPr>
          <a:xfrm flipH="1">
            <a:off x="2159873" y="5983170"/>
            <a:ext cx="8697518" cy="0"/>
          </a:xfrm>
          <a:prstGeom prst="line">
            <a:avLst/>
          </a:prstGeom>
          <a:ln w="19342">
            <a:solidFill>
              <a:srgbClr val="5B6067"/>
            </a:solidFill>
            <a:custDash>
              <a:ds d="66667" sp="1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feedback_left" descr="Editable line; source id feedback_left"/>
          <p:cNvCxnSpPr/>
          <p:nvPr/>
        </p:nvCxnSpPr>
        <p:spPr>
          <a:xfrm flipV="1">
            <a:off x="2159873" y="5370669"/>
            <a:ext cx="0" cy="612501"/>
          </a:xfrm>
          <a:prstGeom prst="line">
            <a:avLst/>
          </a:prstGeom>
          <a:ln w="19342">
            <a:solidFill>
              <a:srgbClr val="5B6067"/>
            </a:solidFill>
            <a:custDash>
              <a:ds d="66667" sp="133333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eedback_head" descr="Editable shape; source id feedback_head"/>
          <p:cNvSpPr/>
          <p:nvPr/>
        </p:nvSpPr>
        <p:spPr>
          <a:xfrm>
            <a:off x="2127636" y="5370669"/>
            <a:ext cx="64473" cy="70921"/>
          </a:xfrm>
          <a:prstGeom prst="triangle">
            <a:avLst/>
          </a:prstGeom>
          <a:solidFill>
            <a:srgbClr val="5B6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iteration_label" descr="Editable text; source id iteration_label"/>
          <p:cNvSpPr txBox="1"/>
          <p:nvPr/>
        </p:nvSpPr>
        <p:spPr>
          <a:xfrm>
            <a:off x="5918696" y="6092776"/>
            <a:ext cx="1225002" cy="257895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634"/>
              </a:lnSpc>
              <a:spcBef>
                <a:spcPts val="0"/>
              </a:spcBef>
              <a:spcAft>
                <a:spcPts val="0"/>
              </a:spcAft>
              <a:def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1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 iterations</a:t>
            </a:r>
          </a:p>
        </p:txBody>
      </p:sp>
      <p:sp>
        <p:nvSpPr>
          <p:cNvPr id="92" name="input_vision_token_0" descr="Editable shape; source id input_vision_token_0"/>
          <p:cNvSpPr/>
          <p:nvPr/>
        </p:nvSpPr>
        <p:spPr>
          <a:xfrm>
            <a:off x="3384875" y="154737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input_vision_token_1" descr="Editable shape; source id input_vision_token_1"/>
          <p:cNvSpPr/>
          <p:nvPr/>
        </p:nvSpPr>
        <p:spPr>
          <a:xfrm>
            <a:off x="3384875" y="341711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input_vision_token_2" descr="Editable shape; source id input_vision_token_2"/>
          <p:cNvSpPr/>
          <p:nvPr/>
        </p:nvSpPr>
        <p:spPr>
          <a:xfrm>
            <a:off x="3384875" y="522237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input_vision_token_3" descr="Editable shape; source id input_vision_token_3"/>
          <p:cNvSpPr/>
          <p:nvPr/>
        </p:nvSpPr>
        <p:spPr>
          <a:xfrm>
            <a:off x="3384875" y="709212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input_vision_token_4" descr="Editable shape; source id input_vision_token_4"/>
          <p:cNvSpPr/>
          <p:nvPr/>
        </p:nvSpPr>
        <p:spPr>
          <a:xfrm>
            <a:off x="3384875" y="889738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input_vision_token_5" descr="Editable shape; source id input_vision_token_5"/>
          <p:cNvSpPr/>
          <p:nvPr/>
        </p:nvSpPr>
        <p:spPr>
          <a:xfrm>
            <a:off x="3384875" y="1076712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input_vision_token_6" descr="Editable shape; source id input_vision_token_6"/>
          <p:cNvSpPr/>
          <p:nvPr/>
        </p:nvSpPr>
        <p:spPr>
          <a:xfrm>
            <a:off x="3384875" y="1257239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input_language_token_0" descr="Editable shape; source id input_language_token_0"/>
          <p:cNvSpPr/>
          <p:nvPr/>
        </p:nvSpPr>
        <p:spPr>
          <a:xfrm>
            <a:off x="3384875" y="1592503"/>
            <a:ext cx="148289" cy="154737"/>
          </a:xfrm>
          <a:prstGeom prst="rect">
            <a:avLst/>
          </a:prstGeom>
          <a:solidFill>
            <a:srgbClr val="0070C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input_language_token_1" descr="Editable shape; source id input_language_token_1"/>
          <p:cNvSpPr/>
          <p:nvPr/>
        </p:nvSpPr>
        <p:spPr>
          <a:xfrm>
            <a:off x="3384875" y="1779477"/>
            <a:ext cx="148289" cy="154737"/>
          </a:xfrm>
          <a:prstGeom prst="rect">
            <a:avLst/>
          </a:prstGeom>
          <a:solidFill>
            <a:srgbClr val="0070C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input_language_token_2" descr="Editable shape; source id input_language_token_2"/>
          <p:cNvSpPr/>
          <p:nvPr/>
        </p:nvSpPr>
        <p:spPr>
          <a:xfrm>
            <a:off x="3384875" y="1966451"/>
            <a:ext cx="148289" cy="154737"/>
          </a:xfrm>
          <a:prstGeom prst="rect">
            <a:avLst/>
          </a:prstGeom>
          <a:solidFill>
            <a:srgbClr val="0070C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input_language_token_3" descr="Editable shape; source id input_language_token_3"/>
          <p:cNvSpPr/>
          <p:nvPr/>
        </p:nvSpPr>
        <p:spPr>
          <a:xfrm>
            <a:off x="3384875" y="2153425"/>
            <a:ext cx="148289" cy="154737"/>
          </a:xfrm>
          <a:prstGeom prst="rect">
            <a:avLst/>
          </a:prstGeom>
          <a:solidFill>
            <a:srgbClr val="0070C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utput_vision_token_0" descr="Editable shape; source id output_vision_token_0"/>
          <p:cNvSpPr/>
          <p:nvPr/>
        </p:nvSpPr>
        <p:spPr>
          <a:xfrm>
            <a:off x="4983826" y="154737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utput_vision_token_1" descr="Editable shape; source id output_vision_token_1"/>
          <p:cNvSpPr/>
          <p:nvPr/>
        </p:nvSpPr>
        <p:spPr>
          <a:xfrm>
            <a:off x="4983826" y="341711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utput_vision_token_2" descr="Editable shape; source id output_vision_token_2"/>
          <p:cNvSpPr/>
          <p:nvPr/>
        </p:nvSpPr>
        <p:spPr>
          <a:xfrm>
            <a:off x="4983826" y="522237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utput_vision_token_3" descr="Editable shape; source id output_vision_token_3"/>
          <p:cNvSpPr/>
          <p:nvPr/>
        </p:nvSpPr>
        <p:spPr>
          <a:xfrm>
            <a:off x="4983826" y="709212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utput_vision_token_4" descr="Editable shape; source id output_vision_token_4"/>
          <p:cNvSpPr/>
          <p:nvPr/>
        </p:nvSpPr>
        <p:spPr>
          <a:xfrm>
            <a:off x="4983826" y="889738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utput_vision_token_5" descr="Editable shape; source id output_vision_token_5"/>
          <p:cNvSpPr/>
          <p:nvPr/>
        </p:nvSpPr>
        <p:spPr>
          <a:xfrm>
            <a:off x="4983826" y="1076712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utput_vision_token_6" descr="Editable shape; source id output_vision_token_6"/>
          <p:cNvSpPr/>
          <p:nvPr/>
        </p:nvSpPr>
        <p:spPr>
          <a:xfrm>
            <a:off x="4983826" y="1257239"/>
            <a:ext cx="148289" cy="154737"/>
          </a:xfrm>
          <a:prstGeom prst="rect">
            <a:avLst/>
          </a:prstGeom>
          <a:solidFill>
            <a:srgbClr val="D398E8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utput_language_token_0" descr="Editable shape; source id output_language_token_0"/>
          <p:cNvSpPr/>
          <p:nvPr/>
        </p:nvSpPr>
        <p:spPr>
          <a:xfrm>
            <a:off x="4983826" y="1592503"/>
            <a:ext cx="148289" cy="154737"/>
          </a:xfrm>
          <a:prstGeom prst="rect">
            <a:avLst/>
          </a:prstGeom>
          <a:solidFill>
            <a:srgbClr val="0070C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utput_language_token_1" descr="Editable shape; source id output_language_token_1"/>
          <p:cNvSpPr/>
          <p:nvPr/>
        </p:nvSpPr>
        <p:spPr>
          <a:xfrm>
            <a:off x="4983826" y="1779477"/>
            <a:ext cx="148289" cy="154737"/>
          </a:xfrm>
          <a:prstGeom prst="rect">
            <a:avLst/>
          </a:prstGeom>
          <a:solidFill>
            <a:srgbClr val="0070C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utput_language_token_2" descr="Editable shape; source id output_language_token_2"/>
          <p:cNvSpPr/>
          <p:nvPr/>
        </p:nvSpPr>
        <p:spPr>
          <a:xfrm>
            <a:off x="4983826" y="1966451"/>
            <a:ext cx="148289" cy="154737"/>
          </a:xfrm>
          <a:prstGeom prst="rect">
            <a:avLst/>
          </a:prstGeom>
          <a:solidFill>
            <a:srgbClr val="0070C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utput_language_token_3" descr="Editable shape; source id output_language_token_3"/>
          <p:cNvSpPr/>
          <p:nvPr/>
        </p:nvSpPr>
        <p:spPr>
          <a:xfrm>
            <a:off x="4983826" y="2153425"/>
            <a:ext cx="148289" cy="154737"/>
          </a:xfrm>
          <a:prstGeom prst="rect">
            <a:avLst/>
          </a:prstGeom>
          <a:solidFill>
            <a:srgbClr val="0070C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it_input_state_0" descr="Editable shape; source id dit_input_state_0"/>
          <p:cNvSpPr/>
          <p:nvPr/>
        </p:nvSpPr>
        <p:spPr>
          <a:xfrm>
            <a:off x="4983826" y="2740137"/>
            <a:ext cx="148289" cy="154737"/>
          </a:xfrm>
          <a:prstGeom prst="rect">
            <a:avLst/>
          </a:prstGeom>
          <a:solidFill>
            <a:srgbClr val="E36565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dit_input_state_1" descr="Editable shape; source id dit_input_state_1"/>
          <p:cNvSpPr/>
          <p:nvPr/>
        </p:nvSpPr>
        <p:spPr>
          <a:xfrm>
            <a:off x="4983826" y="2927111"/>
            <a:ext cx="148289" cy="154737"/>
          </a:xfrm>
          <a:prstGeom prst="rect">
            <a:avLst/>
          </a:prstGeom>
          <a:solidFill>
            <a:srgbClr val="E36565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dit_input_action_0" descr="Editable shape; source id dit_input_action_0"/>
          <p:cNvSpPr/>
          <p:nvPr/>
        </p:nvSpPr>
        <p:spPr>
          <a:xfrm>
            <a:off x="4983826" y="3558954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dit_input_action_1" descr="Editable shape; source id dit_input_action_1"/>
          <p:cNvSpPr/>
          <p:nvPr/>
        </p:nvSpPr>
        <p:spPr>
          <a:xfrm>
            <a:off x="4983826" y="3745929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dit_input_action_2" descr="Editable shape; source id dit_input_action_2"/>
          <p:cNvSpPr/>
          <p:nvPr/>
        </p:nvSpPr>
        <p:spPr>
          <a:xfrm>
            <a:off x="4983826" y="3926455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dit_input_action_3" descr="Editable shape; source id dit_input_action_3"/>
          <p:cNvSpPr/>
          <p:nvPr/>
        </p:nvSpPr>
        <p:spPr>
          <a:xfrm>
            <a:off x="4983826" y="4113429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dit_input_action_4" descr="Editable shape; source id dit_input_action_4"/>
          <p:cNvSpPr/>
          <p:nvPr/>
        </p:nvSpPr>
        <p:spPr>
          <a:xfrm>
            <a:off x="4983826" y="4293956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dit_input_action_5" descr="Editable shape; source id dit_input_action_5"/>
          <p:cNvSpPr/>
          <p:nvPr/>
        </p:nvSpPr>
        <p:spPr>
          <a:xfrm>
            <a:off x="4983826" y="4480930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dit_input_action_6" descr="Editable shape; source id dit_input_action_6"/>
          <p:cNvSpPr/>
          <p:nvPr/>
        </p:nvSpPr>
        <p:spPr>
          <a:xfrm>
            <a:off x="4983826" y="4667904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it_input_action_7" descr="Editable shape; source id dit_input_action_7"/>
          <p:cNvSpPr/>
          <p:nvPr/>
        </p:nvSpPr>
        <p:spPr>
          <a:xfrm>
            <a:off x="4983826" y="4848431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dit_input_action_8" descr="Editable shape; source id dit_input_action_8"/>
          <p:cNvSpPr/>
          <p:nvPr/>
        </p:nvSpPr>
        <p:spPr>
          <a:xfrm>
            <a:off x="4983826" y="5028958"/>
            <a:ext cx="148289" cy="154737"/>
          </a:xfrm>
          <a:prstGeom prst="rect">
            <a:avLst/>
          </a:prstGeom>
          <a:solidFill>
            <a:srgbClr val="FFF2D9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dit_output_state_0" descr="Editable shape; source id dit_output_state_0"/>
          <p:cNvSpPr/>
          <p:nvPr/>
        </p:nvSpPr>
        <p:spPr>
          <a:xfrm>
            <a:off x="8852255" y="2740137"/>
            <a:ext cx="148289" cy="154737"/>
          </a:xfrm>
          <a:prstGeom prst="rect">
            <a:avLst/>
          </a:prstGeom>
          <a:solidFill>
            <a:srgbClr val="E36565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dit_output_state_1" descr="Editable shape; source id dit_output_state_1"/>
          <p:cNvSpPr/>
          <p:nvPr/>
        </p:nvSpPr>
        <p:spPr>
          <a:xfrm>
            <a:off x="8852255" y="2927111"/>
            <a:ext cx="148289" cy="154737"/>
          </a:xfrm>
          <a:prstGeom prst="rect">
            <a:avLst/>
          </a:prstGeom>
          <a:solidFill>
            <a:srgbClr val="E36565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it_output_action_0" descr="Editable shape; source id dit_output_action_0"/>
          <p:cNvSpPr/>
          <p:nvPr/>
        </p:nvSpPr>
        <p:spPr>
          <a:xfrm>
            <a:off x="8852255" y="3558954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dit_output_action_1" descr="Editable shape; source id dit_output_action_1"/>
          <p:cNvSpPr/>
          <p:nvPr/>
        </p:nvSpPr>
        <p:spPr>
          <a:xfrm>
            <a:off x="8852255" y="3745929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dit_output_action_2" descr="Editable shape; source id dit_output_action_2"/>
          <p:cNvSpPr/>
          <p:nvPr/>
        </p:nvSpPr>
        <p:spPr>
          <a:xfrm>
            <a:off x="8852255" y="3926455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dit_output_action_3" descr="Editable shape; source id dit_output_action_3"/>
          <p:cNvSpPr/>
          <p:nvPr/>
        </p:nvSpPr>
        <p:spPr>
          <a:xfrm>
            <a:off x="8852255" y="4113429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dit_output_action_4" descr="Editable shape; source id dit_output_action_4"/>
          <p:cNvSpPr/>
          <p:nvPr/>
        </p:nvSpPr>
        <p:spPr>
          <a:xfrm>
            <a:off x="8852255" y="4293956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it_output_action_5" descr="Editable shape; source id dit_output_action_5"/>
          <p:cNvSpPr/>
          <p:nvPr/>
        </p:nvSpPr>
        <p:spPr>
          <a:xfrm>
            <a:off x="8852255" y="4480930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it_output_action_6" descr="Editable shape; source id dit_output_action_6"/>
          <p:cNvSpPr/>
          <p:nvPr/>
        </p:nvSpPr>
        <p:spPr>
          <a:xfrm>
            <a:off x="8852255" y="4667904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it_output_action_7" descr="Editable shape; source id dit_output_action_7"/>
          <p:cNvSpPr/>
          <p:nvPr/>
        </p:nvSpPr>
        <p:spPr>
          <a:xfrm>
            <a:off x="8852255" y="4848431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it_output_action_8" descr="Editable shape; source id dit_output_action_8"/>
          <p:cNvSpPr/>
          <p:nvPr/>
        </p:nvSpPr>
        <p:spPr>
          <a:xfrm>
            <a:off x="8852255" y="5028958"/>
            <a:ext cx="148289" cy="154737"/>
          </a:xfrm>
          <a:prstGeom prst="rect">
            <a:avLst/>
          </a:prstGeom>
          <a:solidFill>
            <a:srgbClr val="FF9900"/>
          </a:solidFill>
          <a:ln w="12894">
            <a:solidFill>
              <a:srgbClr val="5B6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6" name="observation_photo" descr="Exact source raster crop; photo/complex robot rendering, excluding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" y="180526"/>
            <a:ext cx="1702108" cy="1212107"/>
          </a:xfrm>
          <a:prstGeom prst="rect">
            <a:avLst/>
          </a:prstGeom>
          <a:effectLst/>
        </p:spPr>
      </p:pic>
      <p:pic>
        <p:nvPicPr>
          <p:cNvPr id="137" name="humanoid_art" descr="Exact source raster crop; photo/complex robot rendering, excluding label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498" y="2894874"/>
            <a:ext cx="567369" cy="1528029"/>
          </a:xfrm>
          <a:prstGeom prst="rect">
            <a:avLst/>
          </a:prstGeom>
          <a:effectLst/>
        </p:spPr>
      </p:pic>
      <p:sp>
        <p:nvSpPr>
          <p:cNvPr id="138" name="motor_label" descr="Editable text; source id motor_label"/>
          <p:cNvSpPr txBox="1"/>
          <p:nvPr/>
        </p:nvSpPr>
        <p:spPr>
          <a:xfrm>
            <a:off x="11547261" y="4573310"/>
            <a:ext cx="644738" cy="464211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Motor</a:t>
            </a:r>
          </a:p>
          <a:p>
            <a:pPr algn="ctr" fontAlgn="base">
              <a:lnSpc>
                <a:spcPts val="1726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39" name="robot_state_label" descr="Editable text; source id robot_state_label"/>
          <p:cNvSpPr txBox="1"/>
          <p:nvPr/>
        </p:nvSpPr>
        <p:spPr>
          <a:xfrm>
            <a:off x="419079" y="2823953"/>
            <a:ext cx="1128291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State</a:t>
            </a:r>
          </a:p>
        </p:txBody>
      </p:sp>
      <p:sp>
        <p:nvSpPr>
          <p:cNvPr id="140" name="noised_action_label" descr="Editable text; source id noised_action_label"/>
          <p:cNvSpPr txBox="1"/>
          <p:nvPr/>
        </p:nvSpPr>
        <p:spPr>
          <a:xfrm>
            <a:off x="341711" y="4255272"/>
            <a:ext cx="1257239" cy="24500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72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Noised Action</a:t>
            </a:r>
          </a:p>
        </p:txBody>
      </p:sp>
      <p:sp>
        <p:nvSpPr>
          <p:cNvPr id="141" name="legend_frozen_label" descr="Editable text; source id legend_frozen_label"/>
          <p:cNvSpPr txBox="1"/>
          <p:nvPr/>
        </p:nvSpPr>
        <p:spPr>
          <a:xfrm>
            <a:off x="8761992" y="1341055"/>
            <a:ext cx="2998032" cy="251447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sz="1436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6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Pre-trained and Frozen</a:t>
            </a:r>
          </a:p>
        </p:txBody>
      </p:sp>
      <p:cxnSp>
        <p:nvCxnSpPr>
          <p:cNvPr id="142" name="legend_frozen_icon_arm_0" descr="Editable line; source id legend_frozen_icon_arm_0"/>
          <p:cNvCxnSpPr/>
          <p:nvPr/>
        </p:nvCxnSpPr>
        <p:spPr>
          <a:xfrm flipV="1">
            <a:off x="8420281" y="1308818"/>
            <a:ext cx="0" cy="148290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legend_frozen_icon_twig_0_0" descr="Editable line; source id legend_frozen_icon_twig_0_0"/>
          <p:cNvCxnSpPr/>
          <p:nvPr/>
        </p:nvCxnSpPr>
        <p:spPr>
          <a:xfrm flipH="1" flipV="1">
            <a:off x="8384691" y="1332544"/>
            <a:ext cx="35590" cy="40039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legend_frozen_icon_twig_0_1" descr="Editable line; source id legend_frozen_icon_twig_0_1"/>
          <p:cNvCxnSpPr/>
          <p:nvPr/>
        </p:nvCxnSpPr>
        <p:spPr>
          <a:xfrm flipV="1">
            <a:off x="8420281" y="1332544"/>
            <a:ext cx="35589" cy="40039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legend_frozen_icon_arm_1" descr="Editable line; source id legend_frozen_icon_arm_1"/>
          <p:cNvCxnSpPr/>
          <p:nvPr/>
        </p:nvCxnSpPr>
        <p:spPr>
          <a:xfrm flipV="1">
            <a:off x="8420281" y="1382963"/>
            <a:ext cx="128422" cy="74145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legend_frozen_icon_twig_1_0" descr="Editable line; source id legend_frozen_icon_twig_1_0"/>
          <p:cNvCxnSpPr/>
          <p:nvPr/>
        </p:nvCxnSpPr>
        <p:spPr>
          <a:xfrm flipV="1">
            <a:off x="8493482" y="1364005"/>
            <a:ext cx="16879" cy="50840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legend_frozen_icon_twig_1_1" descr="Editable line; source id legend_frozen_icon_twig_1_1"/>
          <p:cNvCxnSpPr/>
          <p:nvPr/>
        </p:nvCxnSpPr>
        <p:spPr>
          <a:xfrm>
            <a:off x="8493482" y="1414845"/>
            <a:ext cx="52468" cy="10803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legend_frozen_icon_arm_2" descr="Editable line; source id legend_frozen_icon_arm_2"/>
          <p:cNvCxnSpPr/>
          <p:nvPr/>
        </p:nvCxnSpPr>
        <p:spPr>
          <a:xfrm>
            <a:off x="8420281" y="1457108"/>
            <a:ext cx="128422" cy="74145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legend_frozen_icon_twig_2_0" descr="Editable line; source id legend_frozen_icon_twig_2_0"/>
          <p:cNvCxnSpPr/>
          <p:nvPr/>
        </p:nvCxnSpPr>
        <p:spPr>
          <a:xfrm flipV="1">
            <a:off x="8493482" y="1488568"/>
            <a:ext cx="52468" cy="10802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legend_frozen_icon_twig_2_1" descr="Editable line; source id legend_frozen_icon_twig_2_1"/>
          <p:cNvCxnSpPr/>
          <p:nvPr/>
        </p:nvCxnSpPr>
        <p:spPr>
          <a:xfrm>
            <a:off x="8493482" y="1499370"/>
            <a:ext cx="16879" cy="50841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legend_frozen_icon_arm_3" descr="Editable line; source id legend_frozen_icon_arm_3"/>
          <p:cNvCxnSpPr/>
          <p:nvPr/>
        </p:nvCxnSpPr>
        <p:spPr>
          <a:xfrm>
            <a:off x="8420281" y="1457108"/>
            <a:ext cx="0" cy="148290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legend_frozen_icon_twig_3_0" descr="Editable line; source id legend_frozen_icon_twig_3_0"/>
          <p:cNvCxnSpPr/>
          <p:nvPr/>
        </p:nvCxnSpPr>
        <p:spPr>
          <a:xfrm>
            <a:off x="8420281" y="1541633"/>
            <a:ext cx="35589" cy="40038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legend_frozen_icon_twig_3_1" descr="Editable line; source id legend_frozen_icon_twig_3_1"/>
          <p:cNvCxnSpPr/>
          <p:nvPr/>
        </p:nvCxnSpPr>
        <p:spPr>
          <a:xfrm flipH="1">
            <a:off x="8384691" y="1541633"/>
            <a:ext cx="35590" cy="40038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legend_frozen_icon_arm_4" descr="Editable line; source id legend_frozen_icon_arm_4"/>
          <p:cNvCxnSpPr/>
          <p:nvPr/>
        </p:nvCxnSpPr>
        <p:spPr>
          <a:xfrm flipH="1">
            <a:off x="8291858" y="1457108"/>
            <a:ext cx="128423" cy="74145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legend_frozen_icon_twig_4_0" descr="Editable line; source id legend_frozen_icon_twig_4_0"/>
          <p:cNvCxnSpPr/>
          <p:nvPr/>
        </p:nvCxnSpPr>
        <p:spPr>
          <a:xfrm flipH="1">
            <a:off x="8330200" y="1499370"/>
            <a:ext cx="16880" cy="50841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legend_frozen_icon_twig_4_1" descr="Editable line; source id legend_frozen_icon_twig_4_1"/>
          <p:cNvCxnSpPr/>
          <p:nvPr/>
        </p:nvCxnSpPr>
        <p:spPr>
          <a:xfrm flipH="1" flipV="1">
            <a:off x="8294611" y="1488568"/>
            <a:ext cx="52469" cy="10802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legend_frozen_icon_arm_5" descr="Editable line; source id legend_frozen_icon_arm_5"/>
          <p:cNvCxnSpPr/>
          <p:nvPr/>
        </p:nvCxnSpPr>
        <p:spPr>
          <a:xfrm flipH="1" flipV="1">
            <a:off x="8291858" y="1382963"/>
            <a:ext cx="128423" cy="74145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legend_frozen_icon_twig_5_0" descr="Editable line; source id legend_frozen_icon_twig_5_0"/>
          <p:cNvCxnSpPr/>
          <p:nvPr/>
        </p:nvCxnSpPr>
        <p:spPr>
          <a:xfrm flipH="1">
            <a:off x="8294611" y="1414845"/>
            <a:ext cx="52469" cy="10803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legend_frozen_icon_twig_5_1" descr="Editable line; source id legend_frozen_icon_twig_5_1"/>
          <p:cNvCxnSpPr/>
          <p:nvPr/>
        </p:nvCxnSpPr>
        <p:spPr>
          <a:xfrm flipH="1" flipV="1">
            <a:off x="8330200" y="1364005"/>
            <a:ext cx="16880" cy="50840"/>
          </a:xfrm>
          <a:prstGeom prst="line">
            <a:avLst/>
          </a:prstGeom>
          <a:ln w="19986" cap="rnd">
            <a:solidFill>
              <a:srgbClr val="429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instruction_text" descr="Editable text; source id instruction_text"/>
          <p:cNvSpPr txBox="1"/>
          <p:nvPr/>
        </p:nvSpPr>
        <p:spPr>
          <a:xfrm>
            <a:off x="109605" y="1660880"/>
            <a:ext cx="1837503" cy="60605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“Pick up the apple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and place it into</a:t>
            </a:r>
          </a:p>
          <a:p>
            <a:pPr algn="l" fontAlgn="base">
              <a:lnSpc>
                <a:spcPts val="1472"/>
              </a:lnSpc>
              <a:spcBef>
                <a:spcPts val="0"/>
              </a:spcBef>
              <a:spcAft>
                <a:spcPts val="0"/>
              </a:spcAft>
              <a:def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defRPr>
            </a:pPr>
            <a:r>
              <a:rPr sz="1218" b="0" i="0" lang="zh-CN" dirty="0">
                <a:solidFill>
                  <a:srgbClr val="000000"/>
                </a:solidFill>
                <a:latin typeface="Andale Mono"/>
                <a:ea typeface="Andale Mono"/>
                <a:cs typeface="Andale Mono"/>
              </a:rPr>
              <a:t>the bottom shelf”</a:t>
            </a:r>
          </a:p>
        </p:txBody>
      </p:sp>
      <p:sp>
        <p:nvSpPr>
          <p:cNvPr id="161" name="state_q_0" descr="Editable text; source id state_q_0"/>
          <p:cNvSpPr txBox="1"/>
          <p:nvPr/>
        </p:nvSpPr>
        <p:spPr>
          <a:xfrm>
            <a:off x="2072833" y="2799775"/>
            <a:ext cx="125723" cy="276592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2101"/>
              </a:lnSpc>
              <a:spcBef>
                <a:spcPts val="0"/>
              </a:spcBef>
              <a:spcAft>
                <a:spcPts val="0"/>
              </a:spcAft>
              <a:def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27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162" name="state_q_1" descr="Editable text; source id state_q_1"/>
          <p:cNvSpPr txBox="1"/>
          <p:nvPr/>
        </p:nvSpPr>
        <p:spPr>
          <a:xfrm>
            <a:off x="2188886" y="2896486"/>
            <a:ext cx="61250" cy="201854"/>
          </a:xfrm>
          <a:prstGeom prst="rect">
            <a:avLst/>
          </a:prstGeom>
          <a:noFill/>
          <a:effectLst/>
        </p:spPr>
        <p:txBody>
          <a:bodyPr wrap="none" anchor="t" tIns="3223" rIns="0" bIns="0" lIns="3223" anchorCtr="0" vertOverflow="overflow">
            <a:noAutofit/>
          </a:bodyPr>
          <a:lstStyle/>
          <a:p>
            <a:pPr algn="l" fontAlgn="base">
              <a:lnSpc>
                <a:spcPts val="1513"/>
              </a:lnSpc>
              <a:spcBef>
                <a:spcPts val="0"/>
              </a:spcBef>
              <a:spcAft>
                <a:spcPts val="0"/>
              </a:spcAft>
              <a:def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