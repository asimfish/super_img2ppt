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5233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editable reconstruction of Figure 2, Li et al., BLIP-2, ICML 2023, PMLR 202:19730–19742. https://proceedings.mlr.press/v202/li23q.html CC BY 4.0 https://creativecommons.org/licenses/by/4.0/ . Changes: native editable text and diagram geometry reconstructed from pixels; cat and snowflake retained raster.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" descr="Editable shape; source id panel"/>
          <p:cNvSpPr/>
          <p:nvPr/>
        </p:nvSpPr>
        <p:spPr>
          <a:xfrm>
            <a:off x="1965377" y="33311"/>
            <a:ext cx="5288196" cy="2448393"/>
          </a:xfrm>
          <a:prstGeom prst="roundRect">
            <a:avLst>
              <a:gd name="adj" fmla="val 2040"/>
            </a:avLst>
          </a:prstGeom>
          <a:solidFill>
            <a:srgbClr val="FFF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ft_block" descr="Editable shape; source id left_block"/>
          <p:cNvSpPr/>
          <p:nvPr/>
        </p:nvSpPr>
        <p:spPr>
          <a:xfrm>
            <a:off x="2769016" y="753672"/>
            <a:ext cx="1324131" cy="1232524"/>
          </a:xfrm>
          <a:prstGeom prst="roundRect">
            <a:avLst>
              <a:gd name="adj" fmla="val 4054"/>
            </a:avLst>
          </a:prstGeom>
          <a:noFill/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_block" descr="Editable shape; source id right_block"/>
          <p:cNvSpPr/>
          <p:nvPr/>
        </p:nvSpPr>
        <p:spPr>
          <a:xfrm>
            <a:off x="5550524" y="753672"/>
            <a:ext cx="1324131" cy="1232524"/>
          </a:xfrm>
          <a:prstGeom prst="roundRect">
            <a:avLst>
              <a:gd name="adj" fmla="val 4054"/>
            </a:avLst>
          </a:prstGeom>
          <a:noFill/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eries" descr="Editable shape; source id queries"/>
          <p:cNvSpPr/>
          <p:nvPr/>
        </p:nvSpPr>
        <p:spPr>
          <a:xfrm>
            <a:off x="2960557" y="2177737"/>
            <a:ext cx="961868" cy="216524"/>
          </a:xfrm>
          <a:prstGeom prst="roundRect">
            <a:avLst>
              <a:gd name="adj" fmla="val 23076"/>
            </a:avLst>
          </a:prstGeom>
          <a:solidFill>
            <a:srgbClr val="FFF7D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coder" descr="Editable shape; source id encoder"/>
          <p:cNvSpPr/>
          <p:nvPr/>
        </p:nvSpPr>
        <p:spPr>
          <a:xfrm>
            <a:off x="1282492" y="824459"/>
            <a:ext cx="666229" cy="1082623"/>
          </a:xfrm>
          <a:custGeom>
            <a:avLst/>
            <a:gdLst/>
            <a:ahLst/>
            <a:cxnLst/>
            <a:rect l="l" t="t" r="r" b="b"/>
            <a:pathLst>
              <a:path w="80000" h="130000">
                <a:moveTo>
                  <a:pt x="0" y="0"/>
                </a:moveTo>
                <a:lnTo>
                  <a:pt x="80000" y="26000"/>
                </a:lnTo>
                <a:lnTo>
                  <a:pt x="80000" y="104000"/>
                </a:lnTo>
                <a:lnTo>
                  <a:pt x="0" y="130000"/>
                </a:lnTo>
                <a:close/>
              </a:path>
            </a:pathLst>
          </a:custGeom>
          <a:solidFill>
            <a:srgbClr val="1682C1"/>
          </a:solidFill>
          <a:ln w="8327">
            <a:solidFill>
              <a:srgbClr val="11111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f1" descr="Editable shape; source id ff1"/>
          <p:cNvSpPr/>
          <p:nvPr/>
        </p:nvSpPr>
        <p:spPr>
          <a:xfrm>
            <a:off x="2843967" y="816131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B47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" descr="Editable shape; source id ca"/>
          <p:cNvSpPr/>
          <p:nvPr/>
        </p:nvSpPr>
        <p:spPr>
          <a:xfrm>
            <a:off x="2843967" y="1224196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8FA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a1" descr="Editable shape; source id sa1"/>
          <p:cNvSpPr/>
          <p:nvPr/>
        </p:nvSpPr>
        <p:spPr>
          <a:xfrm>
            <a:off x="2843967" y="1623934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EE8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f2" descr="Editable shape; source id ff2"/>
          <p:cNvSpPr/>
          <p:nvPr/>
        </p:nvSpPr>
        <p:spPr>
          <a:xfrm>
            <a:off x="5621311" y="816131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70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a2" descr="Editable shape; source id sa2"/>
          <p:cNvSpPr/>
          <p:nvPr/>
        </p:nvSpPr>
        <p:spPr>
          <a:xfrm>
            <a:off x="5621311" y="1623934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EE8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m" descr="Editable shape; source id itm"/>
          <p:cNvSpPr/>
          <p:nvPr/>
        </p:nvSpPr>
        <p:spPr>
          <a:xfrm>
            <a:off x="2948065" y="187377"/>
            <a:ext cx="1007672" cy="391409"/>
          </a:xfrm>
          <a:prstGeom prst="roundRect">
            <a:avLst>
              <a:gd name="adj" fmla="val 12765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tc" descr="Editable shape; source id itc"/>
          <p:cNvSpPr/>
          <p:nvPr/>
        </p:nvSpPr>
        <p:spPr>
          <a:xfrm>
            <a:off x="4359639" y="387245"/>
            <a:ext cx="924393" cy="570459"/>
          </a:xfrm>
          <a:prstGeom prst="roundRect">
            <a:avLst>
              <a:gd name="adj" fmla="val 8759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tg" descr="Editable shape; source id itg"/>
          <p:cNvSpPr/>
          <p:nvPr/>
        </p:nvSpPr>
        <p:spPr>
          <a:xfrm>
            <a:off x="5592163" y="187377"/>
            <a:ext cx="1257508" cy="399737"/>
          </a:xfrm>
          <a:prstGeom prst="roundRect">
            <a:avLst>
              <a:gd name="adj" fmla="val 12500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uery0" descr="Editable shape; source id query0"/>
          <p:cNvSpPr/>
          <p:nvPr/>
        </p:nvSpPr>
        <p:spPr>
          <a:xfrm>
            <a:off x="3047999" y="2231868"/>
            <a:ext cx="108262" cy="108262"/>
          </a:xfrm>
          <a:prstGeom prst="rect">
            <a:avLst/>
          </a:prstGeom>
          <a:solidFill>
            <a:srgbClr val="FAB5A1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uery1" descr="Editable shape; source id query1"/>
          <p:cNvSpPr/>
          <p:nvPr/>
        </p:nvSpPr>
        <p:spPr>
          <a:xfrm>
            <a:off x="3247868" y="2231868"/>
            <a:ext cx="108262" cy="108262"/>
          </a:xfrm>
          <a:prstGeom prst="rect">
            <a:avLst/>
          </a:prstGeom>
          <a:solidFill>
            <a:srgbClr val="FFDE7A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query2" descr="Editable shape; source id query2"/>
          <p:cNvSpPr/>
          <p:nvPr/>
        </p:nvSpPr>
        <p:spPr>
          <a:xfrm>
            <a:off x="3531016" y="2231868"/>
            <a:ext cx="108262" cy="108262"/>
          </a:xfrm>
          <a:prstGeom prst="rect">
            <a:avLst/>
          </a:prstGeom>
          <a:solidFill>
            <a:srgbClr val="A8CDA0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uery3" descr="Editable shape; source id query3"/>
          <p:cNvSpPr/>
          <p:nvPr/>
        </p:nvSpPr>
        <p:spPr>
          <a:xfrm>
            <a:off x="3730885" y="2231868"/>
            <a:ext cx="108262" cy="108262"/>
          </a:xfrm>
          <a:prstGeom prst="rect">
            <a:avLst/>
          </a:prstGeom>
          <a:solidFill>
            <a:srgbClr val="B3C9E5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mpt" descr="Editable shape; source id prompt"/>
          <p:cNvSpPr/>
          <p:nvPr/>
        </p:nvSpPr>
        <p:spPr>
          <a:xfrm>
            <a:off x="5329835" y="2161081"/>
            <a:ext cx="1777999" cy="258163"/>
          </a:xfrm>
          <a:prstGeom prst="roundRect">
            <a:avLst>
              <a:gd name="adj" fmla="val 19354"/>
            </a:avLst>
          </a:prstGeom>
          <a:solidFill>
            <a:srgbClr val="FFF7D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sked" descr="Editable shape; source id masked"/>
          <p:cNvSpPr/>
          <p:nvPr/>
        </p:nvSpPr>
        <p:spPr>
          <a:xfrm>
            <a:off x="7632491" y="270655"/>
            <a:ext cx="108262" cy="108262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nmasked" descr="Editable shape; source id unmasked"/>
          <p:cNvSpPr/>
          <p:nvPr/>
        </p:nvSpPr>
        <p:spPr>
          <a:xfrm>
            <a:off x="8411147" y="270655"/>
            <a:ext cx="108262" cy="108262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0_0_0" descr="Editable shape; source id grid0_0_0"/>
          <p:cNvSpPr/>
          <p:nvPr/>
        </p:nvSpPr>
        <p:spPr>
          <a:xfrm>
            <a:off x="7840688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0_0_1" descr="Editable shape; source id grid0_0_1"/>
          <p:cNvSpPr/>
          <p:nvPr/>
        </p:nvSpPr>
        <p:spPr>
          <a:xfrm>
            <a:off x="8061376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0_0_2" descr="Editable shape; source id grid0_0_2"/>
          <p:cNvSpPr/>
          <p:nvPr/>
        </p:nvSpPr>
        <p:spPr>
          <a:xfrm>
            <a:off x="8332032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0_0_3" descr="Editable shape; source id grid0_0_3"/>
          <p:cNvSpPr/>
          <p:nvPr/>
        </p:nvSpPr>
        <p:spPr>
          <a:xfrm>
            <a:off x="8552721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0_1_0" descr="Editable shape; source id grid0_1_0"/>
          <p:cNvSpPr/>
          <p:nvPr/>
        </p:nvSpPr>
        <p:spPr>
          <a:xfrm>
            <a:off x="7840688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0_1_1" descr="Editable shape; source id grid0_1_1"/>
          <p:cNvSpPr/>
          <p:nvPr/>
        </p:nvSpPr>
        <p:spPr>
          <a:xfrm>
            <a:off x="8061376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0_1_2" descr="Editable shape; source id grid0_1_2"/>
          <p:cNvSpPr/>
          <p:nvPr/>
        </p:nvSpPr>
        <p:spPr>
          <a:xfrm>
            <a:off x="8332032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0_1_3" descr="Editable shape; source id grid0_1_3"/>
          <p:cNvSpPr/>
          <p:nvPr/>
        </p:nvSpPr>
        <p:spPr>
          <a:xfrm>
            <a:off x="8552721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0_2_0" descr="Editable shape; source id grid0_2_0"/>
          <p:cNvSpPr/>
          <p:nvPr/>
        </p:nvSpPr>
        <p:spPr>
          <a:xfrm>
            <a:off x="7840688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0_2_1" descr="Editable shape; source id grid0_2_1"/>
          <p:cNvSpPr/>
          <p:nvPr/>
        </p:nvSpPr>
        <p:spPr>
          <a:xfrm>
            <a:off x="8061376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0_2_2" descr="Editable shape; source id grid0_2_2"/>
          <p:cNvSpPr/>
          <p:nvPr/>
        </p:nvSpPr>
        <p:spPr>
          <a:xfrm>
            <a:off x="8332032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0_2_3" descr="Editable shape; source id grid0_2_3"/>
          <p:cNvSpPr/>
          <p:nvPr/>
        </p:nvSpPr>
        <p:spPr>
          <a:xfrm>
            <a:off x="8552721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0_3_0" descr="Editable shape; source id grid0_3_0"/>
          <p:cNvSpPr/>
          <p:nvPr/>
        </p:nvSpPr>
        <p:spPr>
          <a:xfrm>
            <a:off x="7840688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0_3_1" descr="Editable shape; source id grid0_3_1"/>
          <p:cNvSpPr/>
          <p:nvPr/>
        </p:nvSpPr>
        <p:spPr>
          <a:xfrm>
            <a:off x="8061376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0_3_2" descr="Editable shape; source id grid0_3_2"/>
          <p:cNvSpPr/>
          <p:nvPr/>
        </p:nvSpPr>
        <p:spPr>
          <a:xfrm>
            <a:off x="8332032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0_3_3" descr="Editable shape; source id grid0_3_3"/>
          <p:cNvSpPr/>
          <p:nvPr/>
        </p:nvSpPr>
        <p:spPr>
          <a:xfrm>
            <a:off x="8552721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1_0_0" descr="Editable shape; source id grid1_0_0"/>
          <p:cNvSpPr/>
          <p:nvPr/>
        </p:nvSpPr>
        <p:spPr>
          <a:xfrm>
            <a:off x="9377180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1_0_1" descr="Editable shape; source id grid1_0_1"/>
          <p:cNvSpPr/>
          <p:nvPr/>
        </p:nvSpPr>
        <p:spPr>
          <a:xfrm>
            <a:off x="9597868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1_0_2" descr="Editable shape; source id grid1_0_2"/>
          <p:cNvSpPr/>
          <p:nvPr/>
        </p:nvSpPr>
        <p:spPr>
          <a:xfrm>
            <a:off x="9868524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1_0_3" descr="Editable shape; source id grid1_0_3"/>
          <p:cNvSpPr/>
          <p:nvPr/>
        </p:nvSpPr>
        <p:spPr>
          <a:xfrm>
            <a:off x="10089212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1_1_0" descr="Editable shape; source id grid1_1_0"/>
          <p:cNvSpPr/>
          <p:nvPr/>
        </p:nvSpPr>
        <p:spPr>
          <a:xfrm>
            <a:off x="9377180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1_1_1" descr="Editable shape; source id grid1_1_1"/>
          <p:cNvSpPr/>
          <p:nvPr/>
        </p:nvSpPr>
        <p:spPr>
          <a:xfrm>
            <a:off x="9597868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1_1_2" descr="Editable shape; source id grid1_1_2"/>
          <p:cNvSpPr/>
          <p:nvPr/>
        </p:nvSpPr>
        <p:spPr>
          <a:xfrm>
            <a:off x="9868524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1_1_3" descr="Editable shape; source id grid1_1_3"/>
          <p:cNvSpPr/>
          <p:nvPr/>
        </p:nvSpPr>
        <p:spPr>
          <a:xfrm>
            <a:off x="10089212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1_2_0" descr="Editable shape; source id grid1_2_0"/>
          <p:cNvSpPr/>
          <p:nvPr/>
        </p:nvSpPr>
        <p:spPr>
          <a:xfrm>
            <a:off x="9377180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1_2_1" descr="Editable shape; source id grid1_2_1"/>
          <p:cNvSpPr/>
          <p:nvPr/>
        </p:nvSpPr>
        <p:spPr>
          <a:xfrm>
            <a:off x="9597868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1_2_2" descr="Editable shape; source id grid1_2_2"/>
          <p:cNvSpPr/>
          <p:nvPr/>
        </p:nvSpPr>
        <p:spPr>
          <a:xfrm>
            <a:off x="9868524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1_2_3" descr="Editable shape; source id grid1_2_3"/>
          <p:cNvSpPr/>
          <p:nvPr/>
        </p:nvSpPr>
        <p:spPr>
          <a:xfrm>
            <a:off x="10089212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1_3_0" descr="Editable shape; source id grid1_3_0"/>
          <p:cNvSpPr/>
          <p:nvPr/>
        </p:nvSpPr>
        <p:spPr>
          <a:xfrm>
            <a:off x="9377180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1_3_1" descr="Editable shape; source id grid1_3_1"/>
          <p:cNvSpPr/>
          <p:nvPr/>
        </p:nvSpPr>
        <p:spPr>
          <a:xfrm>
            <a:off x="9597868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1_3_2" descr="Editable shape; source id grid1_3_2"/>
          <p:cNvSpPr/>
          <p:nvPr/>
        </p:nvSpPr>
        <p:spPr>
          <a:xfrm>
            <a:off x="9868524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1_3_3" descr="Editable shape; source id grid1_3_3"/>
          <p:cNvSpPr/>
          <p:nvPr/>
        </p:nvSpPr>
        <p:spPr>
          <a:xfrm>
            <a:off x="10089212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2_0_0" descr="Editable shape; source id grid2_0_0"/>
          <p:cNvSpPr/>
          <p:nvPr/>
        </p:nvSpPr>
        <p:spPr>
          <a:xfrm>
            <a:off x="10938655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2_0_1" descr="Editable shape; source id grid2_0_1"/>
          <p:cNvSpPr/>
          <p:nvPr/>
        </p:nvSpPr>
        <p:spPr>
          <a:xfrm>
            <a:off x="11159343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2_0_2" descr="Editable shape; source id grid2_0_2"/>
          <p:cNvSpPr/>
          <p:nvPr/>
        </p:nvSpPr>
        <p:spPr>
          <a:xfrm>
            <a:off x="11429999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2_0_3" descr="Editable shape; source id grid2_0_3"/>
          <p:cNvSpPr/>
          <p:nvPr/>
        </p:nvSpPr>
        <p:spPr>
          <a:xfrm>
            <a:off x="11650688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2_1_0" descr="Editable shape; source id grid2_1_0"/>
          <p:cNvSpPr/>
          <p:nvPr/>
        </p:nvSpPr>
        <p:spPr>
          <a:xfrm>
            <a:off x="10938655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2_1_1" descr="Editable shape; source id grid2_1_1"/>
          <p:cNvSpPr/>
          <p:nvPr/>
        </p:nvSpPr>
        <p:spPr>
          <a:xfrm>
            <a:off x="11159343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2_1_2" descr="Editable shape; source id grid2_1_2"/>
          <p:cNvSpPr/>
          <p:nvPr/>
        </p:nvSpPr>
        <p:spPr>
          <a:xfrm>
            <a:off x="11429999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2_1_3" descr="Editable shape; source id grid2_1_3"/>
          <p:cNvSpPr/>
          <p:nvPr/>
        </p:nvSpPr>
        <p:spPr>
          <a:xfrm>
            <a:off x="11650688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2_2_0" descr="Editable shape; source id grid2_2_0"/>
          <p:cNvSpPr/>
          <p:nvPr/>
        </p:nvSpPr>
        <p:spPr>
          <a:xfrm>
            <a:off x="10938655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2_2_1" descr="Editable shape; source id grid2_2_1"/>
          <p:cNvSpPr/>
          <p:nvPr/>
        </p:nvSpPr>
        <p:spPr>
          <a:xfrm>
            <a:off x="11159343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2_2_2" descr="Editable shape; source id grid2_2_2"/>
          <p:cNvSpPr/>
          <p:nvPr/>
        </p:nvSpPr>
        <p:spPr>
          <a:xfrm>
            <a:off x="11429999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2_2_3" descr="Editable shape; source id grid2_2_3"/>
          <p:cNvSpPr/>
          <p:nvPr/>
        </p:nvSpPr>
        <p:spPr>
          <a:xfrm>
            <a:off x="11650688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2_3_0" descr="Editable shape; source id grid2_3_0"/>
          <p:cNvSpPr/>
          <p:nvPr/>
        </p:nvSpPr>
        <p:spPr>
          <a:xfrm>
            <a:off x="10938655" y="1457377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2_3_1" descr="Editable shape; source id grid2_3_1"/>
          <p:cNvSpPr/>
          <p:nvPr/>
        </p:nvSpPr>
        <p:spPr>
          <a:xfrm>
            <a:off x="11159343" y="1457377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2_3_2" descr="Editable shape; source id grid2_3_2"/>
          <p:cNvSpPr/>
          <p:nvPr/>
        </p:nvSpPr>
        <p:spPr>
          <a:xfrm>
            <a:off x="11429999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2_3_3" descr="Editable shape; source id grid2_3_3"/>
          <p:cNvSpPr/>
          <p:nvPr/>
        </p:nvSpPr>
        <p:spPr>
          <a:xfrm>
            <a:off x="11650688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bjective0" descr="Editable shape; source id objective0"/>
          <p:cNvSpPr/>
          <p:nvPr/>
        </p:nvSpPr>
        <p:spPr>
          <a:xfrm>
            <a:off x="7786557" y="2102786"/>
            <a:ext cx="1007672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bjective1" descr="Editable shape; source id objective1"/>
          <p:cNvSpPr/>
          <p:nvPr/>
        </p:nvSpPr>
        <p:spPr>
          <a:xfrm>
            <a:off x="9094032" y="2102786"/>
            <a:ext cx="1349114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bjective2" descr="Editable shape; source id objective2"/>
          <p:cNvSpPr/>
          <p:nvPr/>
        </p:nvSpPr>
        <p:spPr>
          <a:xfrm>
            <a:off x="10688819" y="2102786"/>
            <a:ext cx="1461540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mage_to_encoder" descr="Editable line; source id image_to_encoder"/>
          <p:cNvSpPr/>
          <p:nvPr/>
        </p:nvSpPr>
        <p:spPr>
          <a:xfrm>
            <a:off x="1040984" y="1344951"/>
            <a:ext cx="233180" cy="49967"/>
          </a:xfrm>
          <a:custGeom>
            <a:avLst/>
            <a:gdLst/>
            <a:ahLst/>
            <a:cxnLst/>
            <a:rect l="l" t="t" r="r" b="b"/>
            <a:pathLst>
              <a:path w="28000" h="6000">
                <a:moveTo>
                  <a:pt x="0" y="2500"/>
                </a:moveTo>
                <a:lnTo>
                  <a:pt x="20000" y="2500"/>
                </a:lnTo>
                <a:lnTo>
                  <a:pt x="20000" y="0"/>
                </a:lnTo>
                <a:lnTo>
                  <a:pt x="28000" y="3000"/>
                </a:lnTo>
                <a:lnTo>
                  <a:pt x="20000" y="6000"/>
                </a:lnTo>
                <a:lnTo>
                  <a:pt x="20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ncoder_to_q" descr="Editable line; source id encoder_to_q"/>
          <p:cNvSpPr/>
          <p:nvPr/>
        </p:nvSpPr>
        <p:spPr>
          <a:xfrm>
            <a:off x="1948721" y="1344951"/>
            <a:ext cx="816131" cy="49967"/>
          </a:xfrm>
          <a:custGeom>
            <a:avLst/>
            <a:gdLst/>
            <a:ahLst/>
            <a:cxnLst/>
            <a:rect l="l" t="t" r="r" b="b"/>
            <a:pathLst>
              <a:path w="98000" h="6000">
                <a:moveTo>
                  <a:pt x="0" y="2500"/>
                </a:moveTo>
                <a:lnTo>
                  <a:pt x="90000" y="2500"/>
                </a:lnTo>
                <a:lnTo>
                  <a:pt x="90000" y="0"/>
                </a:lnTo>
                <a:lnTo>
                  <a:pt x="98000" y="3000"/>
                </a:lnTo>
                <a:lnTo>
                  <a:pt x="90000" y="6000"/>
                </a:lnTo>
                <a:lnTo>
                  <a:pt x="90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1" descr="Editable line; source id l1"/>
          <p:cNvSpPr/>
          <p:nvPr/>
        </p:nvSpPr>
        <p:spPr>
          <a:xfrm>
            <a:off x="3418590" y="1082623"/>
            <a:ext cx="49967" cy="141574"/>
          </a:xfrm>
          <a:custGeom>
            <a:avLst/>
            <a:gdLst/>
            <a:ahLst/>
            <a:cxnLst/>
            <a:rect l="l" t="t" r="r" b="b"/>
            <a:pathLst>
              <a:path w="6000" h="17000">
                <a:moveTo>
                  <a:pt x="2500" y="17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7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2" descr="Editable line; source id l2"/>
          <p:cNvSpPr/>
          <p:nvPr/>
        </p:nvSpPr>
        <p:spPr>
          <a:xfrm>
            <a:off x="3418590" y="1490688"/>
            <a:ext cx="49967" cy="133246"/>
          </a:xfrm>
          <a:custGeom>
            <a:avLst/>
            <a:gdLst/>
            <a:ahLst/>
            <a:cxnLst/>
            <a:rect l="l" t="t" r="r" b="b"/>
            <a:pathLst>
              <a:path w="6000" h="16000">
                <a:moveTo>
                  <a:pt x="2500" y="16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6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3" descr="Editable line; source id l3"/>
          <p:cNvSpPr/>
          <p:nvPr/>
        </p:nvSpPr>
        <p:spPr>
          <a:xfrm>
            <a:off x="3418590" y="1890426"/>
            <a:ext cx="49967" cy="283148"/>
          </a:xfrm>
          <a:custGeom>
            <a:avLst/>
            <a:gdLst/>
            <a:ahLst/>
            <a:cxnLst/>
            <a:rect l="l" t="t" r="r" b="b"/>
            <a:pathLst>
              <a:path w="6000" h="34000">
                <a:moveTo>
                  <a:pt x="2500" y="34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34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1" descr="Editable line; source id r1"/>
          <p:cNvSpPr/>
          <p:nvPr/>
        </p:nvSpPr>
        <p:spPr>
          <a:xfrm>
            <a:off x="6195934" y="1082623"/>
            <a:ext cx="49967" cy="541311"/>
          </a:xfrm>
          <a:custGeom>
            <a:avLst/>
            <a:gdLst/>
            <a:ahLst/>
            <a:cxnLst/>
            <a:rect l="l" t="t" r="r" b="b"/>
            <a:pathLst>
              <a:path w="6000" h="65000">
                <a:moveTo>
                  <a:pt x="2500" y="65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65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2" descr="Editable line; source id r2"/>
          <p:cNvSpPr/>
          <p:nvPr/>
        </p:nvSpPr>
        <p:spPr>
          <a:xfrm>
            <a:off x="6195934" y="1890426"/>
            <a:ext cx="49967" cy="266492"/>
          </a:xfrm>
          <a:custGeom>
            <a:avLst/>
            <a:gdLst/>
            <a:ahLst/>
            <a:cxnLst/>
            <a:rect l="l" t="t" r="r" b="b"/>
            <a:pathLst>
              <a:path w="6000" h="32000">
                <a:moveTo>
                  <a:pt x="2500" y="32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32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4" descr="Editable line; source id l4"/>
          <p:cNvSpPr/>
          <p:nvPr/>
        </p:nvSpPr>
        <p:spPr>
          <a:xfrm>
            <a:off x="3422754" y="591279"/>
            <a:ext cx="49967" cy="158230"/>
          </a:xfrm>
          <a:custGeom>
            <a:avLst/>
            <a:gdLst/>
            <a:ahLst/>
            <a:cxnLst/>
            <a:rect l="l" t="t" r="r" b="b"/>
            <a:pathLst>
              <a:path w="6000" h="19000">
                <a:moveTo>
                  <a:pt x="2500" y="19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9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3" descr="Editable line; source id r3"/>
          <p:cNvSpPr/>
          <p:nvPr/>
        </p:nvSpPr>
        <p:spPr>
          <a:xfrm>
            <a:off x="6195934" y="599607"/>
            <a:ext cx="49967" cy="149902"/>
          </a:xfrm>
          <a:custGeom>
            <a:avLst/>
            <a:gdLst/>
            <a:ahLst/>
            <a:cxnLst/>
            <a:rect l="l" t="t" r="r" b="b"/>
            <a:pathLst>
              <a:path w="6000" h="18000">
                <a:moveTo>
                  <a:pt x="2500" y="18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8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ontrast_l" descr="Editable line; source id contrast_l"/>
          <p:cNvSpPr/>
          <p:nvPr/>
        </p:nvSpPr>
        <p:spPr>
          <a:xfrm>
            <a:off x="3447738" y="682885"/>
            <a:ext cx="907738" cy="49967"/>
          </a:xfrm>
          <a:custGeom>
            <a:avLst/>
            <a:gdLst/>
            <a:ahLst/>
            <a:cxnLst/>
            <a:rect l="l" t="t" r="r" b="b"/>
            <a:pathLst>
              <a:path w="109000" h="6000">
                <a:moveTo>
                  <a:pt x="0" y="2500"/>
                </a:moveTo>
                <a:lnTo>
                  <a:pt x="101000" y="2500"/>
                </a:lnTo>
                <a:lnTo>
                  <a:pt x="101000" y="0"/>
                </a:lnTo>
                <a:lnTo>
                  <a:pt x="109000" y="3000"/>
                </a:lnTo>
                <a:lnTo>
                  <a:pt x="101000" y="6000"/>
                </a:lnTo>
                <a:lnTo>
                  <a:pt x="101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ontrast_r" descr="Editable line; source id contrast_r"/>
          <p:cNvSpPr/>
          <p:nvPr/>
        </p:nvSpPr>
        <p:spPr>
          <a:xfrm>
            <a:off x="5288197" y="682885"/>
            <a:ext cx="932721" cy="49967"/>
          </a:xfrm>
          <a:custGeom>
            <a:avLst/>
            <a:gdLst/>
            <a:ahLst/>
            <a:cxnLst/>
            <a:rect l="l" t="t" r="r" b="b"/>
            <a:pathLst>
              <a:path w="112000" h="6000">
                <a:moveTo>
                  <a:pt x="112000" y="3500"/>
                </a:moveTo>
                <a:lnTo>
                  <a:pt x="8000" y="3500"/>
                </a:lnTo>
                <a:lnTo>
                  <a:pt x="8000" y="6000"/>
                </a:lnTo>
                <a:lnTo>
                  <a:pt x="0" y="3000"/>
                </a:lnTo>
                <a:lnTo>
                  <a:pt x="8000" y="0"/>
                </a:lnTo>
                <a:lnTo>
                  <a:pt x="8000" y="2500"/>
                </a:lnTo>
                <a:lnTo>
                  <a:pt x="112000" y="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idir_l" descr="Editable line; source id bidir_l"/>
          <p:cNvSpPr/>
          <p:nvPr/>
        </p:nvSpPr>
        <p:spPr>
          <a:xfrm>
            <a:off x="4047344" y="1615607"/>
            <a:ext cx="241508" cy="49967"/>
          </a:xfrm>
          <a:custGeom>
            <a:avLst/>
            <a:gdLst/>
            <a:ahLst/>
            <a:cxnLst/>
            <a:rect l="l" t="t" r="r" b="b"/>
            <a:pathLst>
              <a:path w="29000" h="6000">
                <a:moveTo>
                  <a:pt x="29000" y="3500"/>
                </a:moveTo>
                <a:lnTo>
                  <a:pt x="8000" y="3500"/>
                </a:lnTo>
                <a:lnTo>
                  <a:pt x="8000" y="6000"/>
                </a:lnTo>
                <a:lnTo>
                  <a:pt x="0" y="3000"/>
                </a:lnTo>
                <a:lnTo>
                  <a:pt x="8000" y="0"/>
                </a:lnTo>
                <a:lnTo>
                  <a:pt x="8000" y="2500"/>
                </a:lnTo>
                <a:lnTo>
                  <a:pt x="29000" y="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idir_r" descr="Editable line; source id bidir_r"/>
          <p:cNvSpPr/>
          <p:nvPr/>
        </p:nvSpPr>
        <p:spPr>
          <a:xfrm>
            <a:off x="5346492" y="1615607"/>
            <a:ext cx="274820" cy="49967"/>
          </a:xfrm>
          <a:custGeom>
            <a:avLst/>
            <a:gdLst/>
            <a:ahLst/>
            <a:cxnLst/>
            <a:rect l="l" t="t" r="r" b="b"/>
            <a:pathLst>
              <a:path w="33000" h="6000">
                <a:moveTo>
                  <a:pt x="0" y="2500"/>
                </a:moveTo>
                <a:lnTo>
                  <a:pt x="25000" y="2500"/>
                </a:lnTo>
                <a:lnTo>
                  <a:pt x="25000" y="0"/>
                </a:lnTo>
                <a:lnTo>
                  <a:pt x="33000" y="3000"/>
                </a:lnTo>
                <a:lnTo>
                  <a:pt x="25000" y="6000"/>
                </a:lnTo>
                <a:lnTo>
                  <a:pt x="25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ausal_l" descr="Editable line; source id causal_l"/>
          <p:cNvCxnSpPr/>
          <p:nvPr/>
        </p:nvCxnSpPr>
        <p:spPr>
          <a:xfrm>
            <a:off x="4047344" y="1757180"/>
            <a:ext cx="183213" cy="0"/>
          </a:xfrm>
          <a:prstGeom prst="line">
            <a:avLst/>
          </a:prstGeom>
          <a:ln w="832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usal_r" descr="Editable line; source id causal_r"/>
          <p:cNvSpPr/>
          <p:nvPr/>
        </p:nvSpPr>
        <p:spPr>
          <a:xfrm>
            <a:off x="5413115" y="1732197"/>
            <a:ext cx="208197" cy="49967"/>
          </a:xfrm>
          <a:custGeom>
            <a:avLst/>
            <a:gdLst/>
            <a:ahLst/>
            <a:cxnLst/>
            <a:rect l="l" t="t" r="r" b="b"/>
            <a:pathLst>
              <a:path w="25000" h="6000">
                <a:moveTo>
                  <a:pt x="0" y="2500"/>
                </a:moveTo>
                <a:lnTo>
                  <a:pt x="17000" y="2500"/>
                </a:lnTo>
                <a:lnTo>
                  <a:pt x="17000" y="0"/>
                </a:lnTo>
                <a:lnTo>
                  <a:pt x="25000" y="3000"/>
                </a:lnTo>
                <a:lnTo>
                  <a:pt x="17000" y="6000"/>
                </a:lnTo>
                <a:lnTo>
                  <a:pt x="17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uni_l" descr="Editable line; source id uni_l"/>
          <p:cNvCxnSpPr/>
          <p:nvPr/>
        </p:nvCxnSpPr>
        <p:spPr>
          <a:xfrm>
            <a:off x="4088983" y="1873770"/>
            <a:ext cx="358098" cy="0"/>
          </a:xfrm>
          <a:prstGeom prst="line">
            <a:avLst/>
          </a:prstGeom>
          <a:ln w="8327">
            <a:solidFill>
              <a:srgbClr val="111111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uni_r" descr="Editable line; source id uni_r"/>
          <p:cNvCxnSpPr/>
          <p:nvPr/>
        </p:nvCxnSpPr>
        <p:spPr>
          <a:xfrm>
            <a:off x="5171606" y="1873770"/>
            <a:ext cx="374754" cy="0"/>
          </a:xfrm>
          <a:prstGeom prst="line">
            <a:avLst/>
          </a:prstGeom>
          <a:ln w="8327">
            <a:solidFill>
              <a:srgbClr val="111111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eparator" descr="Editable line; source id separator"/>
          <p:cNvCxnSpPr/>
          <p:nvPr/>
        </p:nvCxnSpPr>
        <p:spPr>
          <a:xfrm>
            <a:off x="7365999" y="33311"/>
            <a:ext cx="0" cy="2448393"/>
          </a:xfrm>
          <a:prstGeom prst="line">
            <a:avLst/>
          </a:prstGeom>
          <a:ln w="832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cat" descr="Exact source raster crop; BLIP-2 Figure 2 PMLR 2023, CC BY 4.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1" y="866098"/>
            <a:ext cx="1007672" cy="999344"/>
          </a:xfrm>
          <a:prstGeom prst="rect">
            <a:avLst/>
          </a:prstGeom>
          <a:effectLst/>
        </p:spPr>
      </p:pic>
      <p:pic>
        <p:nvPicPr>
          <p:cNvPr id="92" name="snowflake" descr="Exact source raster crop; BLIP-2 Figure 2 PMLR 2023, CC BY 4.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75" y="916065"/>
            <a:ext cx="183213" cy="174885"/>
          </a:xfrm>
          <a:prstGeom prst="rect">
            <a:avLst/>
          </a:prstGeom>
          <a:effectLst/>
        </p:spPr>
      </p:pic>
      <p:sp>
        <p:nvSpPr>
          <p:cNvPr id="93" name="inputimage" descr="Editable text; source id inputimage"/>
          <p:cNvSpPr txBox="1"/>
          <p:nvPr/>
        </p:nvSpPr>
        <p:spPr>
          <a:xfrm>
            <a:off x="116590" y="566295"/>
            <a:ext cx="966032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Input Image</a:t>
            </a:r>
          </a:p>
        </p:txBody>
      </p:sp>
      <p:sp>
        <p:nvSpPr>
          <p:cNvPr id="94" name="enc_text" descr="Editable text; source id enc_text"/>
          <p:cNvSpPr txBox="1"/>
          <p:nvPr/>
        </p:nvSpPr>
        <p:spPr>
          <a:xfrm>
            <a:off x="1324131" y="1182557"/>
            <a:ext cx="624590" cy="408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5" name="qformer" descr="Editable text; source id qformer"/>
          <p:cNvSpPr txBox="1"/>
          <p:nvPr/>
        </p:nvSpPr>
        <p:spPr>
          <a:xfrm>
            <a:off x="2081967" y="116590"/>
            <a:ext cx="79947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Q-Former</a:t>
            </a:r>
          </a:p>
        </p:txBody>
      </p:sp>
      <p:sp>
        <p:nvSpPr>
          <p:cNvPr id="96" name="every" descr="Editable text; source id every"/>
          <p:cNvSpPr txBox="1"/>
          <p:nvPr/>
        </p:nvSpPr>
        <p:spPr>
          <a:xfrm>
            <a:off x="1990360" y="957704"/>
            <a:ext cx="791147" cy="3914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every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other block</a:t>
            </a:r>
          </a:p>
        </p:txBody>
      </p:sp>
      <p:sp>
        <p:nvSpPr>
          <p:cNvPr id="97" name="ff1_text" descr="Editable text; source id ff1_text"/>
          <p:cNvSpPr txBox="1"/>
          <p:nvPr/>
        </p:nvSpPr>
        <p:spPr>
          <a:xfrm>
            <a:off x="2873114" y="861934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 Forward</a:t>
            </a:r>
          </a:p>
        </p:txBody>
      </p:sp>
      <p:sp>
        <p:nvSpPr>
          <p:cNvPr id="98" name="ca_text" descr="Editable text; source id ca_text"/>
          <p:cNvSpPr txBox="1"/>
          <p:nvPr/>
        </p:nvSpPr>
        <p:spPr>
          <a:xfrm>
            <a:off x="2868950" y="1249180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 Attention</a:t>
            </a:r>
          </a:p>
        </p:txBody>
      </p:sp>
      <p:sp>
        <p:nvSpPr>
          <p:cNvPr id="99" name="sa1_text" descr="Editable text; source id sa1_text"/>
          <p:cNvSpPr txBox="1"/>
          <p:nvPr/>
        </p:nvSpPr>
        <p:spPr>
          <a:xfrm>
            <a:off x="2868950" y="1648917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 Attention</a:t>
            </a:r>
          </a:p>
        </p:txBody>
      </p:sp>
      <p:sp>
        <p:nvSpPr>
          <p:cNvPr id="100" name="ff2_text" descr="Editable text; source id ff2_text"/>
          <p:cNvSpPr txBox="1"/>
          <p:nvPr/>
        </p:nvSpPr>
        <p:spPr>
          <a:xfrm>
            <a:off x="5646294" y="841114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 Forward</a:t>
            </a:r>
          </a:p>
        </p:txBody>
      </p:sp>
      <p:sp>
        <p:nvSpPr>
          <p:cNvPr id="101" name="sa2_text" descr="Editable text; source id sa2_text"/>
          <p:cNvSpPr txBox="1"/>
          <p:nvPr/>
        </p:nvSpPr>
        <p:spPr>
          <a:xfrm>
            <a:off x="5646294" y="1648917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 Attention</a:t>
            </a:r>
          </a:p>
        </p:txBody>
      </p:sp>
      <p:sp>
        <p:nvSpPr>
          <p:cNvPr id="102" name="itm_text" descr="Editable text; source id itm_text"/>
          <p:cNvSpPr txBox="1"/>
          <p:nvPr/>
        </p:nvSpPr>
        <p:spPr>
          <a:xfrm>
            <a:off x="2973049" y="212360"/>
            <a:ext cx="957704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03" name="itc_text" descr="Editable text; source id itc_text"/>
          <p:cNvSpPr txBox="1"/>
          <p:nvPr/>
        </p:nvSpPr>
        <p:spPr>
          <a:xfrm>
            <a:off x="4384622" y="403901"/>
            <a:ext cx="874426" cy="553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Contrastive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4" name="itg_text" descr="Editable text; source id itg_text"/>
          <p:cNvSpPr txBox="1"/>
          <p:nvPr/>
        </p:nvSpPr>
        <p:spPr>
          <a:xfrm>
            <a:off x="5617147" y="204032"/>
            <a:ext cx="1207540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Image-Grounded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Generation</a:t>
            </a:r>
          </a:p>
        </p:txBody>
      </p:sp>
      <p:sp>
        <p:nvSpPr>
          <p:cNvPr id="105" name="nx1" descr="Editable text; source id nx1"/>
          <p:cNvSpPr txBox="1"/>
          <p:nvPr/>
        </p:nvSpPr>
        <p:spPr>
          <a:xfrm>
            <a:off x="2448393" y="1707213"/>
            <a:ext cx="29147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 N</a:t>
            </a:r>
          </a:p>
        </p:txBody>
      </p:sp>
      <p:sp>
        <p:nvSpPr>
          <p:cNvPr id="106" name="nx2" descr="Editable text; source id nx2"/>
          <p:cNvSpPr txBox="1"/>
          <p:nvPr/>
        </p:nvSpPr>
        <p:spPr>
          <a:xfrm>
            <a:off x="6970426" y="1707213"/>
            <a:ext cx="274819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 N</a:t>
            </a:r>
          </a:p>
        </p:txBody>
      </p:sp>
      <p:sp>
        <p:nvSpPr>
          <p:cNvPr id="107" name="masking" descr="Editable text; source id masking"/>
          <p:cNvSpPr txBox="1"/>
          <p:nvPr/>
        </p:nvSpPr>
        <p:spPr>
          <a:xfrm>
            <a:off x="4180590" y="1324131"/>
            <a:ext cx="1349114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Attention Masking</a:t>
            </a:r>
          </a:p>
        </p:txBody>
      </p:sp>
      <p:sp>
        <p:nvSpPr>
          <p:cNvPr id="108" name="bidirectional" descr="Editable text; source id bidirectional"/>
          <p:cNvSpPr txBox="1"/>
          <p:nvPr/>
        </p:nvSpPr>
        <p:spPr>
          <a:xfrm>
            <a:off x="4422098" y="1523999"/>
            <a:ext cx="941049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bidirectional</a:t>
            </a:r>
          </a:p>
        </p:txBody>
      </p:sp>
      <p:sp>
        <p:nvSpPr>
          <p:cNvPr id="109" name="causal" descr="Editable text; source id causal"/>
          <p:cNvSpPr txBox="1"/>
          <p:nvPr/>
        </p:nvSpPr>
        <p:spPr>
          <a:xfrm>
            <a:off x="4222229" y="1665573"/>
            <a:ext cx="1190885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mutlimodal causal</a:t>
            </a:r>
          </a:p>
        </p:txBody>
      </p:sp>
      <p:sp>
        <p:nvSpPr>
          <p:cNvPr id="110" name="unimodal" descr="Editable text; source id unimodal"/>
          <p:cNvSpPr txBox="1"/>
          <p:nvPr/>
        </p:nvSpPr>
        <p:spPr>
          <a:xfrm>
            <a:off x="4463737" y="1798819"/>
            <a:ext cx="682885" cy="19154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uni-modal</a:t>
            </a:r>
          </a:p>
        </p:txBody>
      </p:sp>
      <p:sp>
        <p:nvSpPr>
          <p:cNvPr id="111" name="cross_l" descr="Editable text; source id cross_l"/>
          <p:cNvSpPr txBox="1"/>
          <p:nvPr/>
        </p:nvSpPr>
        <p:spPr>
          <a:xfrm>
            <a:off x="4197245" y="1798819"/>
            <a:ext cx="116590" cy="183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06"/>
              </a:lnSpc>
              <a:spcBef>
                <a:spcPts val="0"/>
              </a:spcBef>
              <a:spcAft>
                <a:spcPts val="0"/>
              </a:spcAft>
              <a:def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2" name="cross_r" descr="Editable text; source id cross_r"/>
          <p:cNvSpPr txBox="1"/>
          <p:nvPr/>
        </p:nvSpPr>
        <p:spPr>
          <a:xfrm>
            <a:off x="5313180" y="1798819"/>
            <a:ext cx="116590" cy="183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06"/>
              </a:lnSpc>
              <a:spcBef>
                <a:spcPts val="0"/>
              </a:spcBef>
              <a:spcAft>
                <a:spcPts val="0"/>
              </a:spcAft>
              <a:def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3" name="learned" descr="Editable text; source id learned"/>
          <p:cNvSpPr txBox="1"/>
          <p:nvPr/>
        </p:nvSpPr>
        <p:spPr>
          <a:xfrm>
            <a:off x="2223540" y="2069475"/>
            <a:ext cx="641245" cy="3914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Learned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114" name="dots" descr="Editable text; source id dots"/>
          <p:cNvSpPr txBox="1"/>
          <p:nvPr/>
        </p:nvSpPr>
        <p:spPr>
          <a:xfrm>
            <a:off x="3389442" y="2198557"/>
            <a:ext cx="124918" cy="14990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04"/>
              </a:lnSpc>
              <a:spcBef>
                <a:spcPts val="0"/>
              </a:spcBef>
              <a:spcAft>
                <a:spcPts val="0"/>
              </a:spcAft>
              <a:defRPr sz="786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86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115" name="inputtext" descr="Editable text; source id inputtext"/>
          <p:cNvSpPr txBox="1"/>
          <p:nvPr/>
        </p:nvSpPr>
        <p:spPr>
          <a:xfrm>
            <a:off x="4555344" y="2198557"/>
            <a:ext cx="732852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Input Text</a:t>
            </a:r>
          </a:p>
        </p:txBody>
      </p:sp>
      <p:sp>
        <p:nvSpPr>
          <p:cNvPr id="116" name="prompt_text" descr="Editable text; source id prompt_text"/>
          <p:cNvSpPr txBox="1"/>
          <p:nvPr/>
        </p:nvSpPr>
        <p:spPr>
          <a:xfrm>
            <a:off x="5388131" y="2190229"/>
            <a:ext cx="1707213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cat wearing sunglasses</a:t>
            </a:r>
          </a:p>
        </p:txBody>
      </p:sp>
      <p:sp>
        <p:nvSpPr>
          <p:cNvPr id="117" name="legend_q" descr="Editable text; source id legend_q"/>
          <p:cNvSpPr txBox="1"/>
          <p:nvPr/>
        </p:nvSpPr>
        <p:spPr>
          <a:xfrm>
            <a:off x="7619999" y="24983"/>
            <a:ext cx="199868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Q:</a:t>
            </a:r>
          </a:p>
        </p:txBody>
      </p:sp>
      <p:sp>
        <p:nvSpPr>
          <p:cNvPr id="118" name="legend_query" descr="Editable text; source id legend_query"/>
          <p:cNvSpPr txBox="1"/>
          <p:nvPr/>
        </p:nvSpPr>
        <p:spPr>
          <a:xfrm>
            <a:off x="7803212" y="24983"/>
            <a:ext cx="1557311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query token positions;</a:t>
            </a:r>
          </a:p>
        </p:txBody>
      </p:sp>
      <p:sp>
        <p:nvSpPr>
          <p:cNvPr id="119" name="legend_t" descr="Editable text; source id legend_t"/>
          <p:cNvSpPr txBox="1"/>
          <p:nvPr/>
        </p:nvSpPr>
        <p:spPr>
          <a:xfrm>
            <a:off x="9393835" y="24983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T:</a:t>
            </a:r>
          </a:p>
        </p:txBody>
      </p:sp>
      <p:sp>
        <p:nvSpPr>
          <p:cNvPr id="120" name="legend_text" descr="Editable text; source id legend_text"/>
          <p:cNvSpPr txBox="1"/>
          <p:nvPr/>
        </p:nvSpPr>
        <p:spPr>
          <a:xfrm>
            <a:off x="9577048" y="24983"/>
            <a:ext cx="1507344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text token positions.</a:t>
            </a:r>
          </a:p>
        </p:txBody>
      </p:sp>
      <p:sp>
        <p:nvSpPr>
          <p:cNvPr id="121" name="masked_text" descr="Editable text; source id masked_text"/>
          <p:cNvSpPr txBox="1"/>
          <p:nvPr/>
        </p:nvSpPr>
        <p:spPr>
          <a:xfrm>
            <a:off x="7803212" y="233180"/>
            <a:ext cx="616262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masked</a:t>
            </a:r>
          </a:p>
        </p:txBody>
      </p:sp>
      <p:sp>
        <p:nvSpPr>
          <p:cNvPr id="122" name="unmasked_text" descr="Editable text; source id unmasked_text"/>
          <p:cNvSpPr txBox="1"/>
          <p:nvPr/>
        </p:nvSpPr>
        <p:spPr>
          <a:xfrm>
            <a:off x="8586032" y="233180"/>
            <a:ext cx="774491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unmasked</a:t>
            </a:r>
          </a:p>
        </p:txBody>
      </p:sp>
      <p:sp>
        <p:nvSpPr>
          <p:cNvPr id="123" name="qtop0" descr="Editable text; source id qtop0"/>
          <p:cNvSpPr txBox="1"/>
          <p:nvPr/>
        </p:nvSpPr>
        <p:spPr>
          <a:xfrm>
            <a:off x="7965606" y="47885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4" name="ttop0" descr="Editable text; source id ttop0"/>
          <p:cNvSpPr txBox="1"/>
          <p:nvPr/>
        </p:nvSpPr>
        <p:spPr>
          <a:xfrm>
            <a:off x="8465278" y="47885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5" name="qleft0" descr="Editable text; source id qleft0"/>
          <p:cNvSpPr txBox="1"/>
          <p:nvPr/>
        </p:nvSpPr>
        <p:spPr>
          <a:xfrm>
            <a:off x="7649147" y="811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6" name="tleft0" descr="Editable text; source id tleft0"/>
          <p:cNvSpPr txBox="1"/>
          <p:nvPr/>
        </p:nvSpPr>
        <p:spPr>
          <a:xfrm>
            <a:off x="7657475" y="1303311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7" name="qtop1" descr="Editable text; source id qtop1"/>
          <p:cNvSpPr txBox="1"/>
          <p:nvPr/>
        </p:nvSpPr>
        <p:spPr>
          <a:xfrm>
            <a:off x="9502098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8" name="ttop1" descr="Editable text; source id ttop1"/>
          <p:cNvSpPr txBox="1"/>
          <p:nvPr/>
        </p:nvSpPr>
        <p:spPr>
          <a:xfrm>
            <a:off x="10001770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9" name="qleft1" descr="Editable text; source id qleft1"/>
          <p:cNvSpPr txBox="1"/>
          <p:nvPr/>
        </p:nvSpPr>
        <p:spPr>
          <a:xfrm>
            <a:off x="9185639" y="82862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0" name="tleft1" descr="Editable text; source id tleft1"/>
          <p:cNvSpPr txBox="1"/>
          <p:nvPr/>
        </p:nvSpPr>
        <p:spPr>
          <a:xfrm>
            <a:off x="9193966" y="1319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1" name="qtop2" descr="Editable text; source id qtop2"/>
          <p:cNvSpPr txBox="1"/>
          <p:nvPr/>
        </p:nvSpPr>
        <p:spPr>
          <a:xfrm>
            <a:off x="11063573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2" name="ttop2" descr="Editable text; source id ttop2"/>
          <p:cNvSpPr txBox="1"/>
          <p:nvPr/>
        </p:nvSpPr>
        <p:spPr>
          <a:xfrm>
            <a:off x="11563245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3" name="qleft2" descr="Editable text; source id qleft2"/>
          <p:cNvSpPr txBox="1"/>
          <p:nvPr/>
        </p:nvSpPr>
        <p:spPr>
          <a:xfrm>
            <a:off x="10747114" y="82862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4" name="tleft2" descr="Editable text; source id tleft2"/>
          <p:cNvSpPr txBox="1"/>
          <p:nvPr/>
        </p:nvSpPr>
        <p:spPr>
          <a:xfrm>
            <a:off x="10755442" y="1319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5" name="masktitle0" descr="Editable text; source id masktitle0"/>
          <p:cNvSpPr txBox="1"/>
          <p:nvPr/>
        </p:nvSpPr>
        <p:spPr>
          <a:xfrm>
            <a:off x="7611671" y="1707213"/>
            <a:ext cx="136577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Bi-directional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36" name="objective_text0" descr="Editable text; source id objective_text0"/>
          <p:cNvSpPr txBox="1"/>
          <p:nvPr/>
        </p:nvSpPr>
        <p:spPr>
          <a:xfrm>
            <a:off x="7803212" y="2111114"/>
            <a:ext cx="974360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37" name="masktitle1" descr="Editable text; source id masktitle1"/>
          <p:cNvSpPr txBox="1"/>
          <p:nvPr/>
        </p:nvSpPr>
        <p:spPr>
          <a:xfrm>
            <a:off x="9085704" y="1707213"/>
            <a:ext cx="136577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Multi-modal Causal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38" name="objective_text1" descr="Editable text; source id objective_text1"/>
          <p:cNvSpPr txBox="1"/>
          <p:nvPr/>
        </p:nvSpPr>
        <p:spPr>
          <a:xfrm>
            <a:off x="9110688" y="2111114"/>
            <a:ext cx="1315803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Image-Grounded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Generation</a:t>
            </a:r>
          </a:p>
        </p:txBody>
      </p:sp>
      <p:sp>
        <p:nvSpPr>
          <p:cNvPr id="139" name="masktitle2" descr="Editable text; source id masktitle2"/>
          <p:cNvSpPr txBox="1"/>
          <p:nvPr/>
        </p:nvSpPr>
        <p:spPr>
          <a:xfrm>
            <a:off x="10684655" y="1707213"/>
            <a:ext cx="148236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Uni-modal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40" name="objective_text2" descr="Editable text; source id objective_text2"/>
          <p:cNvSpPr txBox="1"/>
          <p:nvPr/>
        </p:nvSpPr>
        <p:spPr>
          <a:xfrm>
            <a:off x="10705475" y="2111114"/>
            <a:ext cx="1428229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Contrastive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