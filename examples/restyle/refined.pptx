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07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" name="group0" descr="Editable semantic group"/>
          <p:cNvGrpSpPr/>
          <p:nvPr/>
        </p:nvGrpSpPr>
        <p:grpSpPr>
          <a:xfrm>
            <a:off x="507999" y="1904999"/>
            <a:ext cx="3047999" cy="1396999"/>
            <a:chOff x="507999" y="1904999"/>
            <a:chExt cx="3047999" cy="1396999"/>
          </a:xfrm>
        </p:grpSpPr>
        <p:sp>
          <p:nvSpPr>
            <p:cNvPr id="2" name="module0" descr="Editable shape; source id module0"/>
            <p:cNvSpPr/>
            <p:nvPr/>
          </p:nvSpPr>
          <p:spPr>
            <a:xfrm>
              <a:off x="507999" y="1904999"/>
              <a:ext cx="3047999" cy="1396999"/>
            </a:xfrm>
            <a:prstGeom prst="roundRect">
              <a:avLst>
                <a:gd name="adj" fmla="val 7272"/>
              </a:avLst>
            </a:prstGeom>
            <a:solidFill>
              <a:srgbClr val="EEF3F8"/>
            </a:solidFill>
            <a:ln w="19049">
              <a:solidFill>
                <a:srgbClr val="5265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label0" descr="Editable text; source id label0"/>
            <p:cNvSpPr txBox="1"/>
            <p:nvPr/>
          </p:nvSpPr>
          <p:spPr>
            <a:xfrm>
              <a:off x="634999" y="2247899"/>
              <a:ext cx="2793999" cy="69849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2989"/>
                </a:lnSpc>
                <a:spcBef>
                  <a:spcPts val="0"/>
                </a:spcBef>
                <a:spcAft>
                  <a:spcPts val="0"/>
                </a:spcAft>
                <a:def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Observation</a:t>
              </a:r>
            </a:p>
          </p:txBody>
        </p:sp>
      </p:grpSp>
      <p:cxnSp>
        <p:nvCxnSpPr>
          <p:cNvPr id="4" name="arrow0" descr="Editable line; source id arrow0"/>
          <p:cNvCxnSpPr/>
          <p:nvPr/>
        </p:nvCxnSpPr>
        <p:spPr>
          <a:xfrm>
            <a:off x="3682999" y="2603499"/>
            <a:ext cx="698500" cy="0"/>
          </a:xfrm>
          <a:prstGeom prst="line">
            <a:avLst/>
          </a:prstGeom>
          <a:ln w="25399">
            <a:solidFill>
              <a:srgbClr val="24324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1" descr="Editable semantic group"/>
          <p:cNvGrpSpPr/>
          <p:nvPr/>
        </p:nvGrpSpPr>
        <p:grpSpPr>
          <a:xfrm>
            <a:off x="4571999" y="1904999"/>
            <a:ext cx="3047999" cy="1396999"/>
            <a:chOff x="4571999" y="1904999"/>
            <a:chExt cx="3047999" cy="1396999"/>
          </a:xfrm>
        </p:grpSpPr>
        <p:sp>
          <p:nvSpPr>
            <p:cNvPr id="5" name="module1" descr="Editable shape; source id module1"/>
            <p:cNvSpPr/>
            <p:nvPr/>
          </p:nvSpPr>
          <p:spPr>
            <a:xfrm>
              <a:off x="4571999" y="1904999"/>
              <a:ext cx="3047999" cy="1396999"/>
            </a:xfrm>
            <a:prstGeom prst="roundRect">
              <a:avLst>
                <a:gd name="adj" fmla="val 7272"/>
              </a:avLst>
            </a:prstGeom>
            <a:solidFill>
              <a:srgbClr val="EEF3F8"/>
            </a:solidFill>
            <a:ln w="19049">
              <a:solidFill>
                <a:srgbClr val="5265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abel1" descr="Editable text; source id label1"/>
            <p:cNvSpPr txBox="1"/>
            <p:nvPr/>
          </p:nvSpPr>
          <p:spPr>
            <a:xfrm>
              <a:off x="4698999" y="2247899"/>
              <a:ext cx="2793999" cy="69849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2989"/>
                </a:lnSpc>
                <a:spcBef>
                  <a:spcPts val="0"/>
                </a:spcBef>
                <a:spcAft>
                  <a:spcPts val="0"/>
                </a:spcAft>
                <a:def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World model</a:t>
              </a:r>
            </a:p>
          </p:txBody>
        </p:sp>
      </p:grpSp>
      <p:cxnSp>
        <p:nvCxnSpPr>
          <p:cNvPr id="7" name="arrow1" descr="Editable line; source id arrow1"/>
          <p:cNvCxnSpPr/>
          <p:nvPr/>
        </p:nvCxnSpPr>
        <p:spPr>
          <a:xfrm>
            <a:off x="7746999" y="2603499"/>
            <a:ext cx="698500" cy="0"/>
          </a:xfrm>
          <a:prstGeom prst="line">
            <a:avLst/>
          </a:prstGeom>
          <a:ln w="25399">
            <a:solidFill>
              <a:srgbClr val="24324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2" descr="Editable semantic group"/>
          <p:cNvGrpSpPr/>
          <p:nvPr/>
        </p:nvGrpSpPr>
        <p:grpSpPr>
          <a:xfrm>
            <a:off x="8635999" y="1904999"/>
            <a:ext cx="3047999" cy="1396999"/>
            <a:chOff x="8635999" y="1904999"/>
            <a:chExt cx="3047999" cy="1396999"/>
          </a:xfrm>
        </p:grpSpPr>
        <p:sp>
          <p:nvSpPr>
            <p:cNvPr id="8" name="module2" descr="Editable shape; source id module2"/>
            <p:cNvSpPr/>
            <p:nvPr/>
          </p:nvSpPr>
          <p:spPr>
            <a:xfrm>
              <a:off x="8635999" y="1904999"/>
              <a:ext cx="3047999" cy="1396999"/>
            </a:xfrm>
            <a:prstGeom prst="roundRect">
              <a:avLst>
                <a:gd name="adj" fmla="val 7272"/>
              </a:avLst>
            </a:prstGeom>
            <a:solidFill>
              <a:srgbClr val="EEF3F8"/>
            </a:solidFill>
            <a:ln w="19049">
              <a:solidFill>
                <a:srgbClr val="5265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abel2" descr="Editable text; source id label2"/>
            <p:cNvSpPr txBox="1"/>
            <p:nvPr/>
          </p:nvSpPr>
          <p:spPr>
            <a:xfrm>
              <a:off x="8762999" y="2247899"/>
              <a:ext cx="2793999" cy="69849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2989"/>
                </a:lnSpc>
                <a:spcBef>
                  <a:spcPts val="0"/>
                </a:spcBef>
                <a:spcAft>
                  <a:spcPts val="0"/>
                </a:spcAft>
                <a:def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2599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Action</a:t>
              </a:r>
            </a:p>
          </p:txBody>
        </p:sp>
      </p:grpSp>
      <p:sp>
        <p:nvSpPr>
          <p:cNvPr id="10" name="title" descr="Editable text; source id title"/>
          <p:cNvSpPr txBox="1"/>
          <p:nvPr/>
        </p:nvSpPr>
        <p:spPr>
          <a:xfrm>
            <a:off x="507999" y="253999"/>
            <a:ext cx="11175999" cy="7619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679"/>
              </a:lnSpc>
              <a:spcBef>
                <a:spcPts val="0"/>
              </a:spcBef>
              <a:spcAft>
                <a:spcPts val="0"/>
              </a:spcAft>
              <a:defRPr sz="3199" b="1" i="0" lang="zh-CN" dirty="0">
                <a:solidFill>
                  <a:srgbClr val="243247"/>
                </a:solidFill>
                <a:latin typeface="Arial"/>
                <a:ea typeface="Arial"/>
                <a:cs typeface="Arial"/>
              </a:defRPr>
            </a:pPr>
            <a:r>
              <a:rPr sz="3199" b="1" i="0" lang="zh-CN" dirty="0">
                <a:solidFill>
                  <a:srgbClr val="243247"/>
                </a:solidFill>
                <a:latin typeface="Arial"/>
                <a:ea typeface="Arial"/>
                <a:cs typeface="Arial"/>
              </a:rPr>
              <a:t>Perception to action</a:t>
            </a:r>
          </a:p>
        </p:txBody>
      </p:sp>
      <p:sp>
        <p:nvSpPr>
          <p:cNvPr id="11" name="caption" descr="Editable text; source id caption"/>
          <p:cNvSpPr txBox="1"/>
          <p:nvPr/>
        </p:nvSpPr>
        <p:spPr>
          <a:xfrm>
            <a:off x="507999" y="4063999"/>
            <a:ext cx="11175999" cy="5714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069"/>
              </a:lnSpc>
              <a:spcBef>
                <a:spcPts val="0"/>
              </a:spcBef>
              <a:spcAft>
                <a:spcPts val="0"/>
              </a:spcAft>
              <a:defRPr sz="1799" b="0" i="0" lang="zh-CN" dirty="0">
                <a:solidFill>
                  <a:srgbClr val="52657B"/>
                </a:solidFill>
                <a:latin typeface="Arial"/>
                <a:ea typeface="Arial"/>
                <a:cs typeface="Arial"/>
              </a:defRPr>
            </a:pPr>
            <a:r>
              <a:rPr sz="1799" b="0" i="0" lang="zh-CN" dirty="0">
                <a:solidFill>
                  <a:srgbClr val="52657B"/>
                </a:solidFill>
                <a:latin typeface="Arial"/>
                <a:ea typeface="Arial"/>
                <a:cs typeface="Arial"/>
              </a:rPr>
              <a:t>Synthetic style fixture; no measured results or AI-origin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restyle demonstration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