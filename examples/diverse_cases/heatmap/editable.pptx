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914399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solely from provided raster. Top coordinate labels retained in an isolated raster crop because arbitrary 30-degree text rotation is unsupported: Farmer Joe, Upland Bros., Smith Gardening, Agrifun, Organiculture, BioGoods Ltd., Cornylee Corp.. Matrix values, cells, row labels, ticks, and vertical colorbar label are native. Continuous colorbar approximated by one native vertical gradient with 16 stops sampled only from the source bitmap; no source plotting data consulted.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colorbar_outline" descr="Editable shape; source id colorbar_outline"/>
          <p:cNvSpPr/>
          <p:nvPr/>
        </p:nvSpPr>
        <p:spPr>
          <a:xfrm>
            <a:off x="10325099" y="1847849"/>
            <a:ext cx="361949" cy="6857999"/>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colorbar_gradient" descr="Editable shape; source id colorbar_gradient"/>
          <p:cNvSpPr/>
          <p:nvPr/>
        </p:nvSpPr>
        <p:spPr>
          <a:xfrm>
            <a:off x="10344149" y="1866899"/>
            <a:ext cx="323849" cy="6819899"/>
          </a:xfrm>
          <a:prstGeom prst="rect">
            <a:avLst/>
          </a:prstGeom>
          <a:gradFill rotWithShape="1">
            <a:gsLst>
              <a:gs pos="0">
                <a:srgbClr val="004629"/>
              </a:gs>
              <a:gs pos="6667">
                <a:srgbClr val="005931"/>
              </a:gs>
              <a:gs pos="13333">
                <a:srgbClr val="036B38"/>
              </a:gs>
              <a:gs pos="20000">
                <a:srgbClr val="15793E"/>
              </a:gs>
              <a:gs pos="26667">
                <a:srgbClr val="278946"/>
              </a:gs>
              <a:gs pos="33333">
                <a:srgbClr val="379E54"/>
              </a:gs>
              <a:gs pos="40000">
                <a:srgbClr val="4CB063"/>
              </a:gs>
              <a:gs pos="46667">
                <a:srgbClr val="6BC072"/>
              </a:gs>
              <a:gs pos="53333">
                <a:srgbClr val="86CC7F"/>
              </a:gs>
              <a:gs pos="60000">
                <a:srgbClr val="A2D88A"/>
              </a:gs>
              <a:gs pos="66667">
                <a:srgbClr val="BCE395"/>
              </a:gs>
              <a:gs pos="73333">
                <a:srgbClr val="D3EDA0"/>
              </a:gs>
              <a:gs pos="80000">
                <a:srgbClr val="E5F5AC"/>
              </a:gs>
              <a:gs pos="86667">
                <a:srgbClr val="F5FBB8"/>
              </a:gs>
              <a:gs pos="93333">
                <a:srgbClr val="FBFDCE"/>
              </a:gs>
              <a:gs pos="100000">
                <a:srgbClr val="FFFFE4"/>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ell_r1_c1" descr="Editable shape; source id cell_r1_c1"/>
          <p:cNvSpPr/>
          <p:nvPr/>
        </p:nvSpPr>
        <p:spPr>
          <a:xfrm>
            <a:off x="2992183" y="1887283"/>
            <a:ext cx="892682" cy="892682"/>
          </a:xfrm>
          <a:prstGeom prst="rect">
            <a:avLst/>
          </a:prstGeom>
          <a:solidFill>
            <a:srgbClr val="F6FB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ell_r1_c2" descr="Editable shape; source id cell_r1_c2"/>
          <p:cNvSpPr/>
          <p:nvPr/>
        </p:nvSpPr>
        <p:spPr>
          <a:xfrm>
            <a:off x="3963733" y="1887283"/>
            <a:ext cx="911732" cy="892682"/>
          </a:xfrm>
          <a:prstGeom prst="rect">
            <a:avLst/>
          </a:prstGeom>
          <a:solidFill>
            <a:srgbClr val="AADC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ell_r1_c3" descr="Editable shape; source id cell_r1_c3"/>
          <p:cNvSpPr/>
          <p:nvPr/>
        </p:nvSpPr>
        <p:spPr>
          <a:xfrm>
            <a:off x="4954333" y="1887283"/>
            <a:ext cx="892682" cy="892682"/>
          </a:xfrm>
          <a:prstGeom prst="rect">
            <a:avLst/>
          </a:prstGeom>
          <a:solidFill>
            <a:srgbClr val="A4D9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cell_r1_c4" descr="Editable shape; source id cell_r1_c4"/>
          <p:cNvSpPr/>
          <p:nvPr/>
        </p:nvSpPr>
        <p:spPr>
          <a:xfrm>
            <a:off x="5925883" y="1887283"/>
            <a:ext cx="892682" cy="892682"/>
          </a:xfrm>
          <a:prstGeom prst="rect">
            <a:avLst/>
          </a:prstGeom>
          <a:solidFill>
            <a:srgbClr val="43AC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ell_r1_c5" descr="Editable shape; source id cell_r1_c5"/>
          <p:cNvSpPr/>
          <p:nvPr/>
        </p:nvSpPr>
        <p:spPr>
          <a:xfrm>
            <a:off x="6897433" y="1887283"/>
            <a:ext cx="91173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ell_r1_c6" descr="Editable shape; source id cell_r1_c6"/>
          <p:cNvSpPr/>
          <p:nvPr/>
        </p:nvSpPr>
        <p:spPr>
          <a:xfrm>
            <a:off x="7888033" y="1887283"/>
            <a:ext cx="892682" cy="892682"/>
          </a:xfrm>
          <a:prstGeom prst="rect">
            <a:avLst/>
          </a:prstGeom>
          <a:solidFill>
            <a:srgbClr val="3EA7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cell_r1_c7" descr="Editable shape; source id cell_r1_c7"/>
          <p:cNvSpPr/>
          <p:nvPr/>
        </p:nvSpPr>
        <p:spPr>
          <a:xfrm>
            <a:off x="8859583" y="188728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cell_r2_c1" descr="Editable shape; source id cell_r2_c1"/>
          <p:cNvSpPr/>
          <p:nvPr/>
        </p:nvSpPr>
        <p:spPr>
          <a:xfrm>
            <a:off x="2992183" y="2858833"/>
            <a:ext cx="892682" cy="911732"/>
          </a:xfrm>
          <a:prstGeom prst="rect">
            <a:avLst/>
          </a:prstGeom>
          <a:solidFill>
            <a:srgbClr val="AADC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cell_r2_c2" descr="Editable shape; source id cell_r2_c2"/>
          <p:cNvSpPr/>
          <p:nvPr/>
        </p:nvSpPr>
        <p:spPr>
          <a:xfrm>
            <a:off x="3963733" y="2858833"/>
            <a:ext cx="911732" cy="91173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cell_r2_c3" descr="Editable shape; source id cell_r2_c3"/>
          <p:cNvSpPr/>
          <p:nvPr/>
        </p:nvSpPr>
        <p:spPr>
          <a:xfrm>
            <a:off x="4954333" y="2858833"/>
            <a:ext cx="892682" cy="911732"/>
          </a:xfrm>
          <a:prstGeom prst="rect">
            <a:avLst/>
          </a:prstGeom>
          <a:solidFill>
            <a:srgbClr val="3EA7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ell_r2_c4" descr="Editable shape; source id cell_r2_c4"/>
          <p:cNvSpPr/>
          <p:nvPr/>
        </p:nvSpPr>
        <p:spPr>
          <a:xfrm>
            <a:off x="5925883" y="2858833"/>
            <a:ext cx="892682" cy="911732"/>
          </a:xfrm>
          <a:prstGeom prst="rect">
            <a:avLst/>
          </a:prstGeom>
          <a:solidFill>
            <a:srgbClr val="EFF8B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cell_r2_c5" descr="Editable shape; source id cell_r2_c5"/>
          <p:cNvSpPr/>
          <p:nvPr/>
        </p:nvSpPr>
        <p:spPr>
          <a:xfrm>
            <a:off x="6897433" y="2858833"/>
            <a:ext cx="911732" cy="911732"/>
          </a:xfrm>
          <a:prstGeom prst="rect">
            <a:avLst/>
          </a:prstGeom>
          <a:solidFill>
            <a:srgbClr val="96D3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cell_r2_c6" descr="Editable shape; source id cell_r2_c6"/>
          <p:cNvSpPr/>
          <p:nvPr/>
        </p:nvSpPr>
        <p:spPr>
          <a:xfrm>
            <a:off x="7888033" y="2858833"/>
            <a:ext cx="892682" cy="91173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cell_r2_c7" descr="Editable shape; source id cell_r2_c7"/>
          <p:cNvSpPr/>
          <p:nvPr/>
        </p:nvSpPr>
        <p:spPr>
          <a:xfrm>
            <a:off x="8859583" y="2858833"/>
            <a:ext cx="892682" cy="91173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ell_r3_c1" descr="Editable shape; source id cell_r3_c1"/>
          <p:cNvSpPr/>
          <p:nvPr/>
        </p:nvSpPr>
        <p:spPr>
          <a:xfrm>
            <a:off x="2992183" y="3849433"/>
            <a:ext cx="892682" cy="892682"/>
          </a:xfrm>
          <a:prstGeom prst="rect">
            <a:avLst/>
          </a:prstGeom>
          <a:solidFill>
            <a:srgbClr val="EBF7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ell_r3_c2" descr="Editable shape; source id cell_r3_c2"/>
          <p:cNvSpPr/>
          <p:nvPr/>
        </p:nvSpPr>
        <p:spPr>
          <a:xfrm>
            <a:off x="3963733" y="3849433"/>
            <a:ext cx="911732" cy="892682"/>
          </a:xfrm>
          <a:prstGeom prst="rect">
            <a:avLst/>
          </a:prstGeom>
          <a:solidFill>
            <a:srgbClr val="AADC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cell_r3_c3" descr="Editable shape; source id cell_r3_c3"/>
          <p:cNvSpPr/>
          <p:nvPr/>
        </p:nvSpPr>
        <p:spPr>
          <a:xfrm>
            <a:off x="4954333" y="3849433"/>
            <a:ext cx="892682" cy="892682"/>
          </a:xfrm>
          <a:prstGeom prst="rect">
            <a:avLst/>
          </a:prstGeom>
          <a:solidFill>
            <a:srgbClr val="F6FB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ell_r3_c4" descr="Editable shape; source id cell_r3_c4"/>
          <p:cNvSpPr/>
          <p:nvPr/>
        </p:nvSpPr>
        <p:spPr>
          <a:xfrm>
            <a:off x="5925883" y="3849433"/>
            <a:ext cx="892682" cy="892682"/>
          </a:xfrm>
          <a:prstGeom prst="rect">
            <a:avLst/>
          </a:prstGeom>
          <a:solidFill>
            <a:srgbClr val="33995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ell_r3_c5" descr="Editable shape; source id cell_r3_c5"/>
          <p:cNvSpPr/>
          <p:nvPr/>
        </p:nvSpPr>
        <p:spPr>
          <a:xfrm>
            <a:off x="6897433" y="3849433"/>
            <a:ext cx="911732" cy="892682"/>
          </a:xfrm>
          <a:prstGeom prst="rect">
            <a:avLst/>
          </a:prstGeom>
          <a:solidFill>
            <a:srgbClr val="C6E8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ell_r3_c6" descr="Editable shape; source id cell_r3_c6"/>
          <p:cNvSpPr/>
          <p:nvPr/>
        </p:nvSpPr>
        <p:spPr>
          <a:xfrm>
            <a:off x="7888033" y="3849433"/>
            <a:ext cx="892682" cy="892682"/>
          </a:xfrm>
          <a:prstGeom prst="rect">
            <a:avLst/>
          </a:prstGeom>
          <a:solidFill>
            <a:srgbClr val="2F94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ell_r3_c7" descr="Editable shape; source id cell_r3_c7"/>
          <p:cNvSpPr/>
          <p:nvPr/>
        </p:nvSpPr>
        <p:spPr>
          <a:xfrm>
            <a:off x="8859583" y="384943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cell_r4_c1" descr="Editable shape; source id cell_r4_c1"/>
          <p:cNvSpPr/>
          <p:nvPr/>
        </p:nvSpPr>
        <p:spPr>
          <a:xfrm>
            <a:off x="2992183" y="4820983"/>
            <a:ext cx="892682" cy="892682"/>
          </a:xfrm>
          <a:prstGeom prst="rect">
            <a:avLst/>
          </a:prstGeom>
          <a:solidFill>
            <a:srgbClr val="F8FCC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ell_r4_c2" descr="Editable shape; source id cell_r4_c2"/>
          <p:cNvSpPr/>
          <p:nvPr/>
        </p:nvSpPr>
        <p:spPr>
          <a:xfrm>
            <a:off x="3963733" y="4820983"/>
            <a:ext cx="91173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ell_r4_c3" descr="Editable shape; source id cell_r4_c3"/>
          <p:cNvSpPr/>
          <p:nvPr/>
        </p:nvSpPr>
        <p:spPr>
          <a:xfrm>
            <a:off x="4954333" y="4820983"/>
            <a:ext cx="892682" cy="892682"/>
          </a:xfrm>
          <a:prstGeom prst="rect">
            <a:avLst/>
          </a:prstGeom>
          <a:solidFill>
            <a:srgbClr val="FBFD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cell_r4_c4" descr="Editable shape; source id cell_r4_c4"/>
          <p:cNvSpPr/>
          <p:nvPr/>
        </p:nvSpPr>
        <p:spPr>
          <a:xfrm>
            <a:off x="5925883" y="482098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ell_r4_c5" descr="Editable shape; source id cell_r4_c5"/>
          <p:cNvSpPr/>
          <p:nvPr/>
        </p:nvSpPr>
        <p:spPr>
          <a:xfrm>
            <a:off x="6897433" y="4820983"/>
            <a:ext cx="911732" cy="892682"/>
          </a:xfrm>
          <a:prstGeom prst="rect">
            <a:avLst/>
          </a:prstGeom>
          <a:solidFill>
            <a:srgbClr val="7CC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ell_r4_c6" descr="Editable shape; source id cell_r4_c6"/>
          <p:cNvSpPr/>
          <p:nvPr/>
        </p:nvSpPr>
        <p:spPr>
          <a:xfrm>
            <a:off x="7888033" y="482098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ell_r4_c7" descr="Editable shape; source id cell_r4_c7"/>
          <p:cNvSpPr/>
          <p:nvPr/>
        </p:nvSpPr>
        <p:spPr>
          <a:xfrm>
            <a:off x="8859583" y="482098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cell_r5_c1" descr="Editable shape; source id cell_r5_c1"/>
          <p:cNvSpPr/>
          <p:nvPr/>
        </p:nvSpPr>
        <p:spPr>
          <a:xfrm>
            <a:off x="2992183" y="5792533"/>
            <a:ext cx="892682" cy="911732"/>
          </a:xfrm>
          <a:prstGeom prst="rect">
            <a:avLst/>
          </a:prstGeom>
          <a:solidFill>
            <a:srgbClr val="F7FCB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cell_r5_c2" descr="Editable shape; source id cell_r5_c2"/>
          <p:cNvSpPr/>
          <p:nvPr/>
        </p:nvSpPr>
        <p:spPr>
          <a:xfrm>
            <a:off x="3963733" y="5792533"/>
            <a:ext cx="911732" cy="911732"/>
          </a:xfrm>
          <a:prstGeom prst="rect">
            <a:avLst/>
          </a:prstGeom>
          <a:solidFill>
            <a:srgbClr val="D1EC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ell_r5_c3" descr="Editable shape; source id cell_r5_c3"/>
          <p:cNvSpPr/>
          <p:nvPr/>
        </p:nvSpPr>
        <p:spPr>
          <a:xfrm>
            <a:off x="4954333" y="5792533"/>
            <a:ext cx="892682" cy="911732"/>
          </a:xfrm>
          <a:prstGeom prst="rect">
            <a:avLst/>
          </a:prstGeom>
          <a:solidFill>
            <a:srgbClr val="F8FCC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cell_r5_c4" descr="Editable shape; source id cell_r5_c4"/>
          <p:cNvSpPr/>
          <p:nvPr/>
        </p:nvSpPr>
        <p:spPr>
          <a:xfrm>
            <a:off x="5925883" y="5792533"/>
            <a:ext cx="892682" cy="911732"/>
          </a:xfrm>
          <a:prstGeom prst="rect">
            <a:avLst/>
          </a:prstGeom>
          <a:solidFill>
            <a:srgbClr val="9DD6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cell_r5_c5" descr="Editable shape; source id cell_r5_c5"/>
          <p:cNvSpPr/>
          <p:nvPr/>
        </p:nvSpPr>
        <p:spPr>
          <a:xfrm>
            <a:off x="6897433" y="5792533"/>
            <a:ext cx="911732" cy="911732"/>
          </a:xfrm>
          <a:prstGeom prst="rect">
            <a:avLst/>
          </a:prstGeom>
          <a:solidFill>
            <a:srgbClr val="B6E0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cell_r5_c6" descr="Editable shape; source id cell_r5_c6"/>
          <p:cNvSpPr/>
          <p:nvPr/>
        </p:nvSpPr>
        <p:spPr>
          <a:xfrm>
            <a:off x="7888033" y="5792533"/>
            <a:ext cx="892682" cy="911732"/>
          </a:xfrm>
          <a:prstGeom prst="rect">
            <a:avLst/>
          </a:prstGeom>
          <a:solidFill>
            <a:srgbClr val="0049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cell_r5_c7" descr="Editable shape; source id cell_r5_c7"/>
          <p:cNvSpPr/>
          <p:nvPr/>
        </p:nvSpPr>
        <p:spPr>
          <a:xfrm>
            <a:off x="8859583" y="5792533"/>
            <a:ext cx="892682" cy="91173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cell_r6_c1" descr="Editable shape; source id cell_r6_c1"/>
          <p:cNvSpPr/>
          <p:nvPr/>
        </p:nvSpPr>
        <p:spPr>
          <a:xfrm>
            <a:off x="2992183" y="6783133"/>
            <a:ext cx="892682" cy="892682"/>
          </a:xfrm>
          <a:prstGeom prst="rect">
            <a:avLst/>
          </a:prstGeom>
          <a:solidFill>
            <a:srgbClr val="E4F4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ell_r6_c2" descr="Editable shape; source id cell_r6_c2"/>
          <p:cNvSpPr/>
          <p:nvPr/>
        </p:nvSpPr>
        <p:spPr>
          <a:xfrm>
            <a:off x="3963733" y="6783133"/>
            <a:ext cx="911732" cy="892682"/>
          </a:xfrm>
          <a:prstGeom prst="rect">
            <a:avLst/>
          </a:prstGeom>
          <a:solidFill>
            <a:srgbClr val="E7F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ell_r6_c3" descr="Editable shape; source id cell_r6_c3"/>
          <p:cNvSpPr/>
          <p:nvPr/>
        </p:nvSpPr>
        <p:spPr>
          <a:xfrm>
            <a:off x="4954333" y="678313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cell_r6_c4" descr="Editable shape; source id cell_r6_c4"/>
          <p:cNvSpPr/>
          <p:nvPr/>
        </p:nvSpPr>
        <p:spPr>
          <a:xfrm>
            <a:off x="5925883" y="678313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cell_r6_c5" descr="Editable shape; source id cell_r6_c5"/>
          <p:cNvSpPr/>
          <p:nvPr/>
        </p:nvSpPr>
        <p:spPr>
          <a:xfrm>
            <a:off x="6897433" y="6783133"/>
            <a:ext cx="91173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cell_r6_c6" descr="Editable shape; source id cell_r6_c6"/>
          <p:cNvSpPr/>
          <p:nvPr/>
        </p:nvSpPr>
        <p:spPr>
          <a:xfrm>
            <a:off x="7888033" y="6783133"/>
            <a:ext cx="892682" cy="892682"/>
          </a:xfrm>
          <a:prstGeom prst="rect">
            <a:avLst/>
          </a:prstGeom>
          <a:solidFill>
            <a:srgbClr val="73C37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cell_r6_c7" descr="Editable shape; source id cell_r6_c7"/>
          <p:cNvSpPr/>
          <p:nvPr/>
        </p:nvSpPr>
        <p:spPr>
          <a:xfrm>
            <a:off x="8859583" y="6783133"/>
            <a:ext cx="892682" cy="892682"/>
          </a:xfrm>
          <a:prstGeom prst="rect">
            <a:avLst/>
          </a:prstGeom>
          <a:solidFill>
            <a:srgbClr val="117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cell_r7_c1" descr="Editable shape; source id cell_r7_c1"/>
          <p:cNvSpPr/>
          <p:nvPr/>
        </p:nvSpPr>
        <p:spPr>
          <a:xfrm>
            <a:off x="2992183" y="7754683"/>
            <a:ext cx="892682" cy="892682"/>
          </a:xfrm>
          <a:prstGeom prst="rect">
            <a:avLst/>
          </a:prstGeom>
          <a:solidFill>
            <a:srgbClr val="FDFE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cell_r7_c2" descr="Editable shape; source id cell_r7_c2"/>
          <p:cNvSpPr/>
          <p:nvPr/>
        </p:nvSpPr>
        <p:spPr>
          <a:xfrm>
            <a:off x="3963733" y="7754683"/>
            <a:ext cx="911732" cy="892682"/>
          </a:xfrm>
          <a:prstGeom prst="rect">
            <a:avLst/>
          </a:prstGeom>
          <a:solidFill>
            <a:srgbClr val="C1E5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ell_r7_c3" descr="Editable shape; source id cell_r7_c3"/>
          <p:cNvSpPr/>
          <p:nvPr/>
        </p:nvSpPr>
        <p:spPr>
          <a:xfrm>
            <a:off x="4954333" y="7754683"/>
            <a:ext cx="89268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ell_r7_c4" descr="Editable shape; source id cell_r7_c4"/>
          <p:cNvSpPr/>
          <p:nvPr/>
        </p:nvSpPr>
        <p:spPr>
          <a:xfrm>
            <a:off x="5925883" y="7754683"/>
            <a:ext cx="892682" cy="892682"/>
          </a:xfrm>
          <a:prstGeom prst="rect">
            <a:avLst/>
          </a:prstGeom>
          <a:solidFill>
            <a:srgbClr val="E0F2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ell_r7_c5" descr="Editable shape; source id cell_r7_c5"/>
          <p:cNvSpPr/>
          <p:nvPr/>
        </p:nvSpPr>
        <p:spPr>
          <a:xfrm>
            <a:off x="6897433" y="7754683"/>
            <a:ext cx="911732" cy="892682"/>
          </a:xfrm>
          <a:prstGeom prst="rect">
            <a:avLst/>
          </a:prstGeom>
          <a:solidFill>
            <a:srgbClr val="FFF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ell_r7_c6" descr="Editable shape; source id cell_r7_c6"/>
          <p:cNvSpPr/>
          <p:nvPr/>
        </p:nvSpPr>
        <p:spPr>
          <a:xfrm>
            <a:off x="7888033" y="7754683"/>
            <a:ext cx="892682" cy="892682"/>
          </a:xfrm>
          <a:prstGeom prst="rect">
            <a:avLst/>
          </a:prstGeom>
          <a:solidFill>
            <a:srgbClr val="C6E8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cell_r7_c7" descr="Editable shape; source id cell_r7_c7"/>
          <p:cNvSpPr/>
          <p:nvPr/>
        </p:nvSpPr>
        <p:spPr>
          <a:xfrm>
            <a:off x="8859583" y="7754683"/>
            <a:ext cx="892682" cy="892682"/>
          </a:xfrm>
          <a:prstGeom prst="rect">
            <a:avLst/>
          </a:prstGeom>
          <a:solidFill>
            <a:srgbClr val="00452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3" name="y_tick_1" descr="Editable line; source id y_tick_1"/>
          <p:cNvCxnSpPr/>
          <p:nvPr/>
        </p:nvCxnSpPr>
        <p:spPr>
          <a:xfrm>
            <a:off x="2857499" y="2343149"/>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4" name="y_tick_2" descr="Editable line; source id y_tick_2"/>
          <p:cNvCxnSpPr/>
          <p:nvPr/>
        </p:nvCxnSpPr>
        <p:spPr>
          <a:xfrm>
            <a:off x="2857499" y="332422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5" name="y_tick_3" descr="Editable line; source id y_tick_3"/>
          <p:cNvCxnSpPr/>
          <p:nvPr/>
        </p:nvCxnSpPr>
        <p:spPr>
          <a:xfrm>
            <a:off x="2857499" y="4305299"/>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6" name="y_tick_4" descr="Editable line; source id y_tick_4"/>
          <p:cNvCxnSpPr/>
          <p:nvPr/>
        </p:nvCxnSpPr>
        <p:spPr>
          <a:xfrm>
            <a:off x="2857499" y="5276849"/>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7" name="y_tick_5" descr="Editable line; source id y_tick_5"/>
          <p:cNvCxnSpPr/>
          <p:nvPr/>
        </p:nvCxnSpPr>
        <p:spPr>
          <a:xfrm>
            <a:off x="2857499" y="625792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8" name="y_tick_6" descr="Editable line; source id y_tick_6"/>
          <p:cNvCxnSpPr/>
          <p:nvPr/>
        </p:nvCxnSpPr>
        <p:spPr>
          <a:xfrm>
            <a:off x="2857499" y="7238999"/>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9" name="y_tick_7" descr="Editable line; source id y_tick_7"/>
          <p:cNvCxnSpPr/>
          <p:nvPr/>
        </p:nvCxnSpPr>
        <p:spPr>
          <a:xfrm>
            <a:off x="2857499" y="8210549"/>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0" name="x_tick_1" descr="Editable line; source id x_tick_1"/>
          <p:cNvCxnSpPr/>
          <p:nvPr/>
        </p:nvCxnSpPr>
        <p:spPr>
          <a:xfrm>
            <a:off x="3438524"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1" name="x_tick_2" descr="Editable line; source id x_tick_2"/>
          <p:cNvCxnSpPr/>
          <p:nvPr/>
        </p:nvCxnSpPr>
        <p:spPr>
          <a:xfrm>
            <a:off x="4419599"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2" name="x_tick_3" descr="Editable line; source id x_tick_3"/>
          <p:cNvCxnSpPr/>
          <p:nvPr/>
        </p:nvCxnSpPr>
        <p:spPr>
          <a:xfrm>
            <a:off x="5400674"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3" name="x_tick_4" descr="Editable line; source id x_tick_4"/>
          <p:cNvCxnSpPr/>
          <p:nvPr/>
        </p:nvCxnSpPr>
        <p:spPr>
          <a:xfrm>
            <a:off x="6372224"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4" name="x_tick_5" descr="Editable line; source id x_tick_5"/>
          <p:cNvCxnSpPr/>
          <p:nvPr/>
        </p:nvCxnSpPr>
        <p:spPr>
          <a:xfrm>
            <a:off x="7353299"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5" name="x_tick_6" descr="Editable line; source id x_tick_6"/>
          <p:cNvCxnSpPr/>
          <p:nvPr/>
        </p:nvCxnSpPr>
        <p:spPr>
          <a:xfrm>
            <a:off x="8334374"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6" name="x_tick_7" descr="Editable line; source id x_tick_7"/>
          <p:cNvCxnSpPr/>
          <p:nvPr/>
        </p:nvCxnSpPr>
        <p:spPr>
          <a:xfrm>
            <a:off x="9305924" y="1762124"/>
            <a:ext cx="0" cy="7620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7" name="colorbar_tick_line_0" descr="Editable line; source id colorbar_tick_line_0"/>
          <p:cNvCxnSpPr/>
          <p:nvPr/>
        </p:nvCxnSpPr>
        <p:spPr>
          <a:xfrm>
            <a:off x="10677524" y="869632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8" name="colorbar_tick_line_1" descr="Editable line; source id colorbar_tick_line_1"/>
          <p:cNvCxnSpPr/>
          <p:nvPr/>
        </p:nvCxnSpPr>
        <p:spPr>
          <a:xfrm>
            <a:off x="10677524" y="761047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9" name="colorbar_tick_line_2" descr="Editable line; source id colorbar_tick_line_2"/>
          <p:cNvCxnSpPr/>
          <p:nvPr/>
        </p:nvCxnSpPr>
        <p:spPr>
          <a:xfrm>
            <a:off x="10677524" y="652462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70" name="colorbar_tick_line_3" descr="Editable line; source id colorbar_tick_line_3"/>
          <p:cNvCxnSpPr/>
          <p:nvPr/>
        </p:nvCxnSpPr>
        <p:spPr>
          <a:xfrm>
            <a:off x="10677524" y="543877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71" name="colorbar_tick_line_4" descr="Editable line; source id colorbar_tick_line_4"/>
          <p:cNvCxnSpPr/>
          <p:nvPr/>
        </p:nvCxnSpPr>
        <p:spPr>
          <a:xfrm>
            <a:off x="10677524" y="435292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72" name="colorbar_tick_line_5" descr="Editable line; source id colorbar_tick_line_5"/>
          <p:cNvCxnSpPr/>
          <p:nvPr/>
        </p:nvCxnSpPr>
        <p:spPr>
          <a:xfrm>
            <a:off x="10677524" y="326707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73" name="colorbar_tick_line_6" descr="Editable line; source id colorbar_tick_line_6"/>
          <p:cNvCxnSpPr/>
          <p:nvPr/>
        </p:nvCxnSpPr>
        <p:spPr>
          <a:xfrm>
            <a:off x="10677524" y="2181224"/>
            <a:ext cx="85725" cy="0"/>
          </a:xfrm>
          <a:prstGeom prst="line">
            <a:avLst/>
          </a:prstGeom>
          <a:ln w="15239">
            <a:solidFill>
              <a:srgbClr val="000000"/>
            </a:solidFill>
          </a:ln>
          <a:effectLst/>
        </p:spPr>
        <p:style>
          <a:lnRef idx="2">
            <a:schemeClr val="accent1"/>
          </a:lnRef>
          <a:fillRef idx="0">
            <a:schemeClr val="accent1"/>
          </a:fillRef>
          <a:effectRef idx="0">
            <a:schemeClr val="accent1"/>
          </a:effectRef>
          <a:fontRef idx="minor">
            <a:schemeClr val="tx1"/>
          </a:fontRef>
        </p:style>
      </p:cxnSp>
      <p:pic>
        <p:nvPicPr>
          <p:cNvPr id="74" name="top_coordinate_labels_30deg" descr="Exact independent source crop [100,10,497,91] from sole supplied heatmap; arbitrary 30-degree native text rotation unsupported by frozen scene schema. All seven labels retained as raster and transcribed in slide notes."/>
          <p:cNvPicPr>
            <a:picLocks noChangeAspect="1"/>
          </p:cNvPicPr>
          <p:nvPr/>
        </p:nvPicPr>
        <p:blipFill>
          <a:blip r:embed="rId2"/>
          <a:stretch>
            <a:fillRect/>
          </a:stretch>
        </p:blipFill>
        <p:spPr>
          <a:xfrm>
            <a:off x="1904999" y="190499"/>
            <a:ext cx="7562849" cy="1543049"/>
          </a:xfrm>
          <a:prstGeom prst="rect">
            <a:avLst/>
          </a:prstGeom>
          <a:effectLst/>
        </p:spPr>
      </p:pic>
      <p:sp>
        <p:nvSpPr>
          <p:cNvPr id="75" name="value_r1_c1" descr="Editable text; source id value_r1_c1"/>
          <p:cNvSpPr txBox="1"/>
          <p:nvPr/>
        </p:nvSpPr>
        <p:spPr>
          <a:xfrm>
            <a:off x="3038474"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0.8 t</a:t>
            </a:r>
          </a:p>
        </p:txBody>
      </p:sp>
      <p:sp>
        <p:nvSpPr>
          <p:cNvPr id="76" name="value_r1_c2" descr="Editable text; source id value_r1_c2"/>
          <p:cNvSpPr txBox="1"/>
          <p:nvPr/>
        </p:nvSpPr>
        <p:spPr>
          <a:xfrm>
            <a:off x="4019549"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2.4 t</a:t>
            </a:r>
          </a:p>
        </p:txBody>
      </p:sp>
      <p:sp>
        <p:nvSpPr>
          <p:cNvPr id="77" name="value_r1_c3" descr="Editable text; source id value_r1_c3"/>
          <p:cNvSpPr txBox="1"/>
          <p:nvPr/>
        </p:nvSpPr>
        <p:spPr>
          <a:xfrm>
            <a:off x="5000624"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2.5 t</a:t>
            </a:r>
          </a:p>
        </p:txBody>
      </p:sp>
      <p:sp>
        <p:nvSpPr>
          <p:cNvPr id="78" name="value_r1_c4" descr="Editable text; source id value_r1_c4"/>
          <p:cNvSpPr txBox="1"/>
          <p:nvPr/>
        </p:nvSpPr>
        <p:spPr>
          <a:xfrm>
            <a:off x="5972174"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3.9 t</a:t>
            </a:r>
          </a:p>
        </p:txBody>
      </p:sp>
      <p:sp>
        <p:nvSpPr>
          <p:cNvPr id="79" name="value_r1_c5" descr="Editable text; source id value_r1_c5"/>
          <p:cNvSpPr txBox="1"/>
          <p:nvPr/>
        </p:nvSpPr>
        <p:spPr>
          <a:xfrm>
            <a:off x="6953249"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80" name="value_r1_c6" descr="Editable text; source id value_r1_c6"/>
          <p:cNvSpPr txBox="1"/>
          <p:nvPr/>
        </p:nvSpPr>
        <p:spPr>
          <a:xfrm>
            <a:off x="7934324"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4.0 t</a:t>
            </a:r>
          </a:p>
        </p:txBody>
      </p:sp>
      <p:sp>
        <p:nvSpPr>
          <p:cNvPr id="81" name="value_r1_c7" descr="Editable text; source id value_r1_c7"/>
          <p:cNvSpPr txBox="1"/>
          <p:nvPr/>
        </p:nvSpPr>
        <p:spPr>
          <a:xfrm>
            <a:off x="8905874" y="20859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82" name="value_r2_c1" descr="Editable text; source id value_r2_c1"/>
          <p:cNvSpPr txBox="1"/>
          <p:nvPr/>
        </p:nvSpPr>
        <p:spPr>
          <a:xfrm>
            <a:off x="3038474"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2.4 t</a:t>
            </a:r>
          </a:p>
        </p:txBody>
      </p:sp>
      <p:sp>
        <p:nvSpPr>
          <p:cNvPr id="83" name="value_r2_c2" descr="Editable text; source id value_r2_c2"/>
          <p:cNvSpPr txBox="1"/>
          <p:nvPr/>
        </p:nvSpPr>
        <p:spPr>
          <a:xfrm>
            <a:off x="4019549"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84" name="value_r2_c3" descr="Editable text; source id value_r2_c3"/>
          <p:cNvSpPr txBox="1"/>
          <p:nvPr/>
        </p:nvSpPr>
        <p:spPr>
          <a:xfrm>
            <a:off x="5000624"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4.0 t</a:t>
            </a:r>
          </a:p>
        </p:txBody>
      </p:sp>
      <p:sp>
        <p:nvSpPr>
          <p:cNvPr id="85" name="value_r2_c4" descr="Editable text; source id value_r2_c4"/>
          <p:cNvSpPr txBox="1"/>
          <p:nvPr/>
        </p:nvSpPr>
        <p:spPr>
          <a:xfrm>
            <a:off x="5972174"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1.0 t</a:t>
            </a:r>
          </a:p>
        </p:txBody>
      </p:sp>
      <p:sp>
        <p:nvSpPr>
          <p:cNvPr id="86" name="value_r2_c5" descr="Editable text; source id value_r2_c5"/>
          <p:cNvSpPr txBox="1"/>
          <p:nvPr/>
        </p:nvSpPr>
        <p:spPr>
          <a:xfrm>
            <a:off x="6953249"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2.7 t</a:t>
            </a:r>
          </a:p>
        </p:txBody>
      </p:sp>
      <p:sp>
        <p:nvSpPr>
          <p:cNvPr id="87" name="value_r2_c6" descr="Editable text; source id value_r2_c6"/>
          <p:cNvSpPr txBox="1"/>
          <p:nvPr/>
        </p:nvSpPr>
        <p:spPr>
          <a:xfrm>
            <a:off x="7934324"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88" name="value_r2_c7" descr="Editable text; source id value_r2_c7"/>
          <p:cNvSpPr txBox="1"/>
          <p:nvPr/>
        </p:nvSpPr>
        <p:spPr>
          <a:xfrm>
            <a:off x="8905874" y="30670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89" name="value_r3_c1" descr="Editable text; source id value_r3_c1"/>
          <p:cNvSpPr txBox="1"/>
          <p:nvPr/>
        </p:nvSpPr>
        <p:spPr>
          <a:xfrm>
            <a:off x="3038474"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1.1 t</a:t>
            </a:r>
          </a:p>
        </p:txBody>
      </p:sp>
      <p:sp>
        <p:nvSpPr>
          <p:cNvPr id="90" name="value_r3_c2" descr="Editable text; source id value_r3_c2"/>
          <p:cNvSpPr txBox="1"/>
          <p:nvPr/>
        </p:nvSpPr>
        <p:spPr>
          <a:xfrm>
            <a:off x="4019549"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2.4 t</a:t>
            </a:r>
          </a:p>
        </p:txBody>
      </p:sp>
      <p:sp>
        <p:nvSpPr>
          <p:cNvPr id="91" name="value_r3_c3" descr="Editable text; source id value_r3_c3"/>
          <p:cNvSpPr txBox="1"/>
          <p:nvPr/>
        </p:nvSpPr>
        <p:spPr>
          <a:xfrm>
            <a:off x="5000624"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0.8 t</a:t>
            </a:r>
          </a:p>
        </p:txBody>
      </p:sp>
      <p:sp>
        <p:nvSpPr>
          <p:cNvPr id="92" name="value_r3_c4" descr="Editable text; source id value_r3_c4"/>
          <p:cNvSpPr txBox="1"/>
          <p:nvPr/>
        </p:nvSpPr>
        <p:spPr>
          <a:xfrm>
            <a:off x="5972174"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4.3 t</a:t>
            </a:r>
          </a:p>
        </p:txBody>
      </p:sp>
      <p:sp>
        <p:nvSpPr>
          <p:cNvPr id="93" name="value_r3_c5" descr="Editable text; source id value_r3_c5"/>
          <p:cNvSpPr txBox="1"/>
          <p:nvPr/>
        </p:nvSpPr>
        <p:spPr>
          <a:xfrm>
            <a:off x="6953249"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1.9 t</a:t>
            </a:r>
          </a:p>
        </p:txBody>
      </p:sp>
      <p:sp>
        <p:nvSpPr>
          <p:cNvPr id="94" name="value_r3_c6" descr="Editable text; source id value_r3_c6"/>
          <p:cNvSpPr txBox="1"/>
          <p:nvPr/>
        </p:nvSpPr>
        <p:spPr>
          <a:xfrm>
            <a:off x="7934324"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4.4 t</a:t>
            </a:r>
          </a:p>
        </p:txBody>
      </p:sp>
      <p:sp>
        <p:nvSpPr>
          <p:cNvPr id="95" name="value_r3_c7" descr="Editable text; source id value_r3_c7"/>
          <p:cNvSpPr txBox="1"/>
          <p:nvPr/>
        </p:nvSpPr>
        <p:spPr>
          <a:xfrm>
            <a:off x="8905874" y="40481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96" name="value_r4_c1" descr="Editable text; source id value_r4_c1"/>
          <p:cNvSpPr txBox="1"/>
          <p:nvPr/>
        </p:nvSpPr>
        <p:spPr>
          <a:xfrm>
            <a:off x="3038474"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0.6 t</a:t>
            </a:r>
          </a:p>
        </p:txBody>
      </p:sp>
      <p:sp>
        <p:nvSpPr>
          <p:cNvPr id="97" name="value_r4_c2" descr="Editable text; source id value_r4_c2"/>
          <p:cNvSpPr txBox="1"/>
          <p:nvPr/>
        </p:nvSpPr>
        <p:spPr>
          <a:xfrm>
            <a:off x="4019549"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98" name="value_r4_c3" descr="Editable text; source id value_r4_c3"/>
          <p:cNvSpPr txBox="1"/>
          <p:nvPr/>
        </p:nvSpPr>
        <p:spPr>
          <a:xfrm>
            <a:off x="5000624"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0.3 t</a:t>
            </a:r>
          </a:p>
        </p:txBody>
      </p:sp>
      <p:sp>
        <p:nvSpPr>
          <p:cNvPr id="99" name="value_r4_c4" descr="Editable text; source id value_r4_c4"/>
          <p:cNvSpPr txBox="1"/>
          <p:nvPr/>
        </p:nvSpPr>
        <p:spPr>
          <a:xfrm>
            <a:off x="5972174"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00" name="value_r4_c5" descr="Editable text; source id value_r4_c5"/>
          <p:cNvSpPr txBox="1"/>
          <p:nvPr/>
        </p:nvSpPr>
        <p:spPr>
          <a:xfrm>
            <a:off x="6953249"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3.1 t</a:t>
            </a:r>
          </a:p>
        </p:txBody>
      </p:sp>
      <p:sp>
        <p:nvSpPr>
          <p:cNvPr id="101" name="value_r4_c6" descr="Editable text; source id value_r4_c6"/>
          <p:cNvSpPr txBox="1"/>
          <p:nvPr/>
        </p:nvSpPr>
        <p:spPr>
          <a:xfrm>
            <a:off x="7934324"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02" name="value_r4_c7" descr="Editable text; source id value_r4_c7"/>
          <p:cNvSpPr txBox="1"/>
          <p:nvPr/>
        </p:nvSpPr>
        <p:spPr>
          <a:xfrm>
            <a:off x="8905874" y="50196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03" name="value_r5_c1" descr="Editable text; source id value_r5_c1"/>
          <p:cNvSpPr txBox="1"/>
          <p:nvPr/>
        </p:nvSpPr>
        <p:spPr>
          <a:xfrm>
            <a:off x="3038474"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0.7 t</a:t>
            </a:r>
          </a:p>
        </p:txBody>
      </p:sp>
      <p:sp>
        <p:nvSpPr>
          <p:cNvPr id="104" name="value_r5_c2" descr="Editable text; source id value_r5_c2"/>
          <p:cNvSpPr txBox="1"/>
          <p:nvPr/>
        </p:nvSpPr>
        <p:spPr>
          <a:xfrm>
            <a:off x="4019549"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1.7 t</a:t>
            </a:r>
          </a:p>
        </p:txBody>
      </p:sp>
      <p:sp>
        <p:nvSpPr>
          <p:cNvPr id="105" name="value_r5_c3" descr="Editable text; source id value_r5_c3"/>
          <p:cNvSpPr txBox="1"/>
          <p:nvPr/>
        </p:nvSpPr>
        <p:spPr>
          <a:xfrm>
            <a:off x="5000624"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0.6 t</a:t>
            </a:r>
          </a:p>
        </p:txBody>
      </p:sp>
      <p:sp>
        <p:nvSpPr>
          <p:cNvPr id="106" name="value_r5_c4" descr="Editable text; source id value_r5_c4"/>
          <p:cNvSpPr txBox="1"/>
          <p:nvPr/>
        </p:nvSpPr>
        <p:spPr>
          <a:xfrm>
            <a:off x="5972174"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2.6 t</a:t>
            </a:r>
          </a:p>
        </p:txBody>
      </p:sp>
      <p:sp>
        <p:nvSpPr>
          <p:cNvPr id="107" name="value_r5_c5" descr="Editable text; source id value_r5_c5"/>
          <p:cNvSpPr txBox="1"/>
          <p:nvPr/>
        </p:nvSpPr>
        <p:spPr>
          <a:xfrm>
            <a:off x="6953249"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2.2 t</a:t>
            </a:r>
          </a:p>
        </p:txBody>
      </p:sp>
      <p:sp>
        <p:nvSpPr>
          <p:cNvPr id="108" name="value_r5_c6" descr="Editable text; source id value_r5_c6"/>
          <p:cNvSpPr txBox="1"/>
          <p:nvPr/>
        </p:nvSpPr>
        <p:spPr>
          <a:xfrm>
            <a:off x="7934324"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6.2 t</a:t>
            </a:r>
          </a:p>
        </p:txBody>
      </p:sp>
      <p:sp>
        <p:nvSpPr>
          <p:cNvPr id="109" name="value_r5_c7" descr="Editable text; source id value_r5_c7"/>
          <p:cNvSpPr txBox="1"/>
          <p:nvPr/>
        </p:nvSpPr>
        <p:spPr>
          <a:xfrm>
            <a:off x="8905874" y="6000749"/>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10" name="value_r6_c1" descr="Editable text; source id value_r6_c1"/>
          <p:cNvSpPr txBox="1"/>
          <p:nvPr/>
        </p:nvSpPr>
        <p:spPr>
          <a:xfrm>
            <a:off x="3038474"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1.3 t</a:t>
            </a:r>
          </a:p>
        </p:txBody>
      </p:sp>
      <p:sp>
        <p:nvSpPr>
          <p:cNvPr id="111" name="value_r6_c2" descr="Editable text; source id value_r6_c2"/>
          <p:cNvSpPr txBox="1"/>
          <p:nvPr/>
        </p:nvSpPr>
        <p:spPr>
          <a:xfrm>
            <a:off x="4019549"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1.2 t</a:t>
            </a:r>
          </a:p>
        </p:txBody>
      </p:sp>
      <p:sp>
        <p:nvSpPr>
          <p:cNvPr id="112" name="value_r6_c3" descr="Editable text; source id value_r6_c3"/>
          <p:cNvSpPr txBox="1"/>
          <p:nvPr/>
        </p:nvSpPr>
        <p:spPr>
          <a:xfrm>
            <a:off x="5000624"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13" name="value_r6_c4" descr="Editable text; source id value_r6_c4"/>
          <p:cNvSpPr txBox="1"/>
          <p:nvPr/>
        </p:nvSpPr>
        <p:spPr>
          <a:xfrm>
            <a:off x="5972174"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14" name="value_r6_c5" descr="Editable text; source id value_r6_c5"/>
          <p:cNvSpPr txBox="1"/>
          <p:nvPr/>
        </p:nvSpPr>
        <p:spPr>
          <a:xfrm>
            <a:off x="6953249"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15" name="value_r6_c6" descr="Editable text; source id value_r6_c6"/>
          <p:cNvSpPr txBox="1"/>
          <p:nvPr/>
        </p:nvSpPr>
        <p:spPr>
          <a:xfrm>
            <a:off x="7934324"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3.2 t</a:t>
            </a:r>
          </a:p>
        </p:txBody>
      </p:sp>
      <p:sp>
        <p:nvSpPr>
          <p:cNvPr id="116" name="value_r6_c7" descr="Editable text; source id value_r6_c7"/>
          <p:cNvSpPr txBox="1"/>
          <p:nvPr/>
        </p:nvSpPr>
        <p:spPr>
          <a:xfrm>
            <a:off x="8905874" y="698182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5.1 t</a:t>
            </a:r>
          </a:p>
        </p:txBody>
      </p:sp>
      <p:sp>
        <p:nvSpPr>
          <p:cNvPr id="117" name="value_r7_c1" descr="Editable text; source id value_r7_c1"/>
          <p:cNvSpPr txBox="1"/>
          <p:nvPr/>
        </p:nvSpPr>
        <p:spPr>
          <a:xfrm>
            <a:off x="3038474"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0.1 t</a:t>
            </a:r>
          </a:p>
        </p:txBody>
      </p:sp>
      <p:sp>
        <p:nvSpPr>
          <p:cNvPr id="118" name="value_r7_c2" descr="Editable text; source id value_r7_c2"/>
          <p:cNvSpPr txBox="1"/>
          <p:nvPr/>
        </p:nvSpPr>
        <p:spPr>
          <a:xfrm>
            <a:off x="4019549"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2.0 t</a:t>
            </a:r>
          </a:p>
        </p:txBody>
      </p:sp>
      <p:sp>
        <p:nvSpPr>
          <p:cNvPr id="119" name="value_r7_c3" descr="Editable text; source id value_r7_c3"/>
          <p:cNvSpPr txBox="1"/>
          <p:nvPr/>
        </p:nvSpPr>
        <p:spPr>
          <a:xfrm>
            <a:off x="5000624"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20" name="value_r7_c4" descr="Editable text; source id value_r7_c4"/>
          <p:cNvSpPr txBox="1"/>
          <p:nvPr/>
        </p:nvSpPr>
        <p:spPr>
          <a:xfrm>
            <a:off x="5972174"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1.4 t</a:t>
            </a:r>
          </a:p>
        </p:txBody>
      </p:sp>
      <p:sp>
        <p:nvSpPr>
          <p:cNvPr id="121" name="value_r7_c5" descr="Editable text; source id value_r7_c5"/>
          <p:cNvSpPr txBox="1"/>
          <p:nvPr/>
        </p:nvSpPr>
        <p:spPr>
          <a:xfrm>
            <a:off x="6953249"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0.0 t</a:t>
            </a:r>
          </a:p>
        </p:txBody>
      </p:sp>
      <p:sp>
        <p:nvSpPr>
          <p:cNvPr id="122" name="value_r7_c6" descr="Editable text; source id value_r7_c6"/>
          <p:cNvSpPr txBox="1"/>
          <p:nvPr/>
        </p:nvSpPr>
        <p:spPr>
          <a:xfrm>
            <a:off x="7934324"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1.9 t</a:t>
            </a:r>
          </a:p>
        </p:txBody>
      </p:sp>
      <p:sp>
        <p:nvSpPr>
          <p:cNvPr id="123" name="value_r7_c7" descr="Editable text; source id value_r7_c7"/>
          <p:cNvSpPr txBox="1"/>
          <p:nvPr/>
        </p:nvSpPr>
        <p:spPr>
          <a:xfrm>
            <a:off x="8905874" y="7953374"/>
            <a:ext cx="8000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FFFFFF"/>
                </a:solidFill>
                <a:latin typeface="DejaVu Sans"/>
                <a:ea typeface="DejaVu Sans"/>
                <a:cs typeface="DejaVu Sans"/>
              </a:defRPr>
            </a:pPr>
            <a:r>
              <a:rPr sz="2083" b="0" i="0" lang="zh-CN" dirty="0">
                <a:solidFill>
                  <a:srgbClr val="FFFFFF"/>
                </a:solidFill>
                <a:latin typeface="DejaVu Sans"/>
                <a:ea typeface="DejaVu Sans"/>
                <a:cs typeface="DejaVu Sans"/>
              </a:rPr>
              <a:t>6.3 t</a:t>
            </a:r>
          </a:p>
        </p:txBody>
      </p:sp>
      <p:sp>
        <p:nvSpPr>
          <p:cNvPr id="124" name="row_label_1" descr="Editable text; source id row_label_1"/>
          <p:cNvSpPr txBox="1"/>
          <p:nvPr/>
        </p:nvSpPr>
        <p:spPr>
          <a:xfrm>
            <a:off x="1162049" y="2105024"/>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cucumber</a:t>
            </a:r>
          </a:p>
        </p:txBody>
      </p:sp>
      <p:sp>
        <p:nvSpPr>
          <p:cNvPr id="125" name="row_label_2" descr="Editable text; source id row_label_2"/>
          <p:cNvSpPr txBox="1"/>
          <p:nvPr/>
        </p:nvSpPr>
        <p:spPr>
          <a:xfrm>
            <a:off x="1162049" y="3086099"/>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tomato</a:t>
            </a:r>
          </a:p>
        </p:txBody>
      </p:sp>
      <p:sp>
        <p:nvSpPr>
          <p:cNvPr id="126" name="row_label_3" descr="Editable text; source id row_label_3"/>
          <p:cNvSpPr txBox="1"/>
          <p:nvPr/>
        </p:nvSpPr>
        <p:spPr>
          <a:xfrm>
            <a:off x="1162049" y="4067174"/>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lettuce</a:t>
            </a:r>
          </a:p>
        </p:txBody>
      </p:sp>
      <p:sp>
        <p:nvSpPr>
          <p:cNvPr id="127" name="row_label_4" descr="Editable text; source id row_label_4"/>
          <p:cNvSpPr txBox="1"/>
          <p:nvPr/>
        </p:nvSpPr>
        <p:spPr>
          <a:xfrm>
            <a:off x="1162049" y="5038724"/>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asparagus</a:t>
            </a:r>
          </a:p>
        </p:txBody>
      </p:sp>
      <p:sp>
        <p:nvSpPr>
          <p:cNvPr id="128" name="row_label_5" descr="Editable text; source id row_label_5"/>
          <p:cNvSpPr txBox="1"/>
          <p:nvPr/>
        </p:nvSpPr>
        <p:spPr>
          <a:xfrm>
            <a:off x="1162049" y="6019799"/>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potato</a:t>
            </a:r>
          </a:p>
        </p:txBody>
      </p:sp>
      <p:sp>
        <p:nvSpPr>
          <p:cNvPr id="129" name="row_label_6" descr="Editable text; source id row_label_6"/>
          <p:cNvSpPr txBox="1"/>
          <p:nvPr/>
        </p:nvSpPr>
        <p:spPr>
          <a:xfrm>
            <a:off x="1162049" y="7000874"/>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wheat</a:t>
            </a:r>
          </a:p>
        </p:txBody>
      </p:sp>
      <p:sp>
        <p:nvSpPr>
          <p:cNvPr id="130" name="row_label_7" descr="Editable text; source id row_label_7"/>
          <p:cNvSpPr txBox="1"/>
          <p:nvPr/>
        </p:nvSpPr>
        <p:spPr>
          <a:xfrm>
            <a:off x="1162049" y="7972424"/>
            <a:ext cx="1600199" cy="457199"/>
          </a:xfrm>
          <a:prstGeom prst="rect">
            <a:avLst/>
          </a:prstGeom>
          <a:noFill/>
          <a:effectLst/>
        </p:spPr>
        <p:txBody>
          <a:bodyPr wrap="none" anchor="ctr" tIns="0" rIns="0" bIns="0" lIns="0" anchorCtr="0" vertOverflow="overflow">
            <a:noAutofit/>
          </a:bodyPr>
          <a:lstStyle/>
          <a:p>
            <a:pPr algn="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barley</a:t>
            </a:r>
          </a:p>
        </p:txBody>
      </p:sp>
      <p:sp>
        <p:nvSpPr>
          <p:cNvPr id="131" name="colorbar_tick_0" descr="Editable text; source id colorbar_tick_0"/>
          <p:cNvSpPr txBox="1"/>
          <p:nvPr/>
        </p:nvSpPr>
        <p:spPr>
          <a:xfrm>
            <a:off x="10782299" y="846772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0</a:t>
            </a:r>
          </a:p>
        </p:txBody>
      </p:sp>
      <p:sp>
        <p:nvSpPr>
          <p:cNvPr id="132" name="colorbar_tick_1" descr="Editable text; source id colorbar_tick_1"/>
          <p:cNvSpPr txBox="1"/>
          <p:nvPr/>
        </p:nvSpPr>
        <p:spPr>
          <a:xfrm>
            <a:off x="10782299" y="738187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1</a:t>
            </a:r>
          </a:p>
        </p:txBody>
      </p:sp>
      <p:sp>
        <p:nvSpPr>
          <p:cNvPr id="133" name="colorbar_tick_2" descr="Editable text; source id colorbar_tick_2"/>
          <p:cNvSpPr txBox="1"/>
          <p:nvPr/>
        </p:nvSpPr>
        <p:spPr>
          <a:xfrm>
            <a:off x="10782299" y="629602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2</a:t>
            </a:r>
          </a:p>
        </p:txBody>
      </p:sp>
      <p:sp>
        <p:nvSpPr>
          <p:cNvPr id="134" name="colorbar_tick_3" descr="Editable text; source id colorbar_tick_3"/>
          <p:cNvSpPr txBox="1"/>
          <p:nvPr/>
        </p:nvSpPr>
        <p:spPr>
          <a:xfrm>
            <a:off x="10782299" y="521017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3</a:t>
            </a:r>
          </a:p>
        </p:txBody>
      </p:sp>
      <p:sp>
        <p:nvSpPr>
          <p:cNvPr id="135" name="colorbar_tick_4" descr="Editable text; source id colorbar_tick_4"/>
          <p:cNvSpPr txBox="1"/>
          <p:nvPr/>
        </p:nvSpPr>
        <p:spPr>
          <a:xfrm>
            <a:off x="10782299" y="412432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4</a:t>
            </a:r>
          </a:p>
        </p:txBody>
      </p:sp>
      <p:sp>
        <p:nvSpPr>
          <p:cNvPr id="136" name="colorbar_tick_5" descr="Editable text; source id colorbar_tick_5"/>
          <p:cNvSpPr txBox="1"/>
          <p:nvPr/>
        </p:nvSpPr>
        <p:spPr>
          <a:xfrm>
            <a:off x="10782299" y="303847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5</a:t>
            </a:r>
          </a:p>
        </p:txBody>
      </p:sp>
      <p:sp>
        <p:nvSpPr>
          <p:cNvPr id="137" name="colorbar_tick_6" descr="Editable text; source id colorbar_tick_6"/>
          <p:cNvSpPr txBox="1"/>
          <p:nvPr/>
        </p:nvSpPr>
        <p:spPr>
          <a:xfrm>
            <a:off x="10782299" y="1952624"/>
            <a:ext cx="304799" cy="4571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6</a:t>
            </a:r>
          </a:p>
        </p:txBody>
      </p:sp>
      <p:sp>
        <p:nvSpPr>
          <p:cNvPr id="138" name="colorbar_label" descr="Editable text; source id colorbar_label"/>
          <p:cNvSpPr txBox="1"/>
          <p:nvPr/>
        </p:nvSpPr>
        <p:spPr>
          <a:xfrm rot="5400000">
            <a:off x="10153649" y="5048249"/>
            <a:ext cx="2285999" cy="419099"/>
          </a:xfrm>
          <a:prstGeom prst="rect">
            <a:avLst/>
          </a:prstGeom>
          <a:noFill/>
          <a:effectLst/>
        </p:spPr>
        <p:txBody>
          <a:bodyPr wrap="none" anchor="ctr" tIns="0" rIns="0" bIns="0" lIns="0" anchorCtr="0" vertOverflow="overflow">
            <a:noAutofit/>
          </a:bodyPr>
          <a:lstStyle/>
          <a:p>
            <a:pPr algn="ctr" fontAlgn="base">
              <a:lnSpc>
                <a:spcPts val="2474"/>
              </a:lnSpc>
              <a:spcBef>
                <a:spcPts val="0"/>
              </a:spcBef>
              <a:spcAft>
                <a:spcPts val="0"/>
              </a:spcAft>
              <a:defRPr sz="2083" b="0" i="0" lang="zh-CN" dirty="0">
                <a:solidFill>
                  <a:srgbClr val="000000"/>
                </a:solidFill>
                <a:latin typeface="DejaVu Sans"/>
                <a:ea typeface="DejaVu Sans"/>
                <a:cs typeface="DejaVu Sans"/>
              </a:defRPr>
            </a:pPr>
            <a:r>
              <a:rPr sz="2083" b="0" i="0" lang="zh-CN" dirty="0">
                <a:solidFill>
                  <a:srgbClr val="000000"/>
                </a:solidFill>
                <a:latin typeface="DejaVu Sans"/>
                <a:ea typeface="DejaVu Sans"/>
                <a:cs typeface="DejaVu Sans"/>
              </a:rPr>
              <a:t>harvest [t/year]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Published heatmap raster reconstruction — independent frozen skill evaluation</dc:title>
  <dc:subject>Reconstructed from source images; see validation and font manifest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