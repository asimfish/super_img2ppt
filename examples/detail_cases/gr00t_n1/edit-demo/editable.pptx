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71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GR00T N1, NVIDIA et al., arXiv:2503.14734v2, Figure 3 page 4, 27 March 2025. Paper CC BY 4.0 https://creativecommons.org/licenses/by/4.0/. Native reconstruction from raster; two photographic/robot-art crops remain raster.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54" name="vision_module" descr="Move the module body and its complete editable label together; each label line stays one text object."/>
          <p:cNvGrpSpPr/>
          <p:nvPr/>
        </p:nvGrpSpPr>
        <p:grpSpPr>
          <a:xfrm>
            <a:off x="2011583" y="128947"/>
            <a:ext cx="1160528" cy="1347502"/>
            <a:chOff x="2011583" y="128947"/>
            <a:chExt cx="1160528" cy="1347502"/>
          </a:xfrm>
        </p:grpSpPr>
        <p:sp>
          <p:nvSpPr>
            <p:cNvPr id="2" name="vision" descr="Editable shape; source id vision"/>
            <p:cNvSpPr/>
            <p:nvPr/>
          </p:nvSpPr>
          <p:spPr>
            <a:xfrm>
              <a:off x="2043820" y="128947"/>
              <a:ext cx="1096054" cy="1347502"/>
            </a:xfrm>
            <a:prstGeom prst="roundRect">
              <a:avLst>
                <a:gd name="adj" fmla="val 19411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vision_label" descr="Editable text; source id vision_label"/>
            <p:cNvSpPr txBox="1"/>
            <p:nvPr/>
          </p:nvSpPr>
          <p:spPr>
            <a:xfrm>
              <a:off x="2011583" y="576301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Vision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55" name="tokenizer_module" descr="Move the module body and its complete editable label together; each label line stays one text object."/>
          <p:cNvGrpSpPr/>
          <p:nvPr/>
        </p:nvGrpSpPr>
        <p:grpSpPr>
          <a:xfrm>
            <a:off x="2011583" y="1682766"/>
            <a:ext cx="1160528" cy="593159"/>
            <a:chOff x="2011583" y="1682766"/>
            <a:chExt cx="1160528" cy="593159"/>
          </a:xfrm>
        </p:grpSpPr>
        <p:sp>
          <p:nvSpPr>
            <p:cNvPr id="4" name="tokenizer" descr="Editable shape; source id tokenizer"/>
            <p:cNvSpPr/>
            <p:nvPr/>
          </p:nvSpPr>
          <p:spPr>
            <a:xfrm>
              <a:off x="2043820" y="1682766"/>
              <a:ext cx="1096054" cy="593159"/>
            </a:xfrm>
            <a:prstGeom prst="roundRect">
              <a:avLst>
                <a:gd name="adj" fmla="val 27173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okenizer_label" descr="Editable text; source id tokenizer_label"/>
            <p:cNvSpPr txBox="1"/>
            <p:nvPr/>
          </p:nvSpPr>
          <p:spPr>
            <a:xfrm>
              <a:off x="2011583" y="1762662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Tokenizer</a:t>
              </a:r>
            </a:p>
          </p:txBody>
        </p:sp>
      </p:grpSp>
      <p:grpSp>
        <p:nvGrpSpPr>
          <p:cNvPr id="157" name="vlm_module" descr="Move the module body and its complete editable label together; each label line stays one text object."/>
          <p:cNvGrpSpPr/>
          <p:nvPr/>
        </p:nvGrpSpPr>
        <p:grpSpPr>
          <a:xfrm>
            <a:off x="3668560" y="64473"/>
            <a:ext cx="1192765" cy="2333952"/>
            <a:chOff x="3668560" y="64473"/>
            <a:chExt cx="1192765" cy="2333952"/>
          </a:xfrm>
        </p:grpSpPr>
        <p:sp>
          <p:nvSpPr>
            <p:cNvPr id="6" name="vlm" descr="Editable shape; source id vlm"/>
            <p:cNvSpPr/>
            <p:nvPr/>
          </p:nvSpPr>
          <p:spPr>
            <a:xfrm>
              <a:off x="3668560" y="64473"/>
              <a:ext cx="1192765" cy="2333952"/>
            </a:xfrm>
            <a:prstGeom prst="roundRect">
              <a:avLst>
                <a:gd name="adj" fmla="val 17837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vlm_label" descr="Editable text; source id vlm_label"/>
            <p:cNvSpPr txBox="1"/>
            <p:nvPr/>
          </p:nvSpPr>
          <p:spPr>
            <a:xfrm>
              <a:off x="3681455" y="100827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Eagle-2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VLM</a:t>
              </a:r>
            </a:p>
          </p:txBody>
        </p:sp>
        <p:grpSp>
          <p:nvGrpSpPr>
            <p:cNvPr id="156" name="vlm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4603492" y="186974"/>
              <a:ext cx="167508" cy="193421"/>
              <a:chOff x="4603492" y="186974"/>
              <a:chExt cx="167508" cy="193421"/>
            </a:xfrm>
          </p:grpSpPr>
          <p:cxnSp>
            <p:nvCxnSpPr>
              <p:cNvPr id="8" name="vlm_frozen_icon_arm_0" descr="Editable line; source id vlm_frozen_icon_arm_0"/>
              <p:cNvCxnSpPr/>
              <p:nvPr/>
            </p:nvCxnSpPr>
            <p:spPr>
              <a:xfrm flipV="1">
                <a:off x="4687246" y="186974"/>
                <a:ext cx="0" cy="96710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vlm_frozen_icon_twig_0_0" descr="Editable line; source id vlm_frozen_icon_twig_0_0"/>
              <p:cNvCxnSpPr/>
              <p:nvPr/>
            </p:nvCxnSpPr>
            <p:spPr>
              <a:xfrm flipH="1" flipV="1">
                <a:off x="4664036" y="202447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vlm_frozen_icon_twig_0_1" descr="Editable line; source id vlm_frozen_icon_twig_0_1"/>
              <p:cNvCxnSpPr/>
              <p:nvPr/>
            </p:nvCxnSpPr>
            <p:spPr>
              <a:xfrm flipV="1">
                <a:off x="4687246" y="202447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vlm_frozen_icon_arm_1" descr="Editable line; source id vlm_frozen_icon_arm_1"/>
              <p:cNvCxnSpPr/>
              <p:nvPr/>
            </p:nvCxnSpPr>
            <p:spPr>
              <a:xfrm flipV="1">
                <a:off x="4687246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vlm_frozen_icon_twig_1_0" descr="Editable line; source id vlm_frozen_icon_twig_1_0"/>
              <p:cNvCxnSpPr/>
              <p:nvPr/>
            </p:nvCxnSpPr>
            <p:spPr>
              <a:xfrm flipV="1">
                <a:off x="4734986" y="222965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vlm_frozen_icon_twig_1_1" descr="Editable line; source id vlm_frozen_icon_twig_1_1"/>
              <p:cNvCxnSpPr/>
              <p:nvPr/>
            </p:nvCxnSpPr>
            <p:spPr>
              <a:xfrm>
                <a:off x="4734986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vlm_frozen_icon_arm_2" descr="Editable line; source id vlm_frozen_icon_arm_2"/>
              <p:cNvCxnSpPr/>
              <p:nvPr/>
            </p:nvCxnSpPr>
            <p:spPr>
              <a:xfrm>
                <a:off x="4687246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vlm_frozen_icon_twig_2_0" descr="Editable line; source id vlm_frozen_icon_twig_2_0"/>
              <p:cNvCxnSpPr/>
              <p:nvPr/>
            </p:nvCxnSpPr>
            <p:spPr>
              <a:xfrm flipV="1">
                <a:off x="4734986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vlm_frozen_icon_twig_2_1" descr="Editable line; source id vlm_frozen_icon_twig_2_1"/>
              <p:cNvCxnSpPr/>
              <p:nvPr/>
            </p:nvCxnSpPr>
            <p:spPr>
              <a:xfrm>
                <a:off x="4734986" y="311247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vlm_frozen_icon_arm_3" descr="Editable line; source id vlm_frozen_icon_arm_3"/>
              <p:cNvCxnSpPr/>
              <p:nvPr/>
            </p:nvCxnSpPr>
            <p:spPr>
              <a:xfrm>
                <a:off x="4687246" y="283684"/>
                <a:ext cx="0" cy="96711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vlm_frozen_icon_twig_3_0" descr="Editable line; source id vlm_frozen_icon_twig_3_0"/>
              <p:cNvCxnSpPr/>
              <p:nvPr/>
            </p:nvCxnSpPr>
            <p:spPr>
              <a:xfrm>
                <a:off x="4687246" y="338809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vlm_frozen_icon_twig_3_1" descr="Editable line; source id vlm_frozen_icon_twig_3_1"/>
              <p:cNvCxnSpPr/>
              <p:nvPr/>
            </p:nvCxnSpPr>
            <p:spPr>
              <a:xfrm flipH="1">
                <a:off x="4664036" y="338809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vlm_frozen_icon_arm_4" descr="Editable line; source id vlm_frozen_icon_arm_4"/>
              <p:cNvCxnSpPr/>
              <p:nvPr/>
            </p:nvCxnSpPr>
            <p:spPr>
              <a:xfrm flipH="1">
                <a:off x="4603492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vlm_frozen_icon_twig_4_0" descr="Editable line; source id vlm_frozen_icon_twig_4_0"/>
              <p:cNvCxnSpPr/>
              <p:nvPr/>
            </p:nvCxnSpPr>
            <p:spPr>
              <a:xfrm flipH="1">
                <a:off x="4628498" y="311247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vlm_frozen_icon_twig_4_1" descr="Editable line; source id vlm_frozen_icon_twig_4_1"/>
              <p:cNvCxnSpPr/>
              <p:nvPr/>
            </p:nvCxnSpPr>
            <p:spPr>
              <a:xfrm flipH="1" flipV="1">
                <a:off x="4605288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vlm_frozen_icon_arm_5" descr="Editable line; source id vlm_frozen_icon_arm_5"/>
              <p:cNvCxnSpPr/>
              <p:nvPr/>
            </p:nvCxnSpPr>
            <p:spPr>
              <a:xfrm flipH="1" flipV="1">
                <a:off x="4603492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vlm_frozen_icon_twig_5_0" descr="Editable line; source id vlm_frozen_icon_twig_5_0"/>
              <p:cNvCxnSpPr/>
              <p:nvPr/>
            </p:nvCxnSpPr>
            <p:spPr>
              <a:xfrm flipH="1">
                <a:off x="4605288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vlm_frozen_icon_twig_5_1" descr="Editable line; source id vlm_frozen_icon_twig_5_1"/>
              <p:cNvCxnSpPr/>
              <p:nvPr/>
            </p:nvCxnSpPr>
            <p:spPr>
              <a:xfrm flipH="1" flipV="1">
                <a:off x="4628498" y="222965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8" name="state_encoder_module" descr="Move the module body and its complete editable label together; each label line stays one text object."/>
          <p:cNvGrpSpPr/>
          <p:nvPr/>
        </p:nvGrpSpPr>
        <p:grpSpPr>
          <a:xfrm>
            <a:off x="3107638" y="2546715"/>
            <a:ext cx="1250792" cy="786580"/>
            <a:chOff x="3107638" y="2546715"/>
            <a:chExt cx="1250792" cy="786580"/>
          </a:xfrm>
        </p:grpSpPr>
        <p:sp>
          <p:nvSpPr>
            <p:cNvPr id="26" name="state_encoder" descr="Editable shape; source id state_encoder"/>
            <p:cNvSpPr/>
            <p:nvPr/>
          </p:nvSpPr>
          <p:spPr>
            <a:xfrm>
              <a:off x="3107638" y="2546715"/>
              <a:ext cx="1250792" cy="786580"/>
            </a:xfrm>
            <a:prstGeom prst="roundRect">
              <a:avLst>
                <a:gd name="adj" fmla="val 2049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ate_encoder_label" descr="Editable text; source id state_encoder_label"/>
            <p:cNvSpPr txBox="1"/>
            <p:nvPr/>
          </p:nvSpPr>
          <p:spPr>
            <a:xfrm>
              <a:off x="3152769" y="2710385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State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59" name="action_encoder_module" descr="Move the module body and its complete editable label together; each label line stays one text object."/>
          <p:cNvGrpSpPr/>
          <p:nvPr/>
        </p:nvGrpSpPr>
        <p:grpSpPr>
          <a:xfrm>
            <a:off x="3107638" y="3481586"/>
            <a:ext cx="1250792" cy="1798819"/>
            <a:chOff x="3107638" y="3481586"/>
            <a:chExt cx="1250792" cy="1798819"/>
          </a:xfrm>
        </p:grpSpPr>
        <p:sp>
          <p:nvSpPr>
            <p:cNvPr id="28" name="action_encoder" descr="Editable shape; source id action_encoder"/>
            <p:cNvSpPr/>
            <p:nvPr/>
          </p:nvSpPr>
          <p:spPr>
            <a:xfrm>
              <a:off x="3107638" y="3481586"/>
              <a:ext cx="1250792" cy="1798819"/>
            </a:xfrm>
            <a:prstGeom prst="roundRect">
              <a:avLst>
                <a:gd name="adj" fmla="val 17010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action_encoder_label" descr="Editable text; source id action_encoder_label"/>
            <p:cNvSpPr txBox="1"/>
            <p:nvPr/>
          </p:nvSpPr>
          <p:spPr>
            <a:xfrm>
              <a:off x="3152769" y="416104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74" name="dit_block_stack" descr="DiT composite module, with nested editable attention sublayers and internal links. Incoming/outgoing cross-module arrows remain independent."/>
          <p:cNvGrpSpPr/>
          <p:nvPr/>
        </p:nvGrpSpPr>
        <p:grpSpPr>
          <a:xfrm>
            <a:off x="4748496" y="2546715"/>
            <a:ext cx="4461589" cy="3326849"/>
            <a:chOff x="4748496" y="2546715"/>
            <a:chExt cx="4461589" cy="3326849"/>
          </a:xfrm>
        </p:grpSpPr>
        <p:sp>
          <p:nvSpPr>
            <p:cNvPr id="30" name="dit" descr="Editable shape; source id dit"/>
            <p:cNvSpPr/>
            <p:nvPr/>
          </p:nvSpPr>
          <p:spPr>
            <a:xfrm>
              <a:off x="5415801" y="2546715"/>
              <a:ext cx="3172112" cy="2823953"/>
            </a:xfrm>
            <a:prstGeom prst="roundRect">
              <a:avLst>
                <a:gd name="adj" fmla="val 7534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0" name="cross_1_module" descr="Move one attention sublayer as a unit; its whole rotated word remains one native editable text box."/>
            <p:cNvGrpSpPr/>
            <p:nvPr/>
          </p:nvGrpSpPr>
          <p:grpSpPr>
            <a:xfrm>
              <a:off x="4748496" y="2669216"/>
              <a:ext cx="2127636" cy="2566058"/>
              <a:chOff x="4748496" y="2669216"/>
              <a:chExt cx="2127636" cy="2566058"/>
            </a:xfrm>
          </p:grpSpPr>
          <p:sp>
            <p:nvSpPr>
              <p:cNvPr id="31" name="cross_1" descr="Editable shape; source id cross_1"/>
              <p:cNvSpPr/>
              <p:nvPr/>
            </p:nvSpPr>
            <p:spPr>
              <a:xfrm>
                <a:off x="5609222" y="2669216"/>
                <a:ext cx="438421" cy="2566058"/>
              </a:xfrm>
              <a:prstGeom prst="roundRect">
                <a:avLst>
                  <a:gd name="adj" fmla="val 17647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cross_1_label" descr="Editable text; source id cross_1_label"/>
              <p:cNvSpPr txBox="1"/>
              <p:nvPr/>
            </p:nvSpPr>
            <p:spPr>
              <a:xfrm rot="5400000">
                <a:off x="4748496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71" name="self_1_module" descr="Move one attention sublayer as a unit; its whole rotated word remains one native editable text box."/>
            <p:cNvGrpSpPr/>
            <p:nvPr/>
          </p:nvGrpSpPr>
          <p:grpSpPr>
            <a:xfrm>
              <a:off x="5348103" y="2669216"/>
              <a:ext cx="2127636" cy="2566058"/>
              <a:chOff x="5348103" y="2669216"/>
              <a:chExt cx="2127636" cy="2566058"/>
            </a:xfrm>
          </p:grpSpPr>
          <p:sp>
            <p:nvSpPr>
              <p:cNvPr id="33" name="self_1" descr="Editable shape; source id self_1"/>
              <p:cNvSpPr/>
              <p:nvPr/>
            </p:nvSpPr>
            <p:spPr>
              <a:xfrm>
                <a:off x="6208829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elf_1_label" descr="Editable text; source id self_1_label"/>
              <p:cNvSpPr txBox="1"/>
              <p:nvPr/>
            </p:nvSpPr>
            <p:spPr>
              <a:xfrm rot="5400000">
                <a:off x="5348103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grpSp>
          <p:nvGrpSpPr>
            <p:cNvPr id="172" name="cross_2_module" descr="Move one attention sublayer as a unit; its whole rotated word remains one native editable text box."/>
            <p:cNvGrpSpPr/>
            <p:nvPr/>
          </p:nvGrpSpPr>
          <p:grpSpPr>
            <a:xfrm>
              <a:off x="6482842" y="2669216"/>
              <a:ext cx="2127636" cy="2566058"/>
              <a:chOff x="6482842" y="2669216"/>
              <a:chExt cx="2127636" cy="2566058"/>
            </a:xfrm>
          </p:grpSpPr>
          <p:sp>
            <p:nvSpPr>
              <p:cNvPr id="35" name="cross_2" descr="Editable shape; source id cross_2"/>
              <p:cNvSpPr/>
              <p:nvPr/>
            </p:nvSpPr>
            <p:spPr>
              <a:xfrm>
                <a:off x="7343568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cross_2_label" descr="Editable text; source id cross_2_label"/>
              <p:cNvSpPr txBox="1"/>
              <p:nvPr/>
            </p:nvSpPr>
            <p:spPr>
              <a:xfrm rot="5400000">
                <a:off x="6482842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73" name="self_2_module" descr="Move one attention sublayer as a unit; its whole rotated word remains one native editable text box."/>
            <p:cNvGrpSpPr/>
            <p:nvPr/>
          </p:nvGrpSpPr>
          <p:grpSpPr>
            <a:xfrm>
              <a:off x="7082449" y="2669216"/>
              <a:ext cx="2127636" cy="2566058"/>
              <a:chOff x="7082449" y="2669216"/>
              <a:chExt cx="2127636" cy="2566058"/>
            </a:xfrm>
          </p:grpSpPr>
          <p:sp>
            <p:nvSpPr>
              <p:cNvPr id="37" name="self_2" descr="Editable shape; source id self_2"/>
              <p:cNvSpPr/>
              <p:nvPr/>
            </p:nvSpPr>
            <p:spPr>
              <a:xfrm>
                <a:off x="7943174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self_2_label" descr="Editable text; source id self_2_label"/>
              <p:cNvSpPr txBox="1"/>
              <p:nvPr/>
            </p:nvSpPr>
            <p:spPr>
              <a:xfrm rot="5400000">
                <a:off x="7082449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cxnSp>
          <p:nvCxnSpPr>
            <p:cNvPr id="39" name="cross_self_1" descr="Editable line; source id cross_self_1"/>
            <p:cNvCxnSpPr/>
            <p:nvPr/>
          </p:nvCxnSpPr>
          <p:spPr>
            <a:xfrm>
              <a:off x="6047644" y="3952245"/>
              <a:ext cx="161185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ross_self_2" descr="Editable line; source id cross_self_2"/>
            <p:cNvCxnSpPr/>
            <p:nvPr/>
          </p:nvCxnSpPr>
          <p:spPr>
            <a:xfrm>
              <a:off x="7788437" y="3952245"/>
              <a:ext cx="154737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t_gap" descr="Editable line; source id dit_gap"/>
            <p:cNvCxnSpPr/>
            <p:nvPr/>
          </p:nvCxnSpPr>
          <p:spPr>
            <a:xfrm>
              <a:off x="6653698" y="3952245"/>
              <a:ext cx="689870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peat_count" descr="Editable text; source id repeat_count"/>
            <p:cNvSpPr txBox="1"/>
            <p:nvPr/>
          </p:nvSpPr>
          <p:spPr>
            <a:xfrm>
              <a:off x="6743961" y="5351327"/>
              <a:ext cx="502895" cy="21921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N</a:t>
              </a:r>
            </a:p>
          </p:txBody>
        </p:sp>
        <p:sp>
          <p:nvSpPr>
            <p:cNvPr id="43" name="dit_label" descr="Editable text; source id dit_label"/>
            <p:cNvSpPr txBox="1"/>
            <p:nvPr/>
          </p:nvSpPr>
          <p:spPr>
            <a:xfrm>
              <a:off x="6370013" y="5615669"/>
              <a:ext cx="1257239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DiT Blocks</a:t>
              </a:r>
            </a:p>
          </p:txBody>
        </p:sp>
      </p:grpSp>
      <p:grpSp>
        <p:nvGrpSpPr>
          <p:cNvPr id="160" name="decoder_module" descr="Move the module body and its complete editable label together; each label line stays one text object."/>
          <p:cNvGrpSpPr/>
          <p:nvPr/>
        </p:nvGrpSpPr>
        <p:grpSpPr>
          <a:xfrm>
            <a:off x="9116598" y="2591847"/>
            <a:ext cx="1160528" cy="2688558"/>
            <a:chOff x="9116598" y="2591847"/>
            <a:chExt cx="1160528" cy="2688558"/>
          </a:xfrm>
        </p:grpSpPr>
        <p:sp>
          <p:nvSpPr>
            <p:cNvPr id="44" name="decoder" descr="Editable shape; source id decoder"/>
            <p:cNvSpPr/>
            <p:nvPr/>
          </p:nvSpPr>
          <p:spPr>
            <a:xfrm>
              <a:off x="9116598" y="2591847"/>
              <a:ext cx="1160528" cy="2688558"/>
            </a:xfrm>
            <a:prstGeom prst="roundRect">
              <a:avLst>
                <a:gd name="adj" fmla="val 18333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ecoder_label" descr="Editable text; source id decoder_label"/>
            <p:cNvSpPr txBox="1"/>
            <p:nvPr/>
          </p:nvSpPr>
          <p:spPr>
            <a:xfrm>
              <a:off x="9116598" y="3722654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165" name="input_action_sequence" descr="Move dashed chunk frame and all grouped formulas/ellipsis together."/>
          <p:cNvGrpSpPr/>
          <p:nvPr/>
        </p:nvGrpSpPr>
        <p:grpSpPr>
          <a:xfrm>
            <a:off x="1805267" y="3371980"/>
            <a:ext cx="709212" cy="1998688"/>
            <a:chOff x="1805267" y="3371980"/>
            <a:chExt cx="709212" cy="1998688"/>
          </a:xfrm>
        </p:grpSpPr>
        <p:sp>
          <p:nvSpPr>
            <p:cNvPr id="46" name="input_chunk" descr="Editable shape; source id input_chunk"/>
            <p:cNvSpPr/>
            <p:nvPr/>
          </p:nvSpPr>
          <p:spPr>
            <a:xfrm>
              <a:off x="1805267" y="3371980"/>
              <a:ext cx="709212" cy="1998688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62" name="in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2085728" y="3463856"/>
              <a:ext cx="177303" cy="298564"/>
              <a:chOff x="2085728" y="3463856"/>
              <a:chExt cx="177303" cy="298564"/>
            </a:xfrm>
          </p:grpSpPr>
          <p:sp>
            <p:nvSpPr>
              <p:cNvPr id="47" name="input_a0_0" descr="Editable text; source id input_a0_0"/>
              <p:cNvSpPr txBox="1"/>
              <p:nvPr/>
            </p:nvSpPr>
            <p:spPr>
              <a:xfrm>
                <a:off x="2085728" y="3463856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48" name="input_a0_1" descr="Editable text; source id input_a0_1"/>
              <p:cNvSpPr txBox="1"/>
              <p:nvPr/>
            </p:nvSpPr>
            <p:spPr>
              <a:xfrm>
                <a:off x="2201781" y="3560566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63" name="in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982570" y="3850699"/>
              <a:ext cx="382006" cy="298564"/>
              <a:chOff x="1982570" y="3850699"/>
              <a:chExt cx="382006" cy="298564"/>
            </a:xfrm>
          </p:grpSpPr>
          <p:sp>
            <p:nvSpPr>
              <p:cNvPr id="49" name="input_a1_0" descr="Editable text; source id input_a1_0"/>
              <p:cNvSpPr txBox="1"/>
              <p:nvPr/>
            </p:nvSpPr>
            <p:spPr>
              <a:xfrm>
                <a:off x="1982570" y="385069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0" name="input_a1_1" descr="Editable text; source id input_a1_1"/>
              <p:cNvSpPr txBox="1"/>
              <p:nvPr/>
            </p:nvSpPr>
            <p:spPr>
              <a:xfrm>
                <a:off x="2098622" y="394740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1" name="input_a1_2" descr="Editable text; source id input_a1_2"/>
              <p:cNvSpPr txBox="1"/>
              <p:nvPr/>
            </p:nvSpPr>
            <p:spPr>
              <a:xfrm>
                <a:off x="2175991" y="394740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64" name="in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866517" y="4933859"/>
              <a:ext cx="620559" cy="298564"/>
              <a:chOff x="1866517" y="4933859"/>
              <a:chExt cx="620559" cy="298564"/>
            </a:xfrm>
          </p:grpSpPr>
          <p:sp>
            <p:nvSpPr>
              <p:cNvPr id="52" name="input_aH_0" descr="Editable text; source id input_aH_0"/>
              <p:cNvSpPr txBox="1"/>
              <p:nvPr/>
            </p:nvSpPr>
            <p:spPr>
              <a:xfrm>
                <a:off x="1866517" y="493385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3" name="input_aH_1" descr="Editable text; source id input_aH_1"/>
              <p:cNvSpPr txBox="1"/>
              <p:nvPr/>
            </p:nvSpPr>
            <p:spPr>
              <a:xfrm>
                <a:off x="1982570" y="503056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4" name="input_aH_2" descr="Editable text; source id input_aH_2"/>
              <p:cNvSpPr txBox="1"/>
              <p:nvPr/>
            </p:nvSpPr>
            <p:spPr>
              <a:xfrm>
                <a:off x="2059938" y="5030569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55" name="input_aH_3" descr="Editable text; source id input_aH_3"/>
              <p:cNvSpPr txBox="1"/>
              <p:nvPr/>
            </p:nvSpPr>
            <p:spPr>
              <a:xfrm>
                <a:off x="2164708" y="5030569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56" name="input_aH_4" descr="Editable text; source id input_aH_4"/>
              <p:cNvSpPr txBox="1"/>
              <p:nvPr/>
            </p:nvSpPr>
            <p:spPr>
              <a:xfrm>
                <a:off x="2298491" y="503056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57" name="input_ellipsis" descr="Editable text; source id input_ellipsis"/>
            <p:cNvSpPr txBox="1"/>
            <p:nvPr/>
          </p:nvSpPr>
          <p:spPr>
            <a:xfrm>
              <a:off x="2018030" y="4493825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69" name="output_action_sequence" descr="Move output chunk frame and all grouped formulas/ellipsis together."/>
          <p:cNvGrpSpPr/>
          <p:nvPr/>
        </p:nvGrpSpPr>
        <p:grpSpPr>
          <a:xfrm>
            <a:off x="10502785" y="2940006"/>
            <a:ext cx="709212" cy="1992241"/>
            <a:chOff x="10502785" y="2940006"/>
            <a:chExt cx="709212" cy="1992241"/>
          </a:xfrm>
        </p:grpSpPr>
        <p:sp>
          <p:nvSpPr>
            <p:cNvPr id="58" name="output_chunk" descr="Editable shape; source id output_chunk"/>
            <p:cNvSpPr/>
            <p:nvPr/>
          </p:nvSpPr>
          <p:spPr>
            <a:xfrm>
              <a:off x="10502785" y="2940006"/>
              <a:ext cx="709212" cy="1992241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66" name="out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783246" y="3025434"/>
              <a:ext cx="177303" cy="298564"/>
              <a:chOff x="10783246" y="3025434"/>
              <a:chExt cx="177303" cy="298564"/>
            </a:xfrm>
          </p:grpSpPr>
          <p:sp>
            <p:nvSpPr>
              <p:cNvPr id="59" name="output_a0_0" descr="Editable text; source id output_a0_0"/>
              <p:cNvSpPr txBox="1"/>
              <p:nvPr/>
            </p:nvSpPr>
            <p:spPr>
              <a:xfrm>
                <a:off x="10783246" y="3025434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0" name="output_a0_1" descr="Editable text; source id output_a0_1"/>
              <p:cNvSpPr txBox="1"/>
              <p:nvPr/>
            </p:nvSpPr>
            <p:spPr>
              <a:xfrm>
                <a:off x="10899299" y="3122144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67" name="out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680088" y="3412277"/>
              <a:ext cx="382007" cy="298564"/>
              <a:chOff x="10680088" y="3412277"/>
              <a:chExt cx="382007" cy="298564"/>
            </a:xfrm>
          </p:grpSpPr>
          <p:sp>
            <p:nvSpPr>
              <p:cNvPr id="61" name="output_a1_0" descr="Editable text; source id output_a1_0"/>
              <p:cNvSpPr txBox="1"/>
              <p:nvPr/>
            </p:nvSpPr>
            <p:spPr>
              <a:xfrm>
                <a:off x="10680088" y="341227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2" name="output_a1_1" descr="Editable text; source id output_a1_1"/>
              <p:cNvSpPr txBox="1"/>
              <p:nvPr/>
            </p:nvSpPr>
            <p:spPr>
              <a:xfrm>
                <a:off x="10796141" y="350898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3" name="output_a1_2" descr="Editable text; source id output_a1_2"/>
              <p:cNvSpPr txBox="1"/>
              <p:nvPr/>
            </p:nvSpPr>
            <p:spPr>
              <a:xfrm>
                <a:off x="10873510" y="350898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68" name="out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564035" y="4495437"/>
              <a:ext cx="620560" cy="298564"/>
              <a:chOff x="10564035" y="4495437"/>
              <a:chExt cx="620560" cy="298564"/>
            </a:xfrm>
          </p:grpSpPr>
          <p:sp>
            <p:nvSpPr>
              <p:cNvPr id="64" name="output_aH_0" descr="Editable text; source id output_aH_0"/>
              <p:cNvSpPr txBox="1"/>
              <p:nvPr/>
            </p:nvSpPr>
            <p:spPr>
              <a:xfrm>
                <a:off x="10564035" y="449543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5" name="output_aH_1" descr="Editable text; source id output_aH_1"/>
              <p:cNvSpPr txBox="1"/>
              <p:nvPr/>
            </p:nvSpPr>
            <p:spPr>
              <a:xfrm>
                <a:off x="10680088" y="459214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6" name="output_aH_2" descr="Editable text; source id output_aH_2"/>
              <p:cNvSpPr txBox="1"/>
              <p:nvPr/>
            </p:nvSpPr>
            <p:spPr>
              <a:xfrm>
                <a:off x="10757457" y="4592147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67" name="output_aH_3" descr="Editable text; source id output_aH_3"/>
              <p:cNvSpPr txBox="1"/>
              <p:nvPr/>
            </p:nvSpPr>
            <p:spPr>
              <a:xfrm>
                <a:off x="10862227" y="4592147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68" name="output_aH_4" descr="Editable text; source id output_aH_4"/>
              <p:cNvSpPr txBox="1"/>
              <p:nvPr/>
            </p:nvSpPr>
            <p:spPr>
              <a:xfrm>
                <a:off x="10996010" y="459214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69" name="output_ellipsis" descr="Editable text; source id output_ellipsis"/>
            <p:cNvSpPr txBox="1"/>
            <p:nvPr/>
          </p:nvSpPr>
          <p:spPr>
            <a:xfrm>
              <a:off x="10721996" y="4055403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76" name="embodiment_legend" descr="Embodiment legend swatch and full label."/>
          <p:cNvGrpSpPr/>
          <p:nvPr/>
        </p:nvGrpSpPr>
        <p:grpSpPr>
          <a:xfrm>
            <a:off x="8246201" y="741448"/>
            <a:ext cx="3791061" cy="341711"/>
            <a:chOff x="8246201" y="741448"/>
            <a:chExt cx="3791061" cy="341711"/>
          </a:xfrm>
        </p:grpSpPr>
        <p:sp>
          <p:nvSpPr>
            <p:cNvPr id="70" name="legend_module" descr="Editable shape; source id legend_module"/>
            <p:cNvSpPr/>
            <p:nvPr/>
          </p:nvSpPr>
          <p:spPr>
            <a:xfrm>
              <a:off x="8246201" y="741448"/>
              <a:ext cx="341711" cy="341711"/>
            </a:xfrm>
            <a:prstGeom prst="roundRect">
              <a:avLst>
                <a:gd name="adj" fmla="val 1698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legend_module_label" descr="Editable text; source id legend_module_label"/>
            <p:cNvSpPr txBox="1"/>
            <p:nvPr/>
          </p:nvSpPr>
          <p:spPr>
            <a:xfrm>
              <a:off x="8761992" y="799475"/>
              <a:ext cx="3275270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Embodiment-Specific Module</a:t>
              </a:r>
            </a:p>
          </p:txBody>
        </p:sp>
      </p:grpSp>
      <p:cxnSp>
        <p:nvCxnSpPr>
          <p:cNvPr id="72" name="vision_stub" descr="Editable line; source id vision_stub"/>
          <p:cNvCxnSpPr/>
          <p:nvPr/>
        </p:nvCxnSpPr>
        <p:spPr>
          <a:xfrm>
            <a:off x="1927767" y="786580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vision_out" descr="Editable line; source id vision_out"/>
          <p:cNvSpPr/>
          <p:nvPr/>
        </p:nvSpPr>
        <p:spPr>
          <a:xfrm>
            <a:off x="3139875" y="754344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text_stub" descr="Editable line; source id text_stub"/>
          <p:cNvCxnSpPr/>
          <p:nvPr/>
        </p:nvCxnSpPr>
        <p:spPr>
          <a:xfrm>
            <a:off x="1927767" y="1953556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_out" descr="Editable line; source id text_out"/>
          <p:cNvSpPr/>
          <p:nvPr/>
        </p:nvSpPr>
        <p:spPr>
          <a:xfrm>
            <a:off x="3139875" y="1921320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state_in" descr="Editable line; source id state_in"/>
          <p:cNvCxnSpPr/>
          <p:nvPr/>
        </p:nvCxnSpPr>
        <p:spPr>
          <a:xfrm>
            <a:off x="2624084" y="2927111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tate_out" descr="Editable line; source id state_out"/>
          <p:cNvSpPr/>
          <p:nvPr/>
        </p:nvSpPr>
        <p:spPr>
          <a:xfrm>
            <a:off x="4358430" y="2894875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action_in" descr="Editable line; source id action_in"/>
          <p:cNvCxnSpPr/>
          <p:nvPr/>
        </p:nvCxnSpPr>
        <p:spPr>
          <a:xfrm>
            <a:off x="2624084" y="4364877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ction_out" descr="Editable line; source id action_out"/>
          <p:cNvSpPr/>
          <p:nvPr/>
        </p:nvSpPr>
        <p:spPr>
          <a:xfrm>
            <a:off x="4358430" y="4332641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okens_to_dit" descr="Editable line; source id tokens_to_dit"/>
          <p:cNvSpPr/>
          <p:nvPr/>
        </p:nvSpPr>
        <p:spPr>
          <a:xfrm>
            <a:off x="5203037" y="3926456"/>
            <a:ext cx="212764" cy="64474"/>
          </a:xfrm>
          <a:custGeom>
            <a:avLst/>
            <a:gdLst/>
            <a:ahLst/>
            <a:cxnLst/>
            <a:rect l="l" t="t" r="r" b="b"/>
            <a:pathLst>
              <a:path w="33000" h="10000">
                <a:moveTo>
                  <a:pt x="0" y="3500"/>
                </a:moveTo>
                <a:lnTo>
                  <a:pt x="21000" y="3500"/>
                </a:lnTo>
                <a:lnTo>
                  <a:pt x="21000" y="0"/>
                </a:lnTo>
                <a:lnTo>
                  <a:pt x="33000" y="5000"/>
                </a:lnTo>
                <a:lnTo>
                  <a:pt x="21000" y="10000"/>
                </a:lnTo>
                <a:lnTo>
                  <a:pt x="2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it_to_tokens" descr="Editable line; source id dit_to_tokens"/>
          <p:cNvSpPr/>
          <p:nvPr/>
        </p:nvSpPr>
        <p:spPr>
          <a:xfrm>
            <a:off x="8587913" y="3926456"/>
            <a:ext cx="206316" cy="64474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3500"/>
                </a:moveTo>
                <a:lnTo>
                  <a:pt x="20000" y="35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coder_out" descr="Editable line; source id decoder_out"/>
          <p:cNvSpPr/>
          <p:nvPr/>
        </p:nvSpPr>
        <p:spPr>
          <a:xfrm>
            <a:off x="10277127" y="3907114"/>
            <a:ext cx="225658" cy="64474"/>
          </a:xfrm>
          <a:custGeom>
            <a:avLst/>
            <a:gdLst/>
            <a:ahLst/>
            <a:cxnLst/>
            <a:rect l="l" t="t" r="r" b="b"/>
            <a:pathLst>
              <a:path w="35000" h="10000">
                <a:moveTo>
                  <a:pt x="0" y="3500"/>
                </a:moveTo>
                <a:lnTo>
                  <a:pt x="23000" y="3500"/>
                </a:lnTo>
                <a:lnTo>
                  <a:pt x="23000" y="0"/>
                </a:lnTo>
                <a:lnTo>
                  <a:pt x="35000" y="5000"/>
                </a:lnTo>
                <a:lnTo>
                  <a:pt x="23000" y="10000"/>
                </a:lnTo>
                <a:lnTo>
                  <a:pt x="2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otor_out" descr="Editable line; source id motor_out"/>
          <p:cNvSpPr/>
          <p:nvPr/>
        </p:nvSpPr>
        <p:spPr>
          <a:xfrm>
            <a:off x="11211998" y="3907114"/>
            <a:ext cx="186974" cy="64474"/>
          </a:xfrm>
          <a:custGeom>
            <a:avLst/>
            <a:gdLst/>
            <a:ahLst/>
            <a:cxnLst/>
            <a:rect l="l" t="t" r="r" b="b"/>
            <a:pathLst>
              <a:path w="29000" h="10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000"/>
                </a:lnTo>
                <a:lnTo>
                  <a:pt x="17000" y="10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vlm_bus" descr="Editable line; source id vlm_bus"/>
          <p:cNvCxnSpPr/>
          <p:nvPr/>
        </p:nvCxnSpPr>
        <p:spPr>
          <a:xfrm>
            <a:off x="5203037" y="1212107"/>
            <a:ext cx="2359742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vlm_cross_1" descr="Editable line; source id vlm_cross_1"/>
          <p:cNvSpPr/>
          <p:nvPr/>
        </p:nvSpPr>
        <p:spPr>
          <a:xfrm>
            <a:off x="5796197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lm_cross_2" descr="Editable line; source id vlm_cross_2"/>
          <p:cNvSpPr/>
          <p:nvPr/>
        </p:nvSpPr>
        <p:spPr>
          <a:xfrm>
            <a:off x="7530542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8" name="feedback_path" descr="One feedback route made of editable segments/head and K iterations label; no automatic rerouting."/>
          <p:cNvGrpSpPr/>
          <p:nvPr/>
        </p:nvGrpSpPr>
        <p:grpSpPr>
          <a:xfrm>
            <a:off x="2127636" y="4932247"/>
            <a:ext cx="8729755" cy="1418424"/>
            <a:chOff x="2127636" y="4932247"/>
            <a:chExt cx="8729755" cy="1418424"/>
          </a:xfrm>
        </p:grpSpPr>
        <p:cxnSp>
          <p:nvCxnSpPr>
            <p:cNvPr id="87" name="feedback_right" descr="Editable line; source id feedback_right"/>
            <p:cNvCxnSpPr/>
            <p:nvPr/>
          </p:nvCxnSpPr>
          <p:spPr>
            <a:xfrm>
              <a:off x="10857391" y="4932247"/>
              <a:ext cx="0" cy="1050923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feedback_bottom" descr="Editable line; source id feedback_bottom"/>
            <p:cNvCxnSpPr/>
            <p:nvPr/>
          </p:nvCxnSpPr>
          <p:spPr>
            <a:xfrm flipH="1">
              <a:off x="2159873" y="5983170"/>
              <a:ext cx="8697518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feedback_left" descr="Editable line; source id feedback_left"/>
            <p:cNvCxnSpPr/>
            <p:nvPr/>
          </p:nvCxnSpPr>
          <p:spPr>
            <a:xfrm flipV="1">
              <a:off x="2159873" y="5370669"/>
              <a:ext cx="0" cy="612501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eedback_head" descr="Editable shape; source id feedback_head"/>
            <p:cNvSpPr/>
            <p:nvPr/>
          </p:nvSpPr>
          <p:spPr>
            <a:xfrm>
              <a:off x="2127636" y="5370669"/>
              <a:ext cx="64473" cy="70921"/>
            </a:xfrm>
            <a:prstGeom prst="triangle">
              <a:avLst/>
            </a:prstGeom>
            <a:solidFill>
              <a:srgbClr val="5B60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iteration_label" descr="Editable text; source id iteration_label"/>
            <p:cNvSpPr txBox="1"/>
            <p:nvPr/>
          </p:nvSpPr>
          <p:spPr>
            <a:xfrm>
              <a:off x="5918696" y="6092776"/>
              <a:ext cx="1225002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34"/>
                </a:lnSpc>
                <a:spcBef>
                  <a:spcPts val="0"/>
                </a:spcBef>
                <a:spcAft>
                  <a:spcPts val="0"/>
                </a:spcAft>
                <a:def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 iterations</a:t>
              </a:r>
            </a:p>
          </p:txBody>
        </p:sp>
      </p:grpSp>
      <p:grpSp>
        <p:nvGrpSpPr>
          <p:cNvPr id="146" name="input_vision_tokens" descr="Move one semantic token sequence as a strip; preserve per-token native rectangles for optional count/color editing."/>
          <p:cNvGrpSpPr/>
          <p:nvPr/>
        </p:nvGrpSpPr>
        <p:grpSpPr>
          <a:xfrm>
            <a:off x="3384875" y="154737"/>
            <a:ext cx="148289" cy="1257239"/>
            <a:chOff x="3384875" y="154737"/>
            <a:chExt cx="148289" cy="1257239"/>
          </a:xfrm>
        </p:grpSpPr>
        <p:sp>
          <p:nvSpPr>
            <p:cNvPr id="92" name="input_vision_token_0" descr="Editable shape; source id input_vision_token_0"/>
            <p:cNvSpPr/>
            <p:nvPr/>
          </p:nvSpPr>
          <p:spPr>
            <a:xfrm>
              <a:off x="3384875" y="154737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input_vision_token_1" descr="Editable shape; source id input_vision_token_1"/>
            <p:cNvSpPr/>
            <p:nvPr/>
          </p:nvSpPr>
          <p:spPr>
            <a:xfrm>
              <a:off x="3384875" y="341711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input_vision_token_2" descr="Editable shape; source id input_vision_token_2"/>
            <p:cNvSpPr/>
            <p:nvPr/>
          </p:nvSpPr>
          <p:spPr>
            <a:xfrm>
              <a:off x="3384875" y="522237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input_vision_token_3" descr="Editable shape; source id input_vision_token_3"/>
            <p:cNvSpPr/>
            <p:nvPr/>
          </p:nvSpPr>
          <p:spPr>
            <a:xfrm>
              <a:off x="3384875" y="709212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input_vision_token_4" descr="Editable shape; source id input_vision_token_4"/>
            <p:cNvSpPr/>
            <p:nvPr/>
          </p:nvSpPr>
          <p:spPr>
            <a:xfrm>
              <a:off x="3384875" y="889738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input_vision_token_5" descr="Editable shape; source id input_vision_token_5"/>
            <p:cNvSpPr/>
            <p:nvPr/>
          </p:nvSpPr>
          <p:spPr>
            <a:xfrm>
              <a:off x="3384875" y="1076712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input_vision_token_6" descr="Editable shape; source id input_vision_token_6"/>
            <p:cNvSpPr/>
            <p:nvPr/>
          </p:nvSpPr>
          <p:spPr>
            <a:xfrm>
              <a:off x="3384875" y="1257239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7" name="input_language_tokens" descr="Move one semantic token sequence as a strip; preserve per-token native rectangles for optional count/color editing."/>
          <p:cNvGrpSpPr/>
          <p:nvPr/>
        </p:nvGrpSpPr>
        <p:grpSpPr>
          <a:xfrm>
            <a:off x="3384875" y="1592503"/>
            <a:ext cx="148289" cy="715659"/>
            <a:chOff x="3384875" y="1592503"/>
            <a:chExt cx="148289" cy="715659"/>
          </a:xfrm>
        </p:grpSpPr>
        <p:sp>
          <p:nvSpPr>
            <p:cNvPr id="99" name="input_language_token_0" descr="Editable shape; source id input_language_token_0"/>
            <p:cNvSpPr/>
            <p:nvPr/>
          </p:nvSpPr>
          <p:spPr>
            <a:xfrm>
              <a:off x="3384875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put_language_token_1" descr="Editable shape; source id input_language_token_1"/>
            <p:cNvSpPr/>
            <p:nvPr/>
          </p:nvSpPr>
          <p:spPr>
            <a:xfrm>
              <a:off x="3384875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input_language_token_2" descr="Editable shape; source id input_language_token_2"/>
            <p:cNvSpPr/>
            <p:nvPr/>
          </p:nvSpPr>
          <p:spPr>
            <a:xfrm>
              <a:off x="3384875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put_language_token_3" descr="Editable shape; source id input_language_token_3"/>
            <p:cNvSpPr/>
            <p:nvPr/>
          </p:nvSpPr>
          <p:spPr>
            <a:xfrm>
              <a:off x="3384875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output_vision_tokens" descr="Move one semantic token sequence as a strip; preserve per-token native rectangles for optional count/color editing."/>
          <p:cNvGrpSpPr/>
          <p:nvPr/>
        </p:nvGrpSpPr>
        <p:grpSpPr>
          <a:xfrm>
            <a:off x="4983826" y="154737"/>
            <a:ext cx="148289" cy="1257239"/>
            <a:chOff x="4983826" y="154737"/>
            <a:chExt cx="148289" cy="1257239"/>
          </a:xfrm>
        </p:grpSpPr>
        <p:sp>
          <p:nvSpPr>
            <p:cNvPr id="103" name="output_vision_token_0" descr="Editable shape; source id output_vision_token_0"/>
            <p:cNvSpPr/>
            <p:nvPr/>
          </p:nvSpPr>
          <p:spPr>
            <a:xfrm>
              <a:off x="4983826" y="154737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utput_vision_token_1" descr="Editable shape; source id output_vision_token_1"/>
            <p:cNvSpPr/>
            <p:nvPr/>
          </p:nvSpPr>
          <p:spPr>
            <a:xfrm>
              <a:off x="4983826" y="341711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utput_vision_token_2" descr="Editable shape; source id output_vision_token_2"/>
            <p:cNvSpPr/>
            <p:nvPr/>
          </p:nvSpPr>
          <p:spPr>
            <a:xfrm>
              <a:off x="4983826" y="522237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utput_vision_token_3" descr="Editable shape; source id output_vision_token_3"/>
            <p:cNvSpPr/>
            <p:nvPr/>
          </p:nvSpPr>
          <p:spPr>
            <a:xfrm>
              <a:off x="4983826" y="709212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utput_vision_token_4" descr="Editable shape; source id output_vision_token_4"/>
            <p:cNvSpPr/>
            <p:nvPr/>
          </p:nvSpPr>
          <p:spPr>
            <a:xfrm>
              <a:off x="4983826" y="889738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utput_vision_token_5" descr="Editable shape; source id output_vision_token_5"/>
            <p:cNvSpPr/>
            <p:nvPr/>
          </p:nvSpPr>
          <p:spPr>
            <a:xfrm>
              <a:off x="4983826" y="1076712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utput_vision_token_6" descr="Editable shape; source id output_vision_token_6"/>
            <p:cNvSpPr/>
            <p:nvPr/>
          </p:nvSpPr>
          <p:spPr>
            <a:xfrm>
              <a:off x="4983826" y="1257239"/>
              <a:ext cx="148289" cy="154737"/>
            </a:xfrm>
            <a:prstGeom prst="rect">
              <a:avLst/>
            </a:prstGeom>
            <a:solidFill>
              <a:srgbClr val="CC94F1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9" name="output_language_tokens" descr="Move one semantic token sequence as a strip; preserve per-token native rectangles for optional count/color editing."/>
          <p:cNvGrpSpPr/>
          <p:nvPr/>
        </p:nvGrpSpPr>
        <p:grpSpPr>
          <a:xfrm>
            <a:off x="4983826" y="1592503"/>
            <a:ext cx="148289" cy="715659"/>
            <a:chOff x="4983826" y="1592503"/>
            <a:chExt cx="148289" cy="715659"/>
          </a:xfrm>
        </p:grpSpPr>
        <p:sp>
          <p:nvSpPr>
            <p:cNvPr id="110" name="output_language_token_0" descr="Editable shape; source id output_language_token_0"/>
            <p:cNvSpPr/>
            <p:nvPr/>
          </p:nvSpPr>
          <p:spPr>
            <a:xfrm>
              <a:off x="4983826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utput_language_token_1" descr="Editable shape; source id output_language_token_1"/>
            <p:cNvSpPr/>
            <p:nvPr/>
          </p:nvSpPr>
          <p:spPr>
            <a:xfrm>
              <a:off x="4983826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utput_language_token_2" descr="Editable shape; source id output_language_token_2"/>
            <p:cNvSpPr/>
            <p:nvPr/>
          </p:nvSpPr>
          <p:spPr>
            <a:xfrm>
              <a:off x="4983826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utput_language_token_3" descr="Editable shape; source id output_language_token_3"/>
            <p:cNvSpPr/>
            <p:nvPr/>
          </p:nvSpPr>
          <p:spPr>
            <a:xfrm>
              <a:off x="4983826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dit_input_state_tokens" descr="A semantically single state/action token strip; moving individual cells is rarely the intended edit."/>
          <p:cNvGrpSpPr/>
          <p:nvPr/>
        </p:nvGrpSpPr>
        <p:grpSpPr>
          <a:xfrm>
            <a:off x="4983826" y="2740137"/>
            <a:ext cx="148289" cy="341711"/>
            <a:chOff x="4983826" y="2740137"/>
            <a:chExt cx="148289" cy="341711"/>
          </a:xfrm>
        </p:grpSpPr>
        <p:sp>
          <p:nvSpPr>
            <p:cNvPr id="114" name="dit_input_state_0" descr="Editable shape; source id dit_input_state_0"/>
            <p:cNvSpPr/>
            <p:nvPr/>
          </p:nvSpPr>
          <p:spPr>
            <a:xfrm>
              <a:off x="4983826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dit_input_state_1" descr="Editable shape; source id dit_input_state_1"/>
            <p:cNvSpPr/>
            <p:nvPr/>
          </p:nvSpPr>
          <p:spPr>
            <a:xfrm>
              <a:off x="4983826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1" name="dit_input_action_tokens" descr="A semantically single state/action token strip; moving individual cells is rarely the intended edit."/>
          <p:cNvGrpSpPr/>
          <p:nvPr/>
        </p:nvGrpSpPr>
        <p:grpSpPr>
          <a:xfrm>
            <a:off x="4983826" y="3558954"/>
            <a:ext cx="148289" cy="1624741"/>
            <a:chOff x="4983826" y="3558954"/>
            <a:chExt cx="148289" cy="1624741"/>
          </a:xfrm>
        </p:grpSpPr>
        <p:sp>
          <p:nvSpPr>
            <p:cNvPr id="116" name="dit_input_action_0" descr="Editable shape; source id dit_input_action_0"/>
            <p:cNvSpPr/>
            <p:nvPr/>
          </p:nvSpPr>
          <p:spPr>
            <a:xfrm>
              <a:off x="4983826" y="355895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dit_input_action_1" descr="Editable shape; source id dit_input_action_1"/>
            <p:cNvSpPr/>
            <p:nvPr/>
          </p:nvSpPr>
          <p:spPr>
            <a:xfrm>
              <a:off x="4983826" y="37459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dit_input_action_2" descr="Editable shape; source id dit_input_action_2"/>
            <p:cNvSpPr/>
            <p:nvPr/>
          </p:nvSpPr>
          <p:spPr>
            <a:xfrm>
              <a:off x="4983826" y="3926455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dit_input_action_3" descr="Editable shape; source id dit_input_action_3"/>
            <p:cNvSpPr/>
            <p:nvPr/>
          </p:nvSpPr>
          <p:spPr>
            <a:xfrm>
              <a:off x="4983826" y="41134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it_input_action_4" descr="Editable shape; source id dit_input_action_4"/>
            <p:cNvSpPr/>
            <p:nvPr/>
          </p:nvSpPr>
          <p:spPr>
            <a:xfrm>
              <a:off x="4983826" y="4293956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it_input_action_5" descr="Editable shape; source id dit_input_action_5"/>
            <p:cNvSpPr/>
            <p:nvPr/>
          </p:nvSpPr>
          <p:spPr>
            <a:xfrm>
              <a:off x="4983826" y="4480930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dit_input_action_6" descr="Editable shape; source id dit_input_action_6"/>
            <p:cNvSpPr/>
            <p:nvPr/>
          </p:nvSpPr>
          <p:spPr>
            <a:xfrm>
              <a:off x="4983826" y="466790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it_input_action_7" descr="Editable shape; source id dit_input_action_7"/>
            <p:cNvSpPr/>
            <p:nvPr/>
          </p:nvSpPr>
          <p:spPr>
            <a:xfrm>
              <a:off x="4983826" y="4848431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it_input_action_8" descr="Editable shape; source id dit_input_action_8"/>
            <p:cNvSpPr/>
            <p:nvPr/>
          </p:nvSpPr>
          <p:spPr>
            <a:xfrm>
              <a:off x="4983826" y="5028958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2" name="dit_output_state_tokens" descr="A semantically single state/action token strip; moving individual cells is rarely the intended edit."/>
          <p:cNvGrpSpPr/>
          <p:nvPr/>
        </p:nvGrpSpPr>
        <p:grpSpPr>
          <a:xfrm>
            <a:off x="8852255" y="2740137"/>
            <a:ext cx="148289" cy="341711"/>
            <a:chOff x="8852255" y="2740137"/>
            <a:chExt cx="148289" cy="341711"/>
          </a:xfrm>
        </p:grpSpPr>
        <p:sp>
          <p:nvSpPr>
            <p:cNvPr id="125" name="dit_output_state_0" descr="Editable shape; source id dit_output_state_0"/>
            <p:cNvSpPr/>
            <p:nvPr/>
          </p:nvSpPr>
          <p:spPr>
            <a:xfrm>
              <a:off x="8852255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it_output_state_1" descr="Editable shape; source id dit_output_state_1"/>
            <p:cNvSpPr/>
            <p:nvPr/>
          </p:nvSpPr>
          <p:spPr>
            <a:xfrm>
              <a:off x="8852255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3" name="dit_output_action_tokens" descr="A semantically single state/action token strip; moving individual cells is rarely the intended edit."/>
          <p:cNvGrpSpPr/>
          <p:nvPr/>
        </p:nvGrpSpPr>
        <p:grpSpPr>
          <a:xfrm>
            <a:off x="8852255" y="3558954"/>
            <a:ext cx="148289" cy="1624741"/>
            <a:chOff x="8852255" y="3558954"/>
            <a:chExt cx="148289" cy="1624741"/>
          </a:xfrm>
        </p:grpSpPr>
        <p:sp>
          <p:nvSpPr>
            <p:cNvPr id="127" name="dit_output_action_0" descr="Editable shape; source id dit_output_action_0"/>
            <p:cNvSpPr/>
            <p:nvPr/>
          </p:nvSpPr>
          <p:spPr>
            <a:xfrm>
              <a:off x="8852255" y="355895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it_output_action_1" descr="Editable shape; source id dit_output_action_1"/>
            <p:cNvSpPr/>
            <p:nvPr/>
          </p:nvSpPr>
          <p:spPr>
            <a:xfrm>
              <a:off x="8852255" y="37459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it_output_action_2" descr="Editable shape; source id dit_output_action_2"/>
            <p:cNvSpPr/>
            <p:nvPr/>
          </p:nvSpPr>
          <p:spPr>
            <a:xfrm>
              <a:off x="8852255" y="3926455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it_output_action_3" descr="Editable shape; source id dit_output_action_3"/>
            <p:cNvSpPr/>
            <p:nvPr/>
          </p:nvSpPr>
          <p:spPr>
            <a:xfrm>
              <a:off x="8852255" y="41134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dit_output_action_4" descr="Editable shape; source id dit_output_action_4"/>
            <p:cNvSpPr/>
            <p:nvPr/>
          </p:nvSpPr>
          <p:spPr>
            <a:xfrm>
              <a:off x="8852255" y="4293956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it_output_action_5" descr="Editable shape; source id dit_output_action_5"/>
            <p:cNvSpPr/>
            <p:nvPr/>
          </p:nvSpPr>
          <p:spPr>
            <a:xfrm>
              <a:off x="8852255" y="4480930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dit_output_action_6" descr="Editable shape; source id dit_output_action_6"/>
            <p:cNvSpPr/>
            <p:nvPr/>
          </p:nvSpPr>
          <p:spPr>
            <a:xfrm>
              <a:off x="8852255" y="466790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dit_output_action_7" descr="Editable shape; source id dit_output_action_7"/>
            <p:cNvSpPr/>
            <p:nvPr/>
          </p:nvSpPr>
          <p:spPr>
            <a:xfrm>
              <a:off x="8852255" y="4848431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it_output_action_8" descr="Editable shape; source id dit_output_action_8"/>
            <p:cNvSpPr/>
            <p:nvPr/>
          </p:nvSpPr>
          <p:spPr>
            <a:xfrm>
              <a:off x="8852255" y="5028958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36" name="observation_photo" descr="Exact source raster crop; photo/complex robot rendering, excluding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" y="180526"/>
            <a:ext cx="1702108" cy="1212107"/>
          </a:xfrm>
          <a:prstGeom prst="rect">
            <a:avLst/>
          </a:prstGeom>
          <a:effectLst/>
        </p:spPr>
      </p:pic>
      <p:grpSp>
        <p:nvGrpSpPr>
          <p:cNvPr id="177" name="motor_output" descr="Robot artwork and its two-line editable Motor Action label."/>
          <p:cNvGrpSpPr/>
          <p:nvPr/>
        </p:nvGrpSpPr>
        <p:grpSpPr>
          <a:xfrm>
            <a:off x="11547261" y="2894874"/>
            <a:ext cx="644738" cy="2142647"/>
            <a:chOff x="11547261" y="2894874"/>
            <a:chExt cx="644738" cy="2142647"/>
          </a:xfrm>
        </p:grpSpPr>
        <p:pic>
          <p:nvPicPr>
            <p:cNvPr id="137" name="humanoid_art" descr="Exact source raster crop; photo/complex robot rendering, excluding label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79498" y="2894874"/>
              <a:ext cx="567369" cy="1528029"/>
            </a:xfrm>
            <a:prstGeom prst="rect">
              <a:avLst/>
            </a:prstGeom>
            <a:effectLst/>
          </p:spPr>
        </p:pic>
        <p:sp>
          <p:nvSpPr>
            <p:cNvPr id="138" name="motor_label" descr="Editable text; source id motor_label"/>
            <p:cNvSpPr txBox="1"/>
            <p:nvPr/>
          </p:nvSpPr>
          <p:spPr>
            <a:xfrm>
              <a:off x="11547261" y="4573310"/>
              <a:ext cx="644738" cy="46421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39" name="robot_state_label" descr="Editable text; source id robot_state_label"/>
          <p:cNvSpPr txBox="1"/>
          <p:nvPr/>
        </p:nvSpPr>
        <p:spPr>
          <a:xfrm>
            <a:off x="419079" y="2823953"/>
            <a:ext cx="1128291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140" name="noised_action_label" descr="Editable text; source id noised_action_label"/>
          <p:cNvSpPr txBox="1"/>
          <p:nvPr/>
        </p:nvSpPr>
        <p:spPr>
          <a:xfrm>
            <a:off x="341711" y="4255272"/>
            <a:ext cx="1257239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 Action</a:t>
            </a:r>
          </a:p>
        </p:txBody>
      </p:sp>
      <p:grpSp>
        <p:nvGrpSpPr>
          <p:cNvPr id="175" name="frozen_legend" descr="Freeze-status legend icon and full label."/>
          <p:cNvGrpSpPr/>
          <p:nvPr/>
        </p:nvGrpSpPr>
        <p:grpSpPr>
          <a:xfrm>
            <a:off x="8284886" y="1302371"/>
            <a:ext cx="3475138" cy="303027"/>
            <a:chOff x="8284886" y="1302371"/>
            <a:chExt cx="3475138" cy="303027"/>
          </a:xfrm>
        </p:grpSpPr>
        <p:sp>
          <p:nvSpPr>
            <p:cNvPr id="141" name="legend_frozen_label" descr="Editable text; source id legend_frozen_label"/>
            <p:cNvSpPr txBox="1"/>
            <p:nvPr/>
          </p:nvSpPr>
          <p:spPr>
            <a:xfrm>
              <a:off x="8761992" y="1341055"/>
              <a:ext cx="2998032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Pre-trained and Frozen</a:t>
              </a:r>
            </a:p>
          </p:txBody>
        </p:sp>
        <p:sp>
          <p:nvSpPr>
            <p:cNvPr id="142" name="legend_frozen_icon" descr="Editable shape; source id legend_frozen_icon"/>
            <p:cNvSpPr/>
            <p:nvPr/>
          </p:nvSpPr>
          <p:spPr>
            <a:xfrm>
              <a:off x="7865807" y="1560266"/>
              <a:ext cx="270790" cy="303027"/>
            </a:xfrm>
            <a:custGeom>
              <a:avLst/>
              <a:gdLst/>
              <a:ahLst/>
              <a:cxnLst/>
              <a:rect l="l" t="t" r="r" b="b"/>
              <a:pathLst>
                <a:path w="42000" h="47000">
                  <a:moveTo>
                    <a:pt x="0" y="19000"/>
                  </a:moveTo>
                  <a:lnTo>
                    <a:pt x="5000" y="17000"/>
                  </a:lnTo>
                  <a:lnTo>
                    <a:pt x="5000" y="15000"/>
                  </a:lnTo>
                  <a:lnTo>
                    <a:pt x="3000" y="15000"/>
                  </a:lnTo>
                  <a:lnTo>
                    <a:pt x="1000" y="13000"/>
                  </a:lnTo>
                  <a:lnTo>
                    <a:pt x="1000" y="11000"/>
                  </a:lnTo>
                  <a:lnTo>
                    <a:pt x="4000" y="11000"/>
                  </a:lnTo>
                  <a:lnTo>
                    <a:pt x="4000" y="12000"/>
                  </a:lnTo>
                  <a:lnTo>
                    <a:pt x="8000" y="13000"/>
                  </a:lnTo>
                  <a:lnTo>
                    <a:pt x="7000" y="7000"/>
                  </a:lnTo>
                  <a:lnTo>
                    <a:pt x="10000" y="7000"/>
                  </a:lnTo>
                  <a:lnTo>
                    <a:pt x="11000" y="16000"/>
                  </a:lnTo>
                  <a:lnTo>
                    <a:pt x="13000" y="16000"/>
                  </a:lnTo>
                  <a:lnTo>
                    <a:pt x="17000" y="20000"/>
                  </a:lnTo>
                  <a:lnTo>
                    <a:pt x="20000" y="20000"/>
                  </a:lnTo>
                  <a:lnTo>
                    <a:pt x="20000" y="11000"/>
                  </a:lnTo>
                  <a:lnTo>
                    <a:pt x="17000" y="8000"/>
                  </a:lnTo>
                  <a:lnTo>
                    <a:pt x="15000" y="8000"/>
                  </a:lnTo>
                  <a:lnTo>
                    <a:pt x="13000" y="6000"/>
                  </a:lnTo>
                  <a:lnTo>
                    <a:pt x="13000" y="4000"/>
                  </a:lnTo>
                  <a:lnTo>
                    <a:pt x="15000" y="3000"/>
                  </a:lnTo>
                  <a:lnTo>
                    <a:pt x="18000" y="6000"/>
                  </a:lnTo>
                  <a:lnTo>
                    <a:pt x="20000" y="6000"/>
                  </a:lnTo>
                  <a:lnTo>
                    <a:pt x="20000" y="0"/>
                  </a:lnTo>
                  <a:lnTo>
                    <a:pt x="22000" y="0"/>
                  </a:lnTo>
                  <a:lnTo>
                    <a:pt x="23000" y="1000"/>
                  </a:lnTo>
                  <a:lnTo>
                    <a:pt x="23000" y="6000"/>
                  </a:lnTo>
                  <a:lnTo>
                    <a:pt x="26000" y="5000"/>
                  </a:lnTo>
                  <a:lnTo>
                    <a:pt x="27000" y="3000"/>
                  </a:lnTo>
                  <a:lnTo>
                    <a:pt x="29000" y="3000"/>
                  </a:lnTo>
                  <a:lnTo>
                    <a:pt x="29000" y="6000"/>
                  </a:lnTo>
                  <a:lnTo>
                    <a:pt x="26000" y="9000"/>
                  </a:lnTo>
                  <a:lnTo>
                    <a:pt x="23000" y="10000"/>
                  </a:lnTo>
                  <a:lnTo>
                    <a:pt x="23000" y="20000"/>
                  </a:lnTo>
                  <a:lnTo>
                    <a:pt x="25000" y="20000"/>
                  </a:lnTo>
                  <a:lnTo>
                    <a:pt x="26000" y="18000"/>
                  </a:lnTo>
                  <a:lnTo>
                    <a:pt x="31000" y="16000"/>
                  </a:lnTo>
                  <a:lnTo>
                    <a:pt x="32000" y="7000"/>
                  </a:lnTo>
                  <a:lnTo>
                    <a:pt x="35000" y="7000"/>
                  </a:lnTo>
                  <a:lnTo>
                    <a:pt x="35000" y="13000"/>
                  </a:lnTo>
                  <a:lnTo>
                    <a:pt x="38000" y="12000"/>
                  </a:lnTo>
                  <a:lnTo>
                    <a:pt x="38000" y="11000"/>
                  </a:lnTo>
                  <a:lnTo>
                    <a:pt x="41000" y="11000"/>
                  </a:lnTo>
                  <a:lnTo>
                    <a:pt x="41000" y="14000"/>
                  </a:lnTo>
                  <a:lnTo>
                    <a:pt x="37000" y="15000"/>
                  </a:lnTo>
                  <a:lnTo>
                    <a:pt x="37000" y="17000"/>
                  </a:lnTo>
                  <a:lnTo>
                    <a:pt x="41000" y="18000"/>
                  </a:lnTo>
                  <a:lnTo>
                    <a:pt x="42000" y="21000"/>
                  </a:lnTo>
                  <a:lnTo>
                    <a:pt x="38000" y="21000"/>
                  </a:lnTo>
                  <a:lnTo>
                    <a:pt x="36000" y="19000"/>
                  </a:lnTo>
                  <a:lnTo>
                    <a:pt x="31000" y="19000"/>
                  </a:lnTo>
                  <a:lnTo>
                    <a:pt x="31000" y="20000"/>
                  </a:lnTo>
                  <a:lnTo>
                    <a:pt x="29000" y="20000"/>
                  </a:lnTo>
                  <a:lnTo>
                    <a:pt x="28000" y="22000"/>
                  </a:lnTo>
                  <a:lnTo>
                    <a:pt x="25000" y="23000"/>
                  </a:lnTo>
                  <a:lnTo>
                    <a:pt x="27000" y="26000"/>
                  </a:lnTo>
                  <a:lnTo>
                    <a:pt x="29000" y="26000"/>
                  </a:lnTo>
                  <a:lnTo>
                    <a:pt x="32000" y="29000"/>
                  </a:lnTo>
                  <a:lnTo>
                    <a:pt x="34000" y="29000"/>
                  </a:lnTo>
                  <a:lnTo>
                    <a:pt x="36000" y="27000"/>
                  </a:lnTo>
                  <a:lnTo>
                    <a:pt x="39000" y="27000"/>
                  </a:lnTo>
                  <a:lnTo>
                    <a:pt x="39000" y="26000"/>
                  </a:lnTo>
                  <a:lnTo>
                    <a:pt x="42000" y="26000"/>
                  </a:lnTo>
                  <a:lnTo>
                    <a:pt x="42000" y="28000"/>
                  </a:lnTo>
                  <a:lnTo>
                    <a:pt x="40000" y="30000"/>
                  </a:lnTo>
                  <a:lnTo>
                    <a:pt x="37000" y="30000"/>
                  </a:lnTo>
                  <a:lnTo>
                    <a:pt x="37000" y="32000"/>
                  </a:lnTo>
                  <a:lnTo>
                    <a:pt x="39000" y="32000"/>
                  </a:lnTo>
                  <a:lnTo>
                    <a:pt x="41000" y="34000"/>
                  </a:lnTo>
                  <a:lnTo>
                    <a:pt x="41000" y="36000"/>
                  </a:lnTo>
                  <a:lnTo>
                    <a:pt x="39000" y="37000"/>
                  </a:lnTo>
                  <a:lnTo>
                    <a:pt x="38000" y="35000"/>
                  </a:lnTo>
                  <a:lnTo>
                    <a:pt x="35000" y="34000"/>
                  </a:lnTo>
                  <a:lnTo>
                    <a:pt x="35000" y="40000"/>
                  </a:lnTo>
                  <a:lnTo>
                    <a:pt x="33000" y="41000"/>
                  </a:lnTo>
                  <a:lnTo>
                    <a:pt x="32000" y="40000"/>
                  </a:lnTo>
                  <a:lnTo>
                    <a:pt x="31000" y="31000"/>
                  </a:lnTo>
                  <a:lnTo>
                    <a:pt x="29000" y="31000"/>
                  </a:lnTo>
                  <a:lnTo>
                    <a:pt x="28000" y="29000"/>
                  </a:lnTo>
                  <a:lnTo>
                    <a:pt x="23000" y="27000"/>
                  </a:lnTo>
                  <a:lnTo>
                    <a:pt x="23000" y="37000"/>
                  </a:lnTo>
                  <a:lnTo>
                    <a:pt x="29000" y="41000"/>
                  </a:lnTo>
                  <a:lnTo>
                    <a:pt x="29000" y="44000"/>
                  </a:lnTo>
                  <a:lnTo>
                    <a:pt x="27000" y="44000"/>
                  </a:lnTo>
                  <a:lnTo>
                    <a:pt x="27000" y="43000"/>
                  </a:lnTo>
                  <a:lnTo>
                    <a:pt x="25000" y="43000"/>
                  </a:lnTo>
                  <a:lnTo>
                    <a:pt x="23000" y="41000"/>
                  </a:lnTo>
                  <a:lnTo>
                    <a:pt x="23000" y="46000"/>
                  </a:lnTo>
                  <a:lnTo>
                    <a:pt x="20000" y="47000"/>
                  </a:lnTo>
                  <a:lnTo>
                    <a:pt x="20000" y="41000"/>
                  </a:lnTo>
                  <a:lnTo>
                    <a:pt x="18000" y="41000"/>
                  </a:lnTo>
                  <a:lnTo>
                    <a:pt x="16000" y="44000"/>
                  </a:lnTo>
                  <a:lnTo>
                    <a:pt x="13000" y="44000"/>
                  </a:lnTo>
                  <a:lnTo>
                    <a:pt x="13000" y="41000"/>
                  </a:lnTo>
                  <a:lnTo>
                    <a:pt x="16000" y="40000"/>
                  </a:lnTo>
                  <a:lnTo>
                    <a:pt x="20000" y="36000"/>
                  </a:lnTo>
                  <a:lnTo>
                    <a:pt x="20000" y="27000"/>
                  </a:lnTo>
                  <a:lnTo>
                    <a:pt x="18000" y="27000"/>
                  </a:lnTo>
                  <a:lnTo>
                    <a:pt x="18000" y="28000"/>
                  </a:lnTo>
                  <a:lnTo>
                    <a:pt x="14000" y="29000"/>
                  </a:lnTo>
                  <a:lnTo>
                    <a:pt x="13000" y="31000"/>
                  </a:lnTo>
                  <a:lnTo>
                    <a:pt x="11000" y="31000"/>
                  </a:lnTo>
                  <a:lnTo>
                    <a:pt x="11000" y="37000"/>
                  </a:lnTo>
                  <a:lnTo>
                    <a:pt x="10000" y="37000"/>
                  </a:lnTo>
                  <a:lnTo>
                    <a:pt x="9000" y="41000"/>
                  </a:lnTo>
                  <a:lnTo>
                    <a:pt x="7000" y="40000"/>
                  </a:lnTo>
                  <a:lnTo>
                    <a:pt x="8000" y="34000"/>
                  </a:lnTo>
                  <a:lnTo>
                    <a:pt x="6000" y="34000"/>
                  </a:lnTo>
                  <a:lnTo>
                    <a:pt x="3000" y="37000"/>
                  </a:lnTo>
                  <a:lnTo>
                    <a:pt x="1000" y="36000"/>
                  </a:lnTo>
                  <a:lnTo>
                    <a:pt x="1000" y="34000"/>
                  </a:lnTo>
                  <a:lnTo>
                    <a:pt x="4000" y="33000"/>
                  </a:lnTo>
                  <a:lnTo>
                    <a:pt x="5000" y="30000"/>
                  </a:lnTo>
                  <a:lnTo>
                    <a:pt x="0" y="28000"/>
                  </a:lnTo>
                  <a:lnTo>
                    <a:pt x="1000" y="26000"/>
                  </a:lnTo>
                  <a:lnTo>
                    <a:pt x="4000" y="26000"/>
                  </a:lnTo>
                  <a:lnTo>
                    <a:pt x="4000" y="27000"/>
                  </a:lnTo>
                  <a:lnTo>
                    <a:pt x="10000" y="29000"/>
                  </a:lnTo>
                  <a:lnTo>
                    <a:pt x="13000" y="26000"/>
                  </a:lnTo>
                  <a:lnTo>
                    <a:pt x="17000" y="25000"/>
                  </a:lnTo>
                  <a:lnTo>
                    <a:pt x="18000" y="23000"/>
                  </a:lnTo>
                  <a:lnTo>
                    <a:pt x="16000" y="23000"/>
                  </a:lnTo>
                  <a:lnTo>
                    <a:pt x="15000" y="21000"/>
                  </a:lnTo>
                  <a:lnTo>
                    <a:pt x="13000" y="21000"/>
                  </a:lnTo>
                  <a:lnTo>
                    <a:pt x="11000" y="19000"/>
                  </a:lnTo>
                  <a:lnTo>
                    <a:pt x="7000" y="19000"/>
                  </a:lnTo>
                  <a:lnTo>
                    <a:pt x="7000" y="20000"/>
                  </a:lnTo>
                  <a:lnTo>
                    <a:pt x="4000" y="20000"/>
                  </a:lnTo>
                  <a:lnTo>
                    <a:pt x="4000" y="21000"/>
                  </a:lnTo>
                  <a:lnTo>
                    <a:pt x="1000" y="21000"/>
                  </a:lnTo>
                  <a:close/>
                </a:path>
              </a:pathLst>
            </a:custGeom>
            <a:solidFill>
              <a:srgbClr val="E97424"/>
            </a:solidFill>
            <a:ln>
              <a:noFill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3" name="instruction_text" descr="Editable text; source id instruction_text"/>
          <p:cNvSpPr txBox="1"/>
          <p:nvPr/>
        </p:nvSpPr>
        <p:spPr>
          <a:xfrm>
            <a:off x="109605" y="1660880"/>
            <a:ext cx="1837503" cy="6060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“Pick up the apple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and place it into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the bottom shelf”</a:t>
            </a:r>
          </a:p>
        </p:txBody>
      </p:sp>
      <p:grpSp>
        <p:nvGrpSpPr>
          <p:cNvPr id="161" name="state_q" descr="One mathematical quantity: baseline and subscript must move together. Components preserve math style; grouping must not flatten editable text."/>
          <p:cNvGrpSpPr/>
          <p:nvPr/>
        </p:nvGrpSpPr>
        <p:grpSpPr>
          <a:xfrm>
            <a:off x="2072833" y="2799775"/>
            <a:ext cx="177303" cy="298565"/>
            <a:chOff x="2072833" y="2799775"/>
            <a:chExt cx="177303" cy="298565"/>
          </a:xfrm>
        </p:grpSpPr>
        <p:sp>
          <p:nvSpPr>
            <p:cNvPr id="144" name="state_q_0" descr="Editable text; source id state_q_0"/>
            <p:cNvSpPr txBox="1"/>
            <p:nvPr/>
          </p:nvSpPr>
          <p:spPr>
            <a:xfrm>
              <a:off x="2072833" y="2799775"/>
              <a:ext cx="125723" cy="276592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  <a:def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</a:p>
          </p:txBody>
        </p:sp>
        <p:sp>
          <p:nvSpPr>
            <p:cNvPr id="145" name="state_q_1" descr="Editable text; source id state_q_1"/>
            <p:cNvSpPr txBox="1"/>
            <p:nvPr/>
          </p:nvSpPr>
          <p:spPr>
            <a:xfrm>
              <a:off x="2188886" y="2896486"/>
              <a:ext cx="61250" cy="201854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1513"/>
                </a:lnSpc>
                <a:spcBef>
                  <a:spcPts val="0"/>
                </a:spcBef>
                <a:spcAft>
                  <a:spcPts val="0"/>
                </a:spcAft>
                <a:def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