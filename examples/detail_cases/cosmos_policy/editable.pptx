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85639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Figure 2, Cosmos Policy, Kim et al., arXiv:2601.16163v1 (2026-01-22). CC BY 4.0 https://creativecommons.org/licenses/by/4.0/. Native reconstruction from raster; photos and latent textures retained as crops.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ditioning" descr="Editable shape; source id conditioning"/>
          <p:cNvSpPr/>
          <p:nvPr/>
        </p:nvSpPr>
        <p:spPr>
          <a:xfrm>
            <a:off x="795795" y="357087"/>
            <a:ext cx="4591129" cy="4448294"/>
          </a:xfrm>
          <a:prstGeom prst="roundRect">
            <a:avLst>
              <a:gd name="adj" fmla="val 2522"/>
            </a:avLst>
          </a:prstGeom>
          <a:solidFill>
            <a:srgbClr val="F1FFE8"/>
          </a:solidFill>
          <a:ln w="5101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rget" descr="Editable shape; source id target"/>
          <p:cNvSpPr/>
          <p:nvPr/>
        </p:nvSpPr>
        <p:spPr>
          <a:xfrm>
            <a:off x="5417532" y="357087"/>
            <a:ext cx="6723454" cy="4448294"/>
          </a:xfrm>
          <a:prstGeom prst="roundRect">
            <a:avLst>
              <a:gd name="adj" fmla="val 2522"/>
            </a:avLst>
          </a:prstGeom>
          <a:solidFill>
            <a:srgbClr val="F8E1DB"/>
          </a:solidFill>
          <a:ln w="5101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ditioning_title" descr="Editable text; source id conditioning_title"/>
          <p:cNvSpPr txBox="1"/>
          <p:nvPr/>
        </p:nvSpPr>
        <p:spPr>
          <a:xfrm>
            <a:off x="1703819" y="35708"/>
            <a:ext cx="2907715" cy="30607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defRPr sz="188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conditioning subsequence</a:t>
            </a:r>
          </a:p>
        </p:txBody>
      </p:sp>
      <p:sp>
        <p:nvSpPr>
          <p:cNvPr id="5" name="target_title" descr="Editable text; source id target_title"/>
          <p:cNvSpPr txBox="1"/>
          <p:nvPr/>
        </p:nvSpPr>
        <p:spPr>
          <a:xfrm>
            <a:off x="7764110" y="35708"/>
            <a:ext cx="2244552" cy="30607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defRPr sz="188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subsequence</a:t>
            </a:r>
          </a:p>
        </p:txBody>
      </p:sp>
      <p:pic>
        <p:nvPicPr>
          <p:cNvPr id="6" name="image_stack_0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299" y="632555"/>
            <a:ext cx="999846" cy="1010048"/>
          </a:xfrm>
          <a:prstGeom prst="rect">
            <a:avLst/>
          </a:prstGeom>
          <a:effectLst/>
        </p:spPr>
      </p:pic>
      <p:sp>
        <p:nvSpPr>
          <p:cNvPr id="7" name="top_label_0" descr="Editable text; source id top_label_0"/>
          <p:cNvSpPr txBox="1"/>
          <p:nvPr/>
        </p:nvSpPr>
        <p:spPr>
          <a:xfrm>
            <a:off x="2081312" y="448910"/>
            <a:ext cx="1020251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wrist img</a:t>
            </a:r>
          </a:p>
        </p:txBody>
      </p:sp>
      <p:pic>
        <p:nvPicPr>
          <p:cNvPr id="8" name="image_stack_1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765" y="632555"/>
            <a:ext cx="999846" cy="1010048"/>
          </a:xfrm>
          <a:prstGeom prst="rect">
            <a:avLst/>
          </a:prstGeom>
          <a:effectLst/>
        </p:spPr>
      </p:pic>
      <p:sp>
        <p:nvSpPr>
          <p:cNvPr id="9" name="top_label_1" descr="Editable text; source id top_label_1"/>
          <p:cNvSpPr txBox="1"/>
          <p:nvPr/>
        </p:nvSpPr>
        <p:spPr>
          <a:xfrm>
            <a:off x="3193385" y="448910"/>
            <a:ext cx="1020251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left img</a:t>
            </a:r>
          </a:p>
        </p:txBody>
      </p:sp>
      <p:pic>
        <p:nvPicPr>
          <p:cNvPr id="10" name="image_stack_2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434" y="632555"/>
            <a:ext cx="999846" cy="1010048"/>
          </a:xfrm>
          <a:prstGeom prst="rect">
            <a:avLst/>
          </a:prstGeom>
          <a:effectLst/>
        </p:spPr>
      </p:pic>
      <p:sp>
        <p:nvSpPr>
          <p:cNvPr id="11" name="top_label_2" descr="Editable text; source id top_label_2"/>
          <p:cNvSpPr txBox="1"/>
          <p:nvPr/>
        </p:nvSpPr>
        <p:spPr>
          <a:xfrm>
            <a:off x="4254446" y="448910"/>
            <a:ext cx="1020251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right img</a:t>
            </a:r>
          </a:p>
        </p:txBody>
      </p:sp>
      <p:pic>
        <p:nvPicPr>
          <p:cNvPr id="12" name="image_stack_3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110" y="632555"/>
            <a:ext cx="999846" cy="1010048"/>
          </a:xfrm>
          <a:prstGeom prst="rect">
            <a:avLst/>
          </a:prstGeom>
          <a:effectLst/>
        </p:spPr>
      </p:pic>
      <p:sp>
        <p:nvSpPr>
          <p:cNvPr id="13" name="top_label_3" descr="Editable text; source id top_label_3"/>
          <p:cNvSpPr txBox="1"/>
          <p:nvPr/>
        </p:nvSpPr>
        <p:spPr>
          <a:xfrm>
            <a:off x="7835527" y="448910"/>
            <a:ext cx="1020251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wrist img</a:t>
            </a:r>
          </a:p>
        </p:txBody>
      </p:sp>
      <p:pic>
        <p:nvPicPr>
          <p:cNvPr id="14" name="image_stack_4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576" y="632555"/>
            <a:ext cx="999846" cy="1010048"/>
          </a:xfrm>
          <a:prstGeom prst="rect">
            <a:avLst/>
          </a:prstGeom>
          <a:effectLst/>
        </p:spPr>
      </p:pic>
      <p:sp>
        <p:nvSpPr>
          <p:cNvPr id="15" name="top_label_4" descr="Editable text; source id top_label_4"/>
          <p:cNvSpPr txBox="1"/>
          <p:nvPr/>
        </p:nvSpPr>
        <p:spPr>
          <a:xfrm>
            <a:off x="8957803" y="448910"/>
            <a:ext cx="1020251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left img</a:t>
            </a:r>
          </a:p>
        </p:txBody>
      </p:sp>
      <p:pic>
        <p:nvPicPr>
          <p:cNvPr id="16" name="image_stack_5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6839" y="632555"/>
            <a:ext cx="999846" cy="1010048"/>
          </a:xfrm>
          <a:prstGeom prst="rect">
            <a:avLst/>
          </a:prstGeom>
          <a:effectLst/>
        </p:spPr>
      </p:pic>
      <p:sp>
        <p:nvSpPr>
          <p:cNvPr id="17" name="top_label_5" descr="Editable text; source id top_label_5"/>
          <p:cNvSpPr txBox="1"/>
          <p:nvPr/>
        </p:nvSpPr>
        <p:spPr>
          <a:xfrm>
            <a:off x="9957649" y="448910"/>
            <a:ext cx="1020251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right img</a:t>
            </a:r>
          </a:p>
        </p:txBody>
      </p:sp>
      <p:sp>
        <p:nvSpPr>
          <p:cNvPr id="18" name="injection_title" descr="Editable text; source id injection_title"/>
          <p:cNvSpPr txBox="1"/>
          <p:nvPr/>
        </p:nvSpPr>
        <p:spPr>
          <a:xfrm>
            <a:off x="2122122" y="1663009"/>
            <a:ext cx="8723146" cy="3162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157"/>
              </a:lnSpc>
              <a:spcBef>
                <a:spcPts val="0"/>
              </a:spcBef>
              <a:spcAft>
                <a:spcPts val="0"/>
              </a:spcAft>
              <a:defRPr sz="1875" b="1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defRPr>
            </a:pPr>
            <a:r>
              <a:rPr sz="1875" b="1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rPr>
              <a:t>latent injection</a:t>
            </a:r>
            <a:r>
              <a:rPr sz="187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of additional modalities: robot proprioception, actions, and value</a:t>
            </a:r>
          </a:p>
        </p:txBody>
      </p:sp>
      <p:cxnSp>
        <p:nvCxnSpPr>
          <p:cNvPr id="19" name="injection_bus" descr="Editable line; source id injection_bus"/>
          <p:cNvCxnSpPr/>
          <p:nvPr/>
        </p:nvCxnSpPr>
        <p:spPr>
          <a:xfrm>
            <a:off x="1418148" y="1958881"/>
            <a:ext cx="10069878" cy="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nject_current" descr="Editable line; source id inject_current"/>
          <p:cNvSpPr/>
          <p:nvPr/>
        </p:nvSpPr>
        <p:spPr>
          <a:xfrm>
            <a:off x="1382440" y="1958882"/>
            <a:ext cx="71418" cy="163240"/>
          </a:xfrm>
          <a:custGeom>
            <a:avLst/>
            <a:gdLst/>
            <a:ahLst/>
            <a:cxnLst/>
            <a:rect l="l" t="t" r="r" b="b"/>
            <a:pathLst>
              <a:path w="7000" h="16000">
                <a:moveTo>
                  <a:pt x="4350" y="0"/>
                </a:moveTo>
                <a:lnTo>
                  <a:pt x="4350" y="9000"/>
                </a:lnTo>
                <a:lnTo>
                  <a:pt x="7000" y="9000"/>
                </a:lnTo>
                <a:lnTo>
                  <a:pt x="3500" y="16000"/>
                </a:lnTo>
                <a:lnTo>
                  <a:pt x="0" y="9000"/>
                </a:lnTo>
                <a:lnTo>
                  <a:pt x="2650" y="9000"/>
                </a:lnTo>
                <a:lnTo>
                  <a:pt x="265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ject_action" descr="Editable line; source id inject_action"/>
          <p:cNvSpPr/>
          <p:nvPr/>
        </p:nvSpPr>
        <p:spPr>
          <a:xfrm>
            <a:off x="6055190" y="1958882"/>
            <a:ext cx="71418" cy="163240"/>
          </a:xfrm>
          <a:custGeom>
            <a:avLst/>
            <a:gdLst/>
            <a:ahLst/>
            <a:cxnLst/>
            <a:rect l="l" t="t" r="r" b="b"/>
            <a:pathLst>
              <a:path w="7000" h="16000">
                <a:moveTo>
                  <a:pt x="4350" y="0"/>
                </a:moveTo>
                <a:lnTo>
                  <a:pt x="4350" y="9000"/>
                </a:lnTo>
                <a:lnTo>
                  <a:pt x="7000" y="9000"/>
                </a:lnTo>
                <a:lnTo>
                  <a:pt x="3500" y="16000"/>
                </a:lnTo>
                <a:lnTo>
                  <a:pt x="0" y="9000"/>
                </a:lnTo>
                <a:lnTo>
                  <a:pt x="2650" y="9000"/>
                </a:lnTo>
                <a:lnTo>
                  <a:pt x="265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ject_future" descr="Editable line; source id inject_future"/>
          <p:cNvSpPr/>
          <p:nvPr/>
        </p:nvSpPr>
        <p:spPr>
          <a:xfrm>
            <a:off x="7126453" y="1958882"/>
            <a:ext cx="71418" cy="163240"/>
          </a:xfrm>
          <a:custGeom>
            <a:avLst/>
            <a:gdLst/>
            <a:ahLst/>
            <a:cxnLst/>
            <a:rect l="l" t="t" r="r" b="b"/>
            <a:pathLst>
              <a:path w="7000" h="16000">
                <a:moveTo>
                  <a:pt x="4350" y="0"/>
                </a:moveTo>
                <a:lnTo>
                  <a:pt x="4350" y="9000"/>
                </a:lnTo>
                <a:lnTo>
                  <a:pt x="7000" y="9000"/>
                </a:lnTo>
                <a:lnTo>
                  <a:pt x="3500" y="16000"/>
                </a:lnTo>
                <a:lnTo>
                  <a:pt x="0" y="9000"/>
                </a:lnTo>
                <a:lnTo>
                  <a:pt x="2650" y="9000"/>
                </a:lnTo>
                <a:lnTo>
                  <a:pt x="265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ject_value" descr="Editable line; source id inject_value"/>
          <p:cNvSpPr/>
          <p:nvPr/>
        </p:nvSpPr>
        <p:spPr>
          <a:xfrm>
            <a:off x="11452318" y="1958882"/>
            <a:ext cx="71418" cy="163240"/>
          </a:xfrm>
          <a:custGeom>
            <a:avLst/>
            <a:gdLst/>
            <a:ahLst/>
            <a:cxnLst/>
            <a:rect l="l" t="t" r="r" b="b"/>
            <a:pathLst>
              <a:path w="7000" h="16000">
                <a:moveTo>
                  <a:pt x="4350" y="0"/>
                </a:moveTo>
                <a:lnTo>
                  <a:pt x="4350" y="9000"/>
                </a:lnTo>
                <a:lnTo>
                  <a:pt x="7000" y="9000"/>
                </a:lnTo>
                <a:lnTo>
                  <a:pt x="3500" y="16000"/>
                </a:lnTo>
                <a:lnTo>
                  <a:pt x="0" y="9000"/>
                </a:lnTo>
                <a:lnTo>
                  <a:pt x="2650" y="9000"/>
                </a:lnTo>
                <a:lnTo>
                  <a:pt x="265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tent_label_0" descr="Editable text; source id latent_label_0"/>
          <p:cNvSpPr txBox="1"/>
          <p:nvPr/>
        </p:nvSpPr>
        <p:spPr>
          <a:xfrm>
            <a:off x="959035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rPr>
              <a:t>current proprio</a:t>
            </a:r>
          </a:p>
        </p:txBody>
      </p:sp>
      <p:sp>
        <p:nvSpPr>
          <p:cNvPr id="25" name="red_frame_0" descr="Editable shape; source id red_frame_0"/>
          <p:cNvSpPr/>
          <p:nvPr/>
        </p:nvSpPr>
        <p:spPr>
          <a:xfrm>
            <a:off x="959035" y="2275159"/>
            <a:ext cx="928428" cy="938630"/>
          </a:xfrm>
          <a:prstGeom prst="rect">
            <a:avLst/>
          </a:prstGeom>
          <a:solidFill>
            <a:srgbClr val="B52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latent_0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048" y="2336374"/>
            <a:ext cx="826403" cy="816200"/>
          </a:xfrm>
          <a:prstGeom prst="rect">
            <a:avLst/>
          </a:prstGeom>
          <a:effectLst/>
        </p:spPr>
      </p:pic>
      <p:pic>
        <p:nvPicPr>
          <p:cNvPr id="27" name="noise_0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440" y="3468853"/>
            <a:ext cx="887618" cy="887618"/>
          </a:xfrm>
          <a:prstGeom prst="rect">
            <a:avLst/>
          </a:prstGeom>
          <a:effectLst/>
        </p:spPr>
      </p:pic>
      <p:sp>
        <p:nvSpPr>
          <p:cNvPr id="28" name="latent_label_1" descr="Editable text; source id latent_label_1"/>
          <p:cNvSpPr txBox="1"/>
          <p:nvPr/>
        </p:nvSpPr>
        <p:spPr>
          <a:xfrm>
            <a:off x="2060907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wrist img</a:t>
            </a:r>
          </a:p>
        </p:txBody>
      </p:sp>
      <p:pic>
        <p:nvPicPr>
          <p:cNvPr id="29" name="latent_1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1312" y="2305767"/>
            <a:ext cx="887618" cy="887618"/>
          </a:xfrm>
          <a:prstGeom prst="rect">
            <a:avLst/>
          </a:prstGeom>
          <a:effectLst/>
        </p:spPr>
      </p:pic>
      <p:pic>
        <p:nvPicPr>
          <p:cNvPr id="30" name="noise_1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1312" y="3468853"/>
            <a:ext cx="887618" cy="887618"/>
          </a:xfrm>
          <a:prstGeom prst="rect">
            <a:avLst/>
          </a:prstGeom>
          <a:effectLst/>
        </p:spPr>
      </p:pic>
      <p:sp>
        <p:nvSpPr>
          <p:cNvPr id="31" name="latent_label_2" descr="Editable text; source id latent_label_2"/>
          <p:cNvSpPr txBox="1"/>
          <p:nvPr/>
        </p:nvSpPr>
        <p:spPr>
          <a:xfrm>
            <a:off x="3152575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left img</a:t>
            </a:r>
          </a:p>
        </p:txBody>
      </p:sp>
      <p:pic>
        <p:nvPicPr>
          <p:cNvPr id="32" name="latent_2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2980" y="2305767"/>
            <a:ext cx="887618" cy="887618"/>
          </a:xfrm>
          <a:prstGeom prst="rect">
            <a:avLst/>
          </a:prstGeom>
          <a:effectLst/>
        </p:spPr>
      </p:pic>
      <p:pic>
        <p:nvPicPr>
          <p:cNvPr id="33" name="noise_2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2980" y="3468853"/>
            <a:ext cx="887618" cy="887618"/>
          </a:xfrm>
          <a:prstGeom prst="rect">
            <a:avLst/>
          </a:prstGeom>
          <a:effectLst/>
        </p:spPr>
      </p:pic>
      <p:sp>
        <p:nvSpPr>
          <p:cNvPr id="34" name="latent_label_3" descr="Editable text; source id latent_label_3"/>
          <p:cNvSpPr txBox="1"/>
          <p:nvPr/>
        </p:nvSpPr>
        <p:spPr>
          <a:xfrm>
            <a:off x="4254446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right img</a:t>
            </a:r>
          </a:p>
        </p:txBody>
      </p:sp>
      <p:pic>
        <p:nvPicPr>
          <p:cNvPr id="35" name="latent_3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4851" y="2305767"/>
            <a:ext cx="887618" cy="887618"/>
          </a:xfrm>
          <a:prstGeom prst="rect">
            <a:avLst/>
          </a:prstGeom>
          <a:effectLst/>
        </p:spPr>
      </p:pic>
      <p:pic>
        <p:nvPicPr>
          <p:cNvPr id="36" name="noise_3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4851" y="3468853"/>
            <a:ext cx="887618" cy="887618"/>
          </a:xfrm>
          <a:prstGeom prst="rect">
            <a:avLst/>
          </a:prstGeom>
          <a:effectLst/>
        </p:spPr>
      </p:pic>
      <p:sp>
        <p:nvSpPr>
          <p:cNvPr id="37" name="latent_label_4" descr="Editable text; source id latent_label_4"/>
          <p:cNvSpPr txBox="1"/>
          <p:nvPr/>
        </p:nvSpPr>
        <p:spPr>
          <a:xfrm>
            <a:off x="5631785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38" name="red_frame_4" descr="Editable shape; source id red_frame_4"/>
          <p:cNvSpPr/>
          <p:nvPr/>
        </p:nvSpPr>
        <p:spPr>
          <a:xfrm>
            <a:off x="5631785" y="2275159"/>
            <a:ext cx="928428" cy="938630"/>
          </a:xfrm>
          <a:prstGeom prst="rect">
            <a:avLst/>
          </a:prstGeom>
          <a:solidFill>
            <a:srgbClr val="B52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latent_4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82798" y="2336374"/>
            <a:ext cx="826403" cy="816200"/>
          </a:xfrm>
          <a:prstGeom prst="rect">
            <a:avLst/>
          </a:prstGeom>
          <a:effectLst/>
        </p:spPr>
      </p:pic>
      <p:pic>
        <p:nvPicPr>
          <p:cNvPr id="40" name="noise_4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52190" y="3468853"/>
            <a:ext cx="887618" cy="887618"/>
          </a:xfrm>
          <a:prstGeom prst="rect">
            <a:avLst/>
          </a:prstGeom>
          <a:effectLst/>
        </p:spPr>
      </p:pic>
      <p:sp>
        <p:nvSpPr>
          <p:cNvPr id="41" name="latent_label_5" descr="Editable text; source id latent_label_5"/>
          <p:cNvSpPr txBox="1"/>
          <p:nvPr/>
        </p:nvSpPr>
        <p:spPr>
          <a:xfrm>
            <a:off x="6703049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rPr>
              <a:t>future proprio</a:t>
            </a:r>
          </a:p>
        </p:txBody>
      </p:sp>
      <p:sp>
        <p:nvSpPr>
          <p:cNvPr id="42" name="red_frame_5" descr="Editable shape; source id red_frame_5"/>
          <p:cNvSpPr/>
          <p:nvPr/>
        </p:nvSpPr>
        <p:spPr>
          <a:xfrm>
            <a:off x="6703049" y="2275159"/>
            <a:ext cx="928428" cy="938630"/>
          </a:xfrm>
          <a:prstGeom prst="rect">
            <a:avLst/>
          </a:prstGeom>
          <a:solidFill>
            <a:srgbClr val="B52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latent_5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54061" y="2336374"/>
            <a:ext cx="826403" cy="816200"/>
          </a:xfrm>
          <a:prstGeom prst="rect">
            <a:avLst/>
          </a:prstGeom>
          <a:effectLst/>
        </p:spPr>
      </p:pic>
      <p:pic>
        <p:nvPicPr>
          <p:cNvPr id="44" name="noise_5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3454" y="3468853"/>
            <a:ext cx="887618" cy="887618"/>
          </a:xfrm>
          <a:prstGeom prst="rect">
            <a:avLst/>
          </a:prstGeom>
          <a:effectLst/>
        </p:spPr>
      </p:pic>
      <p:sp>
        <p:nvSpPr>
          <p:cNvPr id="45" name="latent_label_6" descr="Editable text; source id latent_label_6"/>
          <p:cNvSpPr txBox="1"/>
          <p:nvPr/>
        </p:nvSpPr>
        <p:spPr>
          <a:xfrm>
            <a:off x="7774312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wrist img</a:t>
            </a:r>
          </a:p>
        </p:txBody>
      </p:sp>
      <p:pic>
        <p:nvPicPr>
          <p:cNvPr id="46" name="latent_6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94717" y="2305767"/>
            <a:ext cx="887618" cy="887618"/>
          </a:xfrm>
          <a:prstGeom prst="rect">
            <a:avLst/>
          </a:prstGeom>
          <a:effectLst/>
        </p:spPr>
      </p:pic>
      <p:pic>
        <p:nvPicPr>
          <p:cNvPr id="47" name="noise_6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4717" y="3468853"/>
            <a:ext cx="887618" cy="887618"/>
          </a:xfrm>
          <a:prstGeom prst="rect">
            <a:avLst/>
          </a:prstGeom>
          <a:effectLst/>
        </p:spPr>
      </p:pic>
      <p:sp>
        <p:nvSpPr>
          <p:cNvPr id="48" name="latent_label_7" descr="Editable text; source id latent_label_7"/>
          <p:cNvSpPr txBox="1"/>
          <p:nvPr/>
        </p:nvSpPr>
        <p:spPr>
          <a:xfrm>
            <a:off x="8855778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left img</a:t>
            </a:r>
          </a:p>
        </p:txBody>
      </p:sp>
      <p:pic>
        <p:nvPicPr>
          <p:cNvPr id="49" name="latent_7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6183" y="2305767"/>
            <a:ext cx="887618" cy="887618"/>
          </a:xfrm>
          <a:prstGeom prst="rect">
            <a:avLst/>
          </a:prstGeom>
          <a:effectLst/>
        </p:spPr>
      </p:pic>
      <p:pic>
        <p:nvPicPr>
          <p:cNvPr id="50" name="noise_7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76183" y="3468853"/>
            <a:ext cx="887618" cy="887618"/>
          </a:xfrm>
          <a:prstGeom prst="rect">
            <a:avLst/>
          </a:prstGeom>
          <a:effectLst/>
        </p:spPr>
      </p:pic>
      <p:sp>
        <p:nvSpPr>
          <p:cNvPr id="51" name="latent_label_8" descr="Editable text; source id latent_label_8"/>
          <p:cNvSpPr txBox="1"/>
          <p:nvPr/>
        </p:nvSpPr>
        <p:spPr>
          <a:xfrm>
            <a:off x="9947447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right img</a:t>
            </a:r>
          </a:p>
        </p:txBody>
      </p:sp>
      <p:pic>
        <p:nvPicPr>
          <p:cNvPr id="52" name="latent_8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67852" y="2305767"/>
            <a:ext cx="887618" cy="887618"/>
          </a:xfrm>
          <a:prstGeom prst="rect">
            <a:avLst/>
          </a:prstGeom>
          <a:effectLst/>
        </p:spPr>
      </p:pic>
      <p:pic>
        <p:nvPicPr>
          <p:cNvPr id="53" name="noise_8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67852" y="3468853"/>
            <a:ext cx="887618" cy="887618"/>
          </a:xfrm>
          <a:prstGeom prst="rect">
            <a:avLst/>
          </a:prstGeom>
          <a:effectLst/>
        </p:spPr>
      </p:pic>
      <p:sp>
        <p:nvSpPr>
          <p:cNvPr id="54" name="latent_label_9" descr="Editable text; source id latent_label_9"/>
          <p:cNvSpPr txBox="1"/>
          <p:nvPr/>
        </p:nvSpPr>
        <p:spPr>
          <a:xfrm>
            <a:off x="11039116" y="2122122"/>
            <a:ext cx="928428" cy="1734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090"/>
              </a:lnSpc>
              <a:spcBef>
                <a:spcPts val="0"/>
              </a:spcBef>
              <a:spcAft>
                <a:spcPts val="0"/>
              </a:spcAft>
              <a:def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defRPr>
            </a:pPr>
            <a:r>
              <a:rPr sz="947" b="0" i="0" lang="zh-CN" dirty="0">
                <a:solidFill>
                  <a:srgbClr val="B52B15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55" name="red_frame_9" descr="Editable shape; source id red_frame_9"/>
          <p:cNvSpPr/>
          <p:nvPr/>
        </p:nvSpPr>
        <p:spPr>
          <a:xfrm>
            <a:off x="11039116" y="2275159"/>
            <a:ext cx="928428" cy="938630"/>
          </a:xfrm>
          <a:prstGeom prst="rect">
            <a:avLst/>
          </a:prstGeom>
          <a:solidFill>
            <a:srgbClr val="B52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atent_9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90128" y="2336374"/>
            <a:ext cx="826403" cy="816200"/>
          </a:xfrm>
          <a:prstGeom prst="rect">
            <a:avLst/>
          </a:prstGeom>
          <a:effectLst/>
        </p:spPr>
      </p:pic>
      <p:pic>
        <p:nvPicPr>
          <p:cNvPr id="57" name="noise_9" descr="Exact local source crop: robot camera photograph or latent/noise texture; no readable labels.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059521" y="3468853"/>
            <a:ext cx="887618" cy="887618"/>
          </a:xfrm>
          <a:prstGeom prst="rect">
            <a:avLst/>
          </a:prstGeom>
          <a:effectLst/>
        </p:spPr>
      </p:pic>
      <p:cxnSp>
        <p:nvCxnSpPr>
          <p:cNvPr id="58" name="bracket_state" descr="Editable line; source id bracket_state"/>
          <p:cNvCxnSpPr/>
          <p:nvPr/>
        </p:nvCxnSpPr>
        <p:spPr>
          <a:xfrm>
            <a:off x="979440" y="4417686"/>
            <a:ext cx="4183030" cy="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tick_stateleft" descr="Editable line; source id tick_stateleft"/>
          <p:cNvCxnSpPr/>
          <p:nvPr/>
        </p:nvCxnSpPr>
        <p:spPr>
          <a:xfrm>
            <a:off x="979440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tick_stateright" descr="Editable line; source id tick_stateright"/>
          <p:cNvCxnSpPr/>
          <p:nvPr/>
        </p:nvCxnSpPr>
        <p:spPr>
          <a:xfrm>
            <a:off x="5162470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math_state" descr="Editable text; source id math_state"/>
          <p:cNvSpPr txBox="1"/>
          <p:nvPr/>
        </p:nvSpPr>
        <p:spPr>
          <a:xfrm>
            <a:off x="2693462" y="4427889"/>
            <a:ext cx="775390" cy="34688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def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cxnSp>
        <p:nvCxnSpPr>
          <p:cNvPr id="62" name="bracket_action" descr="Editable line; source id bracket_action"/>
          <p:cNvCxnSpPr/>
          <p:nvPr/>
        </p:nvCxnSpPr>
        <p:spPr>
          <a:xfrm>
            <a:off x="5652190" y="4417686"/>
            <a:ext cx="887619" cy="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tick_actionleft" descr="Editable line; source id tick_actionleft"/>
          <p:cNvCxnSpPr/>
          <p:nvPr/>
        </p:nvCxnSpPr>
        <p:spPr>
          <a:xfrm>
            <a:off x="5652190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tick_actionright" descr="Editable line; source id tick_actionright"/>
          <p:cNvCxnSpPr/>
          <p:nvPr/>
        </p:nvCxnSpPr>
        <p:spPr>
          <a:xfrm>
            <a:off x="6539809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math_action" descr="Editable text; source id math_action"/>
          <p:cNvSpPr txBox="1"/>
          <p:nvPr/>
        </p:nvSpPr>
        <p:spPr>
          <a:xfrm>
            <a:off x="5718506" y="4427889"/>
            <a:ext cx="775390" cy="34688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def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cxnSp>
        <p:nvCxnSpPr>
          <p:cNvPr id="66" name="bracket_future" descr="Editable line; source id bracket_future"/>
          <p:cNvCxnSpPr/>
          <p:nvPr/>
        </p:nvCxnSpPr>
        <p:spPr>
          <a:xfrm>
            <a:off x="6723454" y="4417686"/>
            <a:ext cx="4132016" cy="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tick_futureleft" descr="Editable line; source id tick_futureleft"/>
          <p:cNvCxnSpPr/>
          <p:nvPr/>
        </p:nvCxnSpPr>
        <p:spPr>
          <a:xfrm>
            <a:off x="6723454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tick_futureright" descr="Editable line; source id tick_futureright"/>
          <p:cNvCxnSpPr/>
          <p:nvPr/>
        </p:nvCxnSpPr>
        <p:spPr>
          <a:xfrm>
            <a:off x="10855470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math_future" descr="Editable text; source id math_future"/>
          <p:cNvSpPr txBox="1"/>
          <p:nvPr/>
        </p:nvSpPr>
        <p:spPr>
          <a:xfrm>
            <a:off x="8411969" y="4427889"/>
            <a:ext cx="775390" cy="34688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def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s′</a:t>
            </a:r>
          </a:p>
        </p:txBody>
      </p:sp>
      <p:cxnSp>
        <p:nvCxnSpPr>
          <p:cNvPr id="70" name="bracket_value" descr="Editable line; source id bracket_value"/>
          <p:cNvCxnSpPr/>
          <p:nvPr/>
        </p:nvCxnSpPr>
        <p:spPr>
          <a:xfrm>
            <a:off x="11059521" y="4417686"/>
            <a:ext cx="887618" cy="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tick_valueleft" descr="Editable line; source id tick_valueleft"/>
          <p:cNvCxnSpPr/>
          <p:nvPr/>
        </p:nvCxnSpPr>
        <p:spPr>
          <a:xfrm>
            <a:off x="11059521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tick_valueright" descr="Editable line; source id tick_valueright"/>
          <p:cNvCxnSpPr/>
          <p:nvPr/>
        </p:nvCxnSpPr>
        <p:spPr>
          <a:xfrm>
            <a:off x="11947139" y="4376876"/>
            <a:ext cx="0" cy="81620"/>
          </a:xfrm>
          <a:prstGeom prst="line">
            <a:avLst/>
          </a:prstGeom>
          <a:ln w="17344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math_value" descr="Editable text; source id math_value"/>
          <p:cNvSpPr txBox="1"/>
          <p:nvPr/>
        </p:nvSpPr>
        <p:spPr>
          <a:xfrm>
            <a:off x="11085027" y="4427889"/>
            <a:ext cx="775390" cy="34688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494"/>
              </a:lnSpc>
              <a:spcBef>
                <a:spcPts val="0"/>
              </a:spcBef>
              <a:spcAft>
                <a:spcPts val="0"/>
              </a:spcAft>
              <a:def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1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16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s′</a:t>
            </a:r>
            <a:r>
              <a:rPr sz="216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4" name="images" descr="Editable text; source id images"/>
          <p:cNvSpPr txBox="1"/>
          <p:nvPr/>
        </p:nvSpPr>
        <p:spPr>
          <a:xfrm>
            <a:off x="51012" y="1081466"/>
            <a:ext cx="663163" cy="24486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70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75" name="latent_frames" descr="Editable text; source id latent_frames"/>
          <p:cNvSpPr txBox="1"/>
          <p:nvPr/>
        </p:nvSpPr>
        <p:spPr>
          <a:xfrm>
            <a:off x="40810" y="2560830"/>
            <a:ext cx="693770" cy="4183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</a:t>
            </a:r>
          </a:p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sp>
        <p:nvSpPr>
          <p:cNvPr id="76" name="noised_line_0" descr="Editable text; source id noised_line_0"/>
          <p:cNvSpPr txBox="1"/>
          <p:nvPr/>
        </p:nvSpPr>
        <p:spPr>
          <a:xfrm>
            <a:off x="30607" y="3530068"/>
            <a:ext cx="724378" cy="2346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partially</a:t>
            </a:r>
          </a:p>
        </p:txBody>
      </p:sp>
      <p:sp>
        <p:nvSpPr>
          <p:cNvPr id="77" name="noised_line_1" descr="Editable text; source id noised_line_1"/>
          <p:cNvSpPr txBox="1"/>
          <p:nvPr/>
        </p:nvSpPr>
        <p:spPr>
          <a:xfrm>
            <a:off x="30607" y="3713713"/>
            <a:ext cx="724378" cy="2346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</a:t>
            </a:r>
          </a:p>
        </p:txBody>
      </p:sp>
      <p:sp>
        <p:nvSpPr>
          <p:cNvPr id="78" name="noised_line_2" descr="Editable text; source id noised_line_2"/>
          <p:cNvSpPr txBox="1"/>
          <p:nvPr/>
        </p:nvSpPr>
        <p:spPr>
          <a:xfrm>
            <a:off x="30607" y="3897358"/>
            <a:ext cx="724378" cy="2346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</a:t>
            </a:r>
          </a:p>
        </p:txBody>
      </p:sp>
      <p:sp>
        <p:nvSpPr>
          <p:cNvPr id="79" name="noised_line_3" descr="Editable text; source id noised_line_3"/>
          <p:cNvSpPr txBox="1"/>
          <p:nvPr/>
        </p:nvSpPr>
        <p:spPr>
          <a:xfrm>
            <a:off x="30607" y="4081004"/>
            <a:ext cx="724378" cy="2346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sp>
        <p:nvSpPr>
          <p:cNvPr id="80" name="vae_arrow" descr="Editable line; source id vae_arrow"/>
          <p:cNvSpPr/>
          <p:nvPr/>
        </p:nvSpPr>
        <p:spPr>
          <a:xfrm>
            <a:off x="351987" y="1346731"/>
            <a:ext cx="71418" cy="1214099"/>
          </a:xfrm>
          <a:custGeom>
            <a:avLst/>
            <a:gdLst/>
            <a:ahLst/>
            <a:cxnLst/>
            <a:rect l="l" t="t" r="r" b="b"/>
            <a:pathLst>
              <a:path w="7000" h="119000">
                <a:moveTo>
                  <a:pt x="4350" y="0"/>
                </a:moveTo>
                <a:lnTo>
                  <a:pt x="4350" y="112000"/>
                </a:lnTo>
                <a:lnTo>
                  <a:pt x="7000" y="112000"/>
                </a:lnTo>
                <a:lnTo>
                  <a:pt x="3500" y="119000"/>
                </a:lnTo>
                <a:lnTo>
                  <a:pt x="0" y="112000"/>
                </a:lnTo>
                <a:lnTo>
                  <a:pt x="2650" y="112000"/>
                </a:lnTo>
                <a:lnTo>
                  <a:pt x="265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oise_arrow" descr="Editable line; source id noise_arrow"/>
          <p:cNvSpPr/>
          <p:nvPr/>
        </p:nvSpPr>
        <p:spPr>
          <a:xfrm>
            <a:off x="351987" y="2968930"/>
            <a:ext cx="71418" cy="550936"/>
          </a:xfrm>
          <a:custGeom>
            <a:avLst/>
            <a:gdLst/>
            <a:ahLst/>
            <a:cxnLst/>
            <a:rect l="l" t="t" r="r" b="b"/>
            <a:pathLst>
              <a:path w="7000" h="54000">
                <a:moveTo>
                  <a:pt x="4350" y="0"/>
                </a:moveTo>
                <a:lnTo>
                  <a:pt x="4350" y="47000"/>
                </a:lnTo>
                <a:lnTo>
                  <a:pt x="7000" y="47000"/>
                </a:lnTo>
                <a:lnTo>
                  <a:pt x="3500" y="54000"/>
                </a:lnTo>
                <a:lnTo>
                  <a:pt x="0" y="47000"/>
                </a:lnTo>
                <a:lnTo>
                  <a:pt x="2650" y="47000"/>
                </a:lnTo>
                <a:lnTo>
                  <a:pt x="265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ae" descr="Editable text; source id vae"/>
          <p:cNvSpPr txBox="1"/>
          <p:nvPr/>
        </p:nvSpPr>
        <p:spPr>
          <a:xfrm rot="16200000">
            <a:off x="81620" y="1754831"/>
            <a:ext cx="428505" cy="2040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05"/>
              </a:lnSpc>
              <a:spcBef>
                <a:spcPts val="0"/>
              </a:spcBef>
              <a:spcAft>
                <a:spcPts val="0"/>
              </a:spcAft>
              <a:defRPr sz="104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VAE</a:t>
            </a:r>
          </a:p>
        </p:txBody>
      </p:sp>
      <p:sp>
        <p:nvSpPr>
          <p:cNvPr id="83" name="noise" descr="Editable text; source id noise"/>
          <p:cNvSpPr txBox="1"/>
          <p:nvPr/>
        </p:nvSpPr>
        <p:spPr>
          <a:xfrm rot="16200000">
            <a:off x="71417" y="3050550"/>
            <a:ext cx="428505" cy="2040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54"/>
              </a:lnSpc>
              <a:spcBef>
                <a:spcPts val="0"/>
              </a:spcBef>
              <a:spcAft>
                <a:spcPts val="0"/>
              </a:spcAft>
              <a:defRPr sz="100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