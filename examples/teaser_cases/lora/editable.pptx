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12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Reconstruction of super_teaser generated illustration, not original paper figure. Native text and shapes; isolated lock and legend swatches raster. Curved elbows approximated by straight joins. Corner candidate: four 12 source-pixel elbows approximated with four native line chords each; no runtime curved path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" descr="Editable shape; source id W"/>
          <p:cNvSpPr/>
          <p:nvPr/>
        </p:nvSpPr>
        <p:spPr>
          <a:xfrm>
            <a:off x="3357562" y="841374"/>
            <a:ext cx="2031999" cy="1349374"/>
          </a:xfrm>
          <a:prstGeom prst="rect">
            <a:avLst/>
          </a:prstGeom>
          <a:solidFill>
            <a:srgbClr val="D7D7D7"/>
          </a:solidFill>
          <a:ln w="2381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" descr="Editable shape; source id A"/>
          <p:cNvSpPr/>
          <p:nvPr/>
        </p:nvSpPr>
        <p:spPr>
          <a:xfrm>
            <a:off x="3357562" y="4230687"/>
            <a:ext cx="2031999" cy="682624"/>
          </a:xfrm>
          <a:prstGeom prst="rect">
            <a:avLst/>
          </a:prstGeom>
          <a:solidFill>
            <a:srgbClr val="9DD8D3"/>
          </a:solidFill>
          <a:ln w="2381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" descr="Editable shape; source id B"/>
          <p:cNvSpPr/>
          <p:nvPr/>
        </p:nvSpPr>
        <p:spPr>
          <a:xfrm>
            <a:off x="6357937" y="3460749"/>
            <a:ext cx="634999" cy="2373312"/>
          </a:xfrm>
          <a:prstGeom prst="rect">
            <a:avLst/>
          </a:prstGeom>
          <a:solidFill>
            <a:srgbClr val="F7A390"/>
          </a:solidFill>
          <a:ln w="2381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nput" descr="Editable shape; source id input"/>
          <p:cNvSpPr/>
          <p:nvPr/>
        </p:nvSpPr>
        <p:spPr>
          <a:xfrm>
            <a:off x="936624" y="1912937"/>
            <a:ext cx="333374" cy="2627312"/>
          </a:xfrm>
          <a:prstGeom prst="rect">
            <a:avLst/>
          </a:prstGeom>
          <a:noFill/>
          <a:ln w="2381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utput" descr="Editable shape; source id output"/>
          <p:cNvSpPr/>
          <p:nvPr/>
        </p:nvSpPr>
        <p:spPr>
          <a:xfrm>
            <a:off x="11104562" y="1912937"/>
            <a:ext cx="333374" cy="2627312"/>
          </a:xfrm>
          <a:prstGeom prst="rect">
            <a:avLst/>
          </a:prstGeom>
          <a:noFill/>
          <a:ln w="2381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lphaBox" descr="Editable shape; source id alphaBox"/>
          <p:cNvSpPr/>
          <p:nvPr/>
        </p:nvSpPr>
        <p:spPr>
          <a:xfrm>
            <a:off x="7985124" y="4405312"/>
            <a:ext cx="1135062" cy="476249"/>
          </a:xfrm>
          <a:prstGeom prst="rect">
            <a:avLst/>
          </a:prstGeom>
          <a:noFill/>
          <a:ln w="23812">
            <a:solidFill>
              <a:srgbClr val="08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m" descr="Editable shape; source id sum"/>
          <p:cNvSpPr/>
          <p:nvPr/>
        </p:nvSpPr>
        <p:spPr>
          <a:xfrm>
            <a:off x="9572624" y="2690812"/>
            <a:ext cx="698499" cy="698499"/>
          </a:xfrm>
          <a:prstGeom prst="ellipse">
            <a:avLst/>
          </a:prstGeom>
          <a:noFill/>
          <a:ln w="2381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Wv1" descr="Editable line; source id Wv1"/>
          <p:cNvCxnSpPr/>
          <p:nvPr/>
        </p:nvCxnSpPr>
        <p:spPr>
          <a:xfrm>
            <a:off x="3696229" y="841374"/>
            <a:ext cx="0" cy="1349375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Wv2" descr="Editable line; source id Wv2"/>
          <p:cNvCxnSpPr/>
          <p:nvPr/>
        </p:nvCxnSpPr>
        <p:spPr>
          <a:xfrm>
            <a:off x="4034895" y="841374"/>
            <a:ext cx="0" cy="1349375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Wv3" descr="Editable line; source id Wv3"/>
          <p:cNvCxnSpPr/>
          <p:nvPr/>
        </p:nvCxnSpPr>
        <p:spPr>
          <a:xfrm>
            <a:off x="4373562" y="841374"/>
            <a:ext cx="0" cy="1349375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Wv4" descr="Editable line; source id Wv4"/>
          <p:cNvCxnSpPr/>
          <p:nvPr/>
        </p:nvCxnSpPr>
        <p:spPr>
          <a:xfrm>
            <a:off x="4712229" y="841374"/>
            <a:ext cx="0" cy="1349375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Wv5" descr="Editable line; source id Wv5"/>
          <p:cNvCxnSpPr/>
          <p:nvPr/>
        </p:nvCxnSpPr>
        <p:spPr>
          <a:xfrm>
            <a:off x="5050895" y="841374"/>
            <a:ext cx="0" cy="1349375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Wh1" descr="Editable line; source id Wh1"/>
          <p:cNvCxnSpPr/>
          <p:nvPr/>
        </p:nvCxnSpPr>
        <p:spPr>
          <a:xfrm>
            <a:off x="3357562" y="1178718"/>
            <a:ext cx="2032000" cy="0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Wh2" descr="Editable line; source id Wh2"/>
          <p:cNvCxnSpPr/>
          <p:nvPr/>
        </p:nvCxnSpPr>
        <p:spPr>
          <a:xfrm>
            <a:off x="3357562" y="1516062"/>
            <a:ext cx="2032000" cy="0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Wh3" descr="Editable line; source id Wh3"/>
          <p:cNvCxnSpPr/>
          <p:nvPr/>
        </p:nvCxnSpPr>
        <p:spPr>
          <a:xfrm>
            <a:off x="3357562" y="1853406"/>
            <a:ext cx="2032000" cy="0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Av1" descr="Editable line; source id Av1"/>
          <p:cNvCxnSpPr/>
          <p:nvPr/>
        </p:nvCxnSpPr>
        <p:spPr>
          <a:xfrm>
            <a:off x="3696229" y="4230687"/>
            <a:ext cx="0" cy="682625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Av2" descr="Editable line; source id Av2"/>
          <p:cNvCxnSpPr/>
          <p:nvPr/>
        </p:nvCxnSpPr>
        <p:spPr>
          <a:xfrm>
            <a:off x="4034895" y="4230687"/>
            <a:ext cx="0" cy="682625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Av3" descr="Editable line; source id Av3"/>
          <p:cNvCxnSpPr/>
          <p:nvPr/>
        </p:nvCxnSpPr>
        <p:spPr>
          <a:xfrm>
            <a:off x="4373562" y="4230687"/>
            <a:ext cx="0" cy="682625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Av4" descr="Editable line; source id Av4"/>
          <p:cNvCxnSpPr/>
          <p:nvPr/>
        </p:nvCxnSpPr>
        <p:spPr>
          <a:xfrm>
            <a:off x="4712229" y="4230687"/>
            <a:ext cx="0" cy="682625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Av5" descr="Editable line; source id Av5"/>
          <p:cNvCxnSpPr/>
          <p:nvPr/>
        </p:nvCxnSpPr>
        <p:spPr>
          <a:xfrm>
            <a:off x="5050895" y="4230687"/>
            <a:ext cx="0" cy="682625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Ah1" descr="Editable line; source id Ah1"/>
          <p:cNvCxnSpPr/>
          <p:nvPr/>
        </p:nvCxnSpPr>
        <p:spPr>
          <a:xfrm>
            <a:off x="3357562" y="4571999"/>
            <a:ext cx="2032000" cy="0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Bv1" descr="Editable line; source id Bv1"/>
          <p:cNvCxnSpPr/>
          <p:nvPr/>
        </p:nvCxnSpPr>
        <p:spPr>
          <a:xfrm>
            <a:off x="6675437" y="3460749"/>
            <a:ext cx="0" cy="2373313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Bh1" descr="Editable line; source id Bh1"/>
          <p:cNvCxnSpPr/>
          <p:nvPr/>
        </p:nvCxnSpPr>
        <p:spPr>
          <a:xfrm>
            <a:off x="6357937" y="3799794"/>
            <a:ext cx="635000" cy="0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Bh2" descr="Editable line; source id Bh2"/>
          <p:cNvCxnSpPr/>
          <p:nvPr/>
        </p:nvCxnSpPr>
        <p:spPr>
          <a:xfrm>
            <a:off x="6357937" y="4138839"/>
            <a:ext cx="635000" cy="0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Bh3" descr="Editable line; source id Bh3"/>
          <p:cNvCxnSpPr/>
          <p:nvPr/>
        </p:nvCxnSpPr>
        <p:spPr>
          <a:xfrm>
            <a:off x="6357937" y="4477883"/>
            <a:ext cx="635000" cy="0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Bh4" descr="Editable line; source id Bh4"/>
          <p:cNvCxnSpPr/>
          <p:nvPr/>
        </p:nvCxnSpPr>
        <p:spPr>
          <a:xfrm>
            <a:off x="6357937" y="4816928"/>
            <a:ext cx="635000" cy="0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h5" descr="Editable line; source id Bh5"/>
          <p:cNvCxnSpPr/>
          <p:nvPr/>
        </p:nvCxnSpPr>
        <p:spPr>
          <a:xfrm>
            <a:off x="6357937" y="5155973"/>
            <a:ext cx="635000" cy="0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Bh6" descr="Editable line; source id Bh6"/>
          <p:cNvCxnSpPr/>
          <p:nvPr/>
        </p:nvCxnSpPr>
        <p:spPr>
          <a:xfrm>
            <a:off x="6357937" y="5495017"/>
            <a:ext cx="635000" cy="0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input0" descr="Editable line; source id input0"/>
          <p:cNvCxnSpPr/>
          <p:nvPr/>
        </p:nvCxnSpPr>
        <p:spPr>
          <a:xfrm>
            <a:off x="936624" y="2238374"/>
            <a:ext cx="333375" cy="0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input1" descr="Editable line; source id input1"/>
          <p:cNvCxnSpPr/>
          <p:nvPr/>
        </p:nvCxnSpPr>
        <p:spPr>
          <a:xfrm>
            <a:off x="936624" y="2563812"/>
            <a:ext cx="333375" cy="0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input2" descr="Editable line; source id input2"/>
          <p:cNvCxnSpPr/>
          <p:nvPr/>
        </p:nvCxnSpPr>
        <p:spPr>
          <a:xfrm>
            <a:off x="936624" y="2897187"/>
            <a:ext cx="333375" cy="0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input3" descr="Editable line; source id input3"/>
          <p:cNvCxnSpPr/>
          <p:nvPr/>
        </p:nvCxnSpPr>
        <p:spPr>
          <a:xfrm>
            <a:off x="936624" y="3881437"/>
            <a:ext cx="333375" cy="0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input4" descr="Editable line; source id input4"/>
          <p:cNvCxnSpPr/>
          <p:nvPr/>
        </p:nvCxnSpPr>
        <p:spPr>
          <a:xfrm>
            <a:off x="936624" y="4222749"/>
            <a:ext cx="333375" cy="0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inputdot0" descr="Editable shape; source id inputdot0"/>
          <p:cNvSpPr/>
          <p:nvPr/>
        </p:nvSpPr>
        <p:spPr>
          <a:xfrm>
            <a:off x="1075531" y="3250406"/>
            <a:ext cx="39687" cy="39687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nputdot1" descr="Editable shape; source id inputdot1"/>
          <p:cNvSpPr/>
          <p:nvPr/>
        </p:nvSpPr>
        <p:spPr>
          <a:xfrm>
            <a:off x="1075531" y="3353593"/>
            <a:ext cx="39687" cy="39687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nputdot2" descr="Editable shape; source id inputdot2"/>
          <p:cNvSpPr/>
          <p:nvPr/>
        </p:nvSpPr>
        <p:spPr>
          <a:xfrm>
            <a:off x="1075531" y="3464718"/>
            <a:ext cx="39687" cy="39687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output0" descr="Editable line; source id output0"/>
          <p:cNvCxnSpPr/>
          <p:nvPr/>
        </p:nvCxnSpPr>
        <p:spPr>
          <a:xfrm>
            <a:off x="11104562" y="2238374"/>
            <a:ext cx="333375" cy="0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output1" descr="Editable line; source id output1"/>
          <p:cNvCxnSpPr/>
          <p:nvPr/>
        </p:nvCxnSpPr>
        <p:spPr>
          <a:xfrm>
            <a:off x="11104562" y="2563812"/>
            <a:ext cx="333375" cy="0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output2" descr="Editable line; source id output2"/>
          <p:cNvCxnSpPr/>
          <p:nvPr/>
        </p:nvCxnSpPr>
        <p:spPr>
          <a:xfrm>
            <a:off x="11104562" y="2897187"/>
            <a:ext cx="333375" cy="0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output3" descr="Editable line; source id output3"/>
          <p:cNvCxnSpPr/>
          <p:nvPr/>
        </p:nvCxnSpPr>
        <p:spPr>
          <a:xfrm>
            <a:off x="11104562" y="3881437"/>
            <a:ext cx="333375" cy="0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output4" descr="Editable line; source id output4"/>
          <p:cNvCxnSpPr/>
          <p:nvPr/>
        </p:nvCxnSpPr>
        <p:spPr>
          <a:xfrm>
            <a:off x="11104562" y="4222749"/>
            <a:ext cx="333375" cy="0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utputdot0" descr="Editable shape; source id outputdot0"/>
          <p:cNvSpPr/>
          <p:nvPr/>
        </p:nvSpPr>
        <p:spPr>
          <a:xfrm>
            <a:off x="11243468" y="3250406"/>
            <a:ext cx="39687" cy="39687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utputdot1" descr="Editable shape; source id outputdot1"/>
          <p:cNvSpPr/>
          <p:nvPr/>
        </p:nvSpPr>
        <p:spPr>
          <a:xfrm>
            <a:off x="11243468" y="3353593"/>
            <a:ext cx="39687" cy="39687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utputdot2" descr="Editable shape; source id outputdot2"/>
          <p:cNvSpPr/>
          <p:nvPr/>
        </p:nvSpPr>
        <p:spPr>
          <a:xfrm>
            <a:off x="11243468" y="3464718"/>
            <a:ext cx="39687" cy="39687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plusH" descr="Editable line; source id plusH"/>
          <p:cNvCxnSpPr/>
          <p:nvPr/>
        </p:nvCxnSpPr>
        <p:spPr>
          <a:xfrm>
            <a:off x="9786937" y="3040062"/>
            <a:ext cx="269875" cy="0"/>
          </a:xfrm>
          <a:prstGeom prst="line">
            <a:avLst/>
          </a:prstGeom>
          <a:ln w="39687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plusV" descr="Editable line; source id plusV"/>
          <p:cNvCxnSpPr/>
          <p:nvPr/>
        </p:nvCxnSpPr>
        <p:spPr>
          <a:xfrm>
            <a:off x="9921874" y="2905124"/>
            <a:ext cx="0" cy="269875"/>
          </a:xfrm>
          <a:prstGeom prst="line">
            <a:avLst/>
          </a:prstGeom>
          <a:ln w="39687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plit" descr="Editable line; source id split"/>
          <p:cNvCxnSpPr/>
          <p:nvPr/>
        </p:nvCxnSpPr>
        <p:spPr>
          <a:xfrm>
            <a:off x="1404937" y="3008312"/>
            <a:ext cx="777875" cy="0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up" descr="Editable line; source id up"/>
          <p:cNvCxnSpPr/>
          <p:nvPr/>
        </p:nvCxnSpPr>
        <p:spPr>
          <a:xfrm flipV="1">
            <a:off x="2182812" y="1627187"/>
            <a:ext cx="0" cy="1381125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upEnd" descr="Editable line; source id upEnd"/>
          <p:cNvSpPr/>
          <p:nvPr/>
        </p:nvSpPr>
        <p:spPr>
          <a:xfrm>
            <a:off x="2278062" y="1444625"/>
            <a:ext cx="960437" cy="174625"/>
          </a:xfrm>
          <a:custGeom>
            <a:avLst/>
            <a:gdLst/>
            <a:ahLst/>
            <a:cxnLst/>
            <a:rect l="l" t="t" r="r" b="b"/>
            <a:pathLst>
              <a:path w="121000" h="22000">
                <a:moveTo>
                  <a:pt x="0" y="9500"/>
                </a:moveTo>
                <a:lnTo>
                  <a:pt x="103000" y="9500"/>
                </a:lnTo>
                <a:lnTo>
                  <a:pt x="103000" y="0"/>
                </a:lnTo>
                <a:lnTo>
                  <a:pt x="121000" y="11000"/>
                </a:lnTo>
                <a:lnTo>
                  <a:pt x="103000" y="22000"/>
                </a:lnTo>
                <a:lnTo>
                  <a:pt x="103000" y="12500"/>
                </a:lnTo>
                <a:lnTo>
                  <a:pt x="0" y="125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down" descr="Editable line; source id down"/>
          <p:cNvCxnSpPr/>
          <p:nvPr/>
        </p:nvCxnSpPr>
        <p:spPr>
          <a:xfrm>
            <a:off x="2182812" y="3008312"/>
            <a:ext cx="0" cy="1500187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downEnd" descr="Editable line; source id downEnd"/>
          <p:cNvSpPr/>
          <p:nvPr/>
        </p:nvSpPr>
        <p:spPr>
          <a:xfrm>
            <a:off x="2278062" y="4516437"/>
            <a:ext cx="960437" cy="174625"/>
          </a:xfrm>
          <a:custGeom>
            <a:avLst/>
            <a:gdLst/>
            <a:ahLst/>
            <a:cxnLst/>
            <a:rect l="l" t="t" r="r" b="b"/>
            <a:pathLst>
              <a:path w="121000" h="22000">
                <a:moveTo>
                  <a:pt x="0" y="9500"/>
                </a:moveTo>
                <a:lnTo>
                  <a:pt x="103000" y="9500"/>
                </a:lnTo>
                <a:lnTo>
                  <a:pt x="103000" y="0"/>
                </a:lnTo>
                <a:lnTo>
                  <a:pt x="121000" y="11000"/>
                </a:lnTo>
                <a:lnTo>
                  <a:pt x="103000" y="22000"/>
                </a:lnTo>
                <a:lnTo>
                  <a:pt x="103000" y="12500"/>
                </a:lnTo>
                <a:lnTo>
                  <a:pt x="0" y="125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wRoute" descr="Editable line; source id wRoute"/>
          <p:cNvCxnSpPr/>
          <p:nvPr/>
        </p:nvCxnSpPr>
        <p:spPr>
          <a:xfrm>
            <a:off x="5619749" y="1523999"/>
            <a:ext cx="4206875" cy="0"/>
          </a:xfrm>
          <a:prstGeom prst="line">
            <a:avLst/>
          </a:prstGeom>
          <a:ln w="31749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wDown" descr="Editable line; source id wDown"/>
          <p:cNvSpPr/>
          <p:nvPr/>
        </p:nvSpPr>
        <p:spPr>
          <a:xfrm>
            <a:off x="9834562" y="1619250"/>
            <a:ext cx="174625" cy="1008062"/>
          </a:xfrm>
          <a:custGeom>
            <a:avLst/>
            <a:gdLst/>
            <a:ahLst/>
            <a:cxnLst/>
            <a:rect l="l" t="t" r="r" b="b"/>
            <a:pathLst>
              <a:path w="22000" h="127000">
                <a:moveTo>
                  <a:pt x="12500" y="0"/>
                </a:moveTo>
                <a:lnTo>
                  <a:pt x="12500" y="109000"/>
                </a:lnTo>
                <a:lnTo>
                  <a:pt x="22000" y="109000"/>
                </a:lnTo>
                <a:lnTo>
                  <a:pt x="11000" y="127000"/>
                </a:lnTo>
                <a:lnTo>
                  <a:pt x="0" y="109000"/>
                </a:lnTo>
                <a:lnTo>
                  <a:pt x="9500" y="109000"/>
                </a:lnTo>
                <a:lnTo>
                  <a:pt x="950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ab" descr="Editable line; source id ab"/>
          <p:cNvSpPr/>
          <p:nvPr/>
        </p:nvSpPr>
        <p:spPr>
          <a:xfrm>
            <a:off x="5484812" y="4516437"/>
            <a:ext cx="762000" cy="174625"/>
          </a:xfrm>
          <a:custGeom>
            <a:avLst/>
            <a:gdLst/>
            <a:ahLst/>
            <a:cxnLst/>
            <a:rect l="l" t="t" r="r" b="b"/>
            <a:pathLst>
              <a:path w="96000" h="22000">
                <a:moveTo>
                  <a:pt x="0" y="9000"/>
                </a:moveTo>
                <a:lnTo>
                  <a:pt x="78000" y="9000"/>
                </a:lnTo>
                <a:lnTo>
                  <a:pt x="78000" y="0"/>
                </a:lnTo>
                <a:lnTo>
                  <a:pt x="96000" y="11000"/>
                </a:lnTo>
                <a:lnTo>
                  <a:pt x="78000" y="22000"/>
                </a:lnTo>
                <a:lnTo>
                  <a:pt x="78000" y="13000"/>
                </a:lnTo>
                <a:lnTo>
                  <a:pt x="0" y="130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ba" descr="Editable line; source id ba"/>
          <p:cNvSpPr/>
          <p:nvPr/>
        </p:nvSpPr>
        <p:spPr>
          <a:xfrm>
            <a:off x="7088187" y="4516437"/>
            <a:ext cx="754062" cy="174625"/>
          </a:xfrm>
          <a:custGeom>
            <a:avLst/>
            <a:gdLst/>
            <a:ahLst/>
            <a:cxnLst/>
            <a:rect l="l" t="t" r="r" b="b"/>
            <a:pathLst>
              <a:path w="95000" h="22000">
                <a:moveTo>
                  <a:pt x="0" y="9000"/>
                </a:moveTo>
                <a:lnTo>
                  <a:pt x="77000" y="9000"/>
                </a:lnTo>
                <a:lnTo>
                  <a:pt x="77000" y="0"/>
                </a:lnTo>
                <a:lnTo>
                  <a:pt x="95000" y="11000"/>
                </a:lnTo>
                <a:lnTo>
                  <a:pt x="77000" y="22000"/>
                </a:lnTo>
                <a:lnTo>
                  <a:pt x="77000" y="13000"/>
                </a:lnTo>
                <a:lnTo>
                  <a:pt x="0" y="130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ar" descr="Editable line; source id ar"/>
          <p:cNvCxnSpPr/>
          <p:nvPr/>
        </p:nvCxnSpPr>
        <p:spPr>
          <a:xfrm>
            <a:off x="9215437" y="4603749"/>
            <a:ext cx="611187" cy="0"/>
          </a:xfrm>
          <a:prstGeom prst="line">
            <a:avLst/>
          </a:prstGeom>
          <a:ln w="31749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arUp" descr="Editable line; source id arUp"/>
          <p:cNvSpPr/>
          <p:nvPr/>
        </p:nvSpPr>
        <p:spPr>
          <a:xfrm>
            <a:off x="9834562" y="3460750"/>
            <a:ext cx="174625" cy="1047750"/>
          </a:xfrm>
          <a:custGeom>
            <a:avLst/>
            <a:gdLst/>
            <a:ahLst/>
            <a:cxnLst/>
            <a:rect l="l" t="t" r="r" b="b"/>
            <a:pathLst>
              <a:path w="22000" h="132000">
                <a:moveTo>
                  <a:pt x="9000" y="132000"/>
                </a:moveTo>
                <a:lnTo>
                  <a:pt x="9000" y="18000"/>
                </a:lnTo>
                <a:lnTo>
                  <a:pt x="0" y="18000"/>
                </a:lnTo>
                <a:lnTo>
                  <a:pt x="11000" y="0"/>
                </a:lnTo>
                <a:lnTo>
                  <a:pt x="22000" y="18000"/>
                </a:lnTo>
                <a:lnTo>
                  <a:pt x="13000" y="18000"/>
                </a:lnTo>
                <a:lnTo>
                  <a:pt x="13000" y="1320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oH" descr="Editable line; source id toH"/>
          <p:cNvSpPr/>
          <p:nvPr/>
        </p:nvSpPr>
        <p:spPr>
          <a:xfrm>
            <a:off x="10271125" y="2952750"/>
            <a:ext cx="714375" cy="174625"/>
          </a:xfrm>
          <a:custGeom>
            <a:avLst/>
            <a:gdLst/>
            <a:ahLst/>
            <a:cxnLst/>
            <a:rect l="l" t="t" r="r" b="b"/>
            <a:pathLst>
              <a:path w="90000" h="22000">
                <a:moveTo>
                  <a:pt x="0" y="9000"/>
                </a:moveTo>
                <a:lnTo>
                  <a:pt x="72000" y="9000"/>
                </a:lnTo>
                <a:lnTo>
                  <a:pt x="72000" y="0"/>
                </a:lnTo>
                <a:lnTo>
                  <a:pt x="90000" y="11000"/>
                </a:lnTo>
                <a:lnTo>
                  <a:pt x="72000" y="22000"/>
                </a:lnTo>
                <a:lnTo>
                  <a:pt x="72000" y="13000"/>
                </a:lnTo>
                <a:lnTo>
                  <a:pt x="0" y="130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lock" descr="Exact isolated source crop; icon internal pixels not editabl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8312" y="1762124"/>
            <a:ext cx="357187" cy="468312"/>
          </a:xfrm>
          <a:prstGeom prst="rect">
            <a:avLst/>
          </a:prstGeom>
          <a:effectLst/>
        </p:spPr>
      </p:pic>
      <p:pic>
        <p:nvPicPr>
          <p:cNvPr id="61" name="frozenSwatch" descr="Exact isolated source crop; icon internal pixels not editabl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7" y="5476874"/>
            <a:ext cx="531812" cy="539749"/>
          </a:xfrm>
          <a:prstGeom prst="rect">
            <a:avLst/>
          </a:prstGeom>
          <a:effectLst/>
        </p:spPr>
      </p:pic>
      <p:pic>
        <p:nvPicPr>
          <p:cNvPr id="62" name="trainableSwatch" descr="Exact isolated source crop; icon internal pixels not editable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24" y="6175374"/>
            <a:ext cx="523874" cy="531812"/>
          </a:xfrm>
          <a:prstGeom prst="rect">
            <a:avLst/>
          </a:prstGeom>
          <a:effectLst/>
        </p:spPr>
      </p:pic>
      <p:cxnSp>
        <p:nvCxnSpPr>
          <p:cNvPr id="63" name="input_upper_arc0" descr="Editable line; source id input_upper_arc0"/>
          <p:cNvCxnSpPr/>
          <p:nvPr/>
        </p:nvCxnSpPr>
        <p:spPr>
          <a:xfrm flipV="1">
            <a:off x="2182812" y="1590736"/>
            <a:ext cx="7250" cy="36451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input_upper_arc1" descr="Editable line; source id input_upper_arc1"/>
          <p:cNvCxnSpPr/>
          <p:nvPr/>
        </p:nvCxnSpPr>
        <p:spPr>
          <a:xfrm flipV="1">
            <a:off x="2190062" y="1559835"/>
            <a:ext cx="20648" cy="30901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input_upper_arc2" descr="Editable line; source id input_upper_arc2"/>
          <p:cNvCxnSpPr/>
          <p:nvPr/>
        </p:nvCxnSpPr>
        <p:spPr>
          <a:xfrm flipV="1">
            <a:off x="2210710" y="1539187"/>
            <a:ext cx="30901" cy="20648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input_upper_arc3" descr="Editable line; source id input_upper_arc3"/>
          <p:cNvCxnSpPr/>
          <p:nvPr/>
        </p:nvCxnSpPr>
        <p:spPr>
          <a:xfrm flipV="1">
            <a:off x="2241611" y="1531937"/>
            <a:ext cx="36451" cy="7250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input_lower_arc0" descr="Editable line; source id input_lower_arc0"/>
          <p:cNvCxnSpPr/>
          <p:nvPr/>
        </p:nvCxnSpPr>
        <p:spPr>
          <a:xfrm>
            <a:off x="2182812" y="4508499"/>
            <a:ext cx="7250" cy="36451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input_lower_arc1" descr="Editable line; source id input_lower_arc1"/>
          <p:cNvCxnSpPr/>
          <p:nvPr/>
        </p:nvCxnSpPr>
        <p:spPr>
          <a:xfrm>
            <a:off x="2190062" y="4544950"/>
            <a:ext cx="20648" cy="30901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input_lower_arc2" descr="Editable line; source id input_lower_arc2"/>
          <p:cNvCxnSpPr/>
          <p:nvPr/>
        </p:nvCxnSpPr>
        <p:spPr>
          <a:xfrm>
            <a:off x="2210710" y="4575851"/>
            <a:ext cx="30901" cy="20648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input_lower_arc3" descr="Editable line; source id input_lower_arc3"/>
          <p:cNvCxnSpPr/>
          <p:nvPr/>
        </p:nvCxnSpPr>
        <p:spPr>
          <a:xfrm>
            <a:off x="2241611" y="4596499"/>
            <a:ext cx="36451" cy="7250"/>
          </a:xfrm>
          <a:prstGeom prst="line">
            <a:avLst/>
          </a:prstGeom>
          <a:ln w="2381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output_upper_arc0" descr="Editable line; source id output_upper_arc0"/>
          <p:cNvCxnSpPr/>
          <p:nvPr/>
        </p:nvCxnSpPr>
        <p:spPr>
          <a:xfrm>
            <a:off x="9826624" y="1523999"/>
            <a:ext cx="36451" cy="7251"/>
          </a:xfrm>
          <a:prstGeom prst="line">
            <a:avLst/>
          </a:prstGeom>
          <a:ln w="30757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output_upper_arc1" descr="Editable line; source id output_upper_arc1"/>
          <p:cNvCxnSpPr/>
          <p:nvPr/>
        </p:nvCxnSpPr>
        <p:spPr>
          <a:xfrm>
            <a:off x="9863075" y="1531250"/>
            <a:ext cx="30901" cy="20648"/>
          </a:xfrm>
          <a:prstGeom prst="line">
            <a:avLst/>
          </a:prstGeom>
          <a:ln w="28773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output_upper_arc2" descr="Editable line; source id output_upper_arc2"/>
          <p:cNvCxnSpPr/>
          <p:nvPr/>
        </p:nvCxnSpPr>
        <p:spPr>
          <a:xfrm>
            <a:off x="9893976" y="1551898"/>
            <a:ext cx="20648" cy="30901"/>
          </a:xfrm>
          <a:prstGeom prst="line">
            <a:avLst/>
          </a:prstGeom>
          <a:ln w="26789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output_upper_arc3" descr="Editable line; source id output_upper_arc3"/>
          <p:cNvCxnSpPr/>
          <p:nvPr/>
        </p:nvCxnSpPr>
        <p:spPr>
          <a:xfrm>
            <a:off x="9914624" y="1582799"/>
            <a:ext cx="7250" cy="36450"/>
          </a:xfrm>
          <a:prstGeom prst="line">
            <a:avLst/>
          </a:prstGeom>
          <a:ln w="24804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output_lower_arc0" descr="Editable line; source id output_lower_arc0"/>
          <p:cNvCxnSpPr/>
          <p:nvPr/>
        </p:nvCxnSpPr>
        <p:spPr>
          <a:xfrm flipV="1">
            <a:off x="9826624" y="4596499"/>
            <a:ext cx="36451" cy="7250"/>
          </a:xfrm>
          <a:prstGeom prst="line">
            <a:avLst/>
          </a:prstGeom>
          <a:ln w="31749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output_lower_arc1" descr="Editable line; source id output_lower_arc1"/>
          <p:cNvCxnSpPr/>
          <p:nvPr/>
        </p:nvCxnSpPr>
        <p:spPr>
          <a:xfrm flipV="1">
            <a:off x="9863075" y="4575851"/>
            <a:ext cx="30901" cy="20648"/>
          </a:xfrm>
          <a:prstGeom prst="line">
            <a:avLst/>
          </a:prstGeom>
          <a:ln w="31749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output_lower_arc2" descr="Editable line; source id output_lower_arc2"/>
          <p:cNvCxnSpPr/>
          <p:nvPr/>
        </p:nvCxnSpPr>
        <p:spPr>
          <a:xfrm flipV="1">
            <a:off x="9893976" y="4544950"/>
            <a:ext cx="20648" cy="30901"/>
          </a:xfrm>
          <a:prstGeom prst="line">
            <a:avLst/>
          </a:prstGeom>
          <a:ln w="31749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output_lower_arc3" descr="Editable line; source id output_lower_arc3"/>
          <p:cNvCxnSpPr/>
          <p:nvPr/>
        </p:nvCxnSpPr>
        <p:spPr>
          <a:xfrm flipV="1">
            <a:off x="9914624" y="4508499"/>
            <a:ext cx="7250" cy="36451"/>
          </a:xfrm>
          <a:prstGeom prst="line">
            <a:avLst/>
          </a:prstGeom>
          <a:ln w="31749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x" descr="Editable text; source id x"/>
          <p:cNvSpPr txBox="1"/>
          <p:nvPr/>
        </p:nvSpPr>
        <p:spPr>
          <a:xfrm>
            <a:off x="1039812" y="1444624"/>
            <a:ext cx="301624" cy="3651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587"/>
              </a:lnSpc>
              <a:spcBef>
                <a:spcPts val="0"/>
              </a:spcBef>
              <a:spcAft>
                <a:spcPts val="0"/>
              </a:spcAft>
              <a:defRPr sz="2249" b="1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249" b="1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80" name="h" descr="Editable text; source id h"/>
          <p:cNvSpPr txBox="1"/>
          <p:nvPr/>
        </p:nvSpPr>
        <p:spPr>
          <a:xfrm>
            <a:off x="11152187" y="1444624"/>
            <a:ext cx="301624" cy="3651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587"/>
              </a:lnSpc>
              <a:spcBef>
                <a:spcPts val="0"/>
              </a:spcBef>
              <a:spcAft>
                <a:spcPts val="0"/>
              </a:spcAft>
              <a:defRPr sz="2249" b="1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249" b="1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81" name="title" descr="Editable text; source id title"/>
          <p:cNvSpPr txBox="1"/>
          <p:nvPr/>
        </p:nvSpPr>
        <p:spPr>
          <a:xfrm>
            <a:off x="3762374" y="380999"/>
            <a:ext cx="1269999" cy="39687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443"/>
              </a:lnSpc>
              <a:spcBef>
                <a:spcPts val="0"/>
              </a:spcBef>
              <a:spcAft>
                <a:spcPts val="0"/>
              </a:spcAft>
              <a:defRPr sz="2124" b="1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124" b="1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rPr>
              <a:t>Frozen W</a:t>
            </a:r>
          </a:p>
        </p:txBody>
      </p:sp>
      <p:sp>
        <p:nvSpPr>
          <p:cNvPr id="82" name="titleSub" descr="Editable text; source id titleSub"/>
          <p:cNvSpPr txBox="1"/>
          <p:nvPr/>
        </p:nvSpPr>
        <p:spPr>
          <a:xfrm>
            <a:off x="4984749" y="515937"/>
            <a:ext cx="158749" cy="2381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24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499" b="0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3" name="dimW" descr="Editable text; source id dimW"/>
          <p:cNvSpPr txBox="1"/>
          <p:nvPr/>
        </p:nvSpPr>
        <p:spPr>
          <a:xfrm>
            <a:off x="4087812" y="2278062"/>
            <a:ext cx="793749" cy="3809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587"/>
              </a:lnSpc>
              <a:spcBef>
                <a:spcPts val="0"/>
              </a:spcBef>
              <a:spcAft>
                <a:spcPts val="0"/>
              </a:spcAft>
              <a:defRPr sz="2249" b="0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249" b="0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rPr>
              <a:t>d x k</a:t>
            </a:r>
          </a:p>
        </p:txBody>
      </p:sp>
      <p:sp>
        <p:nvSpPr>
          <p:cNvPr id="84" name="labelA" descr="Editable text; source id labelA"/>
          <p:cNvSpPr txBox="1"/>
          <p:nvPr/>
        </p:nvSpPr>
        <p:spPr>
          <a:xfrm>
            <a:off x="3714749" y="3770312"/>
            <a:ext cx="1587499" cy="40481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443"/>
              </a:lnSpc>
              <a:spcBef>
                <a:spcPts val="0"/>
              </a:spcBef>
              <a:spcAft>
                <a:spcPts val="0"/>
              </a:spcAft>
              <a:defRPr sz="2124" b="0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124" b="0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rPr>
              <a:t>Trainable A</a:t>
            </a:r>
          </a:p>
        </p:txBody>
      </p:sp>
      <p:sp>
        <p:nvSpPr>
          <p:cNvPr id="85" name="labelB" descr="Editable text; source id labelB"/>
          <p:cNvSpPr txBox="1"/>
          <p:nvPr/>
        </p:nvSpPr>
        <p:spPr>
          <a:xfrm>
            <a:off x="6024562" y="2984499"/>
            <a:ext cx="1627187" cy="40481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443"/>
              </a:lnSpc>
              <a:spcBef>
                <a:spcPts val="0"/>
              </a:spcBef>
              <a:spcAft>
                <a:spcPts val="0"/>
              </a:spcAft>
              <a:defRPr sz="2124" b="0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124" b="0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rPr>
              <a:t>Trainable B</a:t>
            </a:r>
          </a:p>
        </p:txBody>
      </p:sp>
      <p:sp>
        <p:nvSpPr>
          <p:cNvPr id="86" name="dimA" descr="Editable text; source id dimA"/>
          <p:cNvSpPr txBox="1"/>
          <p:nvPr/>
        </p:nvSpPr>
        <p:spPr>
          <a:xfrm>
            <a:off x="4127499" y="5008562"/>
            <a:ext cx="793749" cy="3809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587"/>
              </a:lnSpc>
              <a:spcBef>
                <a:spcPts val="0"/>
              </a:spcBef>
              <a:spcAft>
                <a:spcPts val="0"/>
              </a:spcAft>
              <a:defRPr sz="2249" b="0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249" b="0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rPr>
              <a:t>r x k</a:t>
            </a:r>
          </a:p>
        </p:txBody>
      </p:sp>
      <p:sp>
        <p:nvSpPr>
          <p:cNvPr id="87" name="dimB" descr="Editable text; source id dimB"/>
          <p:cNvSpPr txBox="1"/>
          <p:nvPr/>
        </p:nvSpPr>
        <p:spPr>
          <a:xfrm>
            <a:off x="6405562" y="5913437"/>
            <a:ext cx="793749" cy="3809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587"/>
              </a:lnSpc>
              <a:spcBef>
                <a:spcPts val="0"/>
              </a:spcBef>
              <a:spcAft>
                <a:spcPts val="0"/>
              </a:spcAft>
              <a:defRPr sz="2249" b="0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249" b="0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rPr>
              <a:t>d x r</a:t>
            </a:r>
          </a:p>
        </p:txBody>
      </p:sp>
      <p:sp>
        <p:nvSpPr>
          <p:cNvPr id="88" name="alpha" descr="Editable text; source id alpha"/>
          <p:cNvSpPr txBox="1"/>
          <p:nvPr/>
        </p:nvSpPr>
        <p:spPr>
          <a:xfrm>
            <a:off x="8151812" y="4500562"/>
            <a:ext cx="960437" cy="3809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299"/>
              </a:lnSpc>
              <a:spcBef>
                <a:spcPts val="0"/>
              </a:spcBef>
              <a:spcAft>
                <a:spcPts val="0"/>
              </a:spcAft>
              <a:defRPr sz="1999" b="0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999" b="0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rPr>
              <a:t>alpha/r</a:t>
            </a:r>
          </a:p>
        </p:txBody>
      </p:sp>
      <p:sp>
        <p:nvSpPr>
          <p:cNvPr id="89" name="legendFrozen" descr="Editable text; source id legendFrozen"/>
          <p:cNvSpPr txBox="1"/>
          <p:nvPr/>
        </p:nvSpPr>
        <p:spPr>
          <a:xfrm>
            <a:off x="1420812" y="5603874"/>
            <a:ext cx="1269999" cy="3730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228"/>
              </a:lnSpc>
              <a:spcBef>
                <a:spcPts val="0"/>
              </a:spcBef>
              <a:spcAft>
                <a:spcPts val="0"/>
              </a:spcAft>
              <a:defRPr sz="1937" b="0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937" b="0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90" name="legendTrainable" descr="Editable text; source id legendTrainable"/>
          <p:cNvSpPr txBox="1"/>
          <p:nvPr/>
        </p:nvSpPr>
        <p:spPr>
          <a:xfrm>
            <a:off x="1428749" y="6302374"/>
            <a:ext cx="1349374" cy="3730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228"/>
              </a:lnSpc>
              <a:spcBef>
                <a:spcPts val="0"/>
              </a:spcBef>
              <a:spcAft>
                <a:spcPts val="0"/>
              </a:spcAft>
              <a:defRPr sz="1937" b="0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937" b="0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rPr>
              <a:t>Trainable</a:t>
            </a:r>
          </a:p>
        </p:txBody>
      </p:sp>
      <p:sp>
        <p:nvSpPr>
          <p:cNvPr id="91" name="formula1" descr="Editable text; source id formula1"/>
          <p:cNvSpPr txBox="1"/>
          <p:nvPr/>
        </p:nvSpPr>
        <p:spPr>
          <a:xfrm>
            <a:off x="3929062" y="6889749"/>
            <a:ext cx="1063624" cy="51593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306"/>
              </a:lnSpc>
              <a:spcBef>
                <a:spcPts val="0"/>
              </a:spcBef>
              <a:spcAft>
                <a:spcPts val="0"/>
              </a:spcAft>
              <a:defRPr sz="2874" b="0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874" b="0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rPr>
              <a:t>h = W</a:t>
            </a:r>
          </a:p>
        </p:txBody>
      </p:sp>
      <p:sp>
        <p:nvSpPr>
          <p:cNvPr id="92" name="formulaSub" descr="Editable text; source id formulaSub"/>
          <p:cNvSpPr txBox="1"/>
          <p:nvPr/>
        </p:nvSpPr>
        <p:spPr>
          <a:xfrm>
            <a:off x="4960937" y="7088187"/>
            <a:ext cx="182562" cy="26987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084"/>
              </a:lnSpc>
              <a:spcBef>
                <a:spcPts val="0"/>
              </a:spcBef>
              <a:spcAft>
                <a:spcPts val="0"/>
              </a:spcAft>
              <a:defRPr sz="1812" b="0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812" b="0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3" name="formula2" descr="Editable text; source id formula2"/>
          <p:cNvSpPr txBox="1"/>
          <p:nvPr/>
        </p:nvSpPr>
        <p:spPr>
          <a:xfrm>
            <a:off x="5191124" y="6881812"/>
            <a:ext cx="3333749" cy="51593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449"/>
              </a:lnSpc>
              <a:spcBef>
                <a:spcPts val="0"/>
              </a:spcBef>
              <a:spcAft>
                <a:spcPts val="0"/>
              </a:spcAft>
              <a:defRPr sz="2999" b="0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999" b="0" i="0" lang="zh-CN" dirty="0">
                <a:solidFill>
                  <a:srgbClr val="090909"/>
                </a:solidFill>
                <a:latin typeface="Arial"/>
                <a:ea typeface="Arial"/>
                <a:cs typeface="Arial"/>
              </a:rPr>
              <a:t>x + (alpha/r) B A 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