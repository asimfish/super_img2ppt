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62576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super_teaser synthetic schematic; not a paper-original figure. All text and geometry native. Source face uncertain; Arial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ate" descr="Editable shape; source id gate"/>
          <p:cNvSpPr/>
          <p:nvPr/>
        </p:nvSpPr>
        <p:spPr>
          <a:xfrm>
            <a:off x="2390738" y="1037780"/>
            <a:ext cx="1675823" cy="4497049"/>
          </a:xfrm>
          <a:prstGeom prst="roundRect">
            <a:avLst>
              <a:gd name="adj" fmla="val 2293"/>
            </a:avLst>
          </a:prstGeom>
          <a:solidFill>
            <a:srgbClr val="FFFFFF"/>
          </a:solidFill>
          <a:ln w="15374">
            <a:solidFill>
              <a:srgbClr val="007570"/>
            </a:solidFill>
            <a:custDash>
              <a:ds d="500000" sp="2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nput" descr="Editable shape; source id input"/>
          <p:cNvSpPr/>
          <p:nvPr/>
        </p:nvSpPr>
        <p:spPr>
          <a:xfrm>
            <a:off x="276741" y="2805851"/>
            <a:ext cx="799475" cy="807162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15374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1proc" descr="Editable shape; source id e1proc"/>
          <p:cNvSpPr/>
          <p:nvPr/>
        </p:nvSpPr>
        <p:spPr>
          <a:xfrm>
            <a:off x="5496393" y="1537452"/>
            <a:ext cx="1368332" cy="684166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2proc" descr="Editable shape; source id e2proc"/>
          <p:cNvSpPr/>
          <p:nvPr/>
        </p:nvSpPr>
        <p:spPr>
          <a:xfrm>
            <a:off x="5496393" y="2790476"/>
            <a:ext cx="1368332" cy="860973"/>
          </a:xfrm>
          <a:prstGeom prst="rect">
            <a:avLst/>
          </a:prstGeom>
          <a:solidFill>
            <a:srgbClr val="FFFFFF"/>
          </a:solidFill>
          <a:ln w="15374">
            <a:solidFill>
              <a:srgbClr val="B28B00"/>
            </a:solidFill>
            <a:custDash>
              <a:ds d="450000" sp="2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3proc" descr="Editable shape; source id e3proc"/>
          <p:cNvSpPr/>
          <p:nvPr/>
        </p:nvSpPr>
        <p:spPr>
          <a:xfrm>
            <a:off x="5496393" y="4227994"/>
            <a:ext cx="1368332" cy="676479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06" descr="Editable shape; source id w06"/>
          <p:cNvSpPr/>
          <p:nvPr/>
        </p:nvSpPr>
        <p:spPr>
          <a:xfrm>
            <a:off x="7841008" y="1568201"/>
            <a:ext cx="1053155" cy="614981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04" descr="Editable shape; source id w04"/>
          <p:cNvSpPr/>
          <p:nvPr/>
        </p:nvSpPr>
        <p:spPr>
          <a:xfrm>
            <a:off x="7841008" y="4335616"/>
            <a:ext cx="1053155" cy="438174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rge" descr="Editable shape; source id merge"/>
          <p:cNvSpPr/>
          <p:nvPr/>
        </p:nvSpPr>
        <p:spPr>
          <a:xfrm>
            <a:off x="9416897" y="3097967"/>
            <a:ext cx="645730" cy="668791"/>
          </a:xfrm>
          <a:prstGeom prst="ellipse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utput" descr="Editable shape; source id output"/>
          <p:cNvSpPr/>
          <p:nvPr/>
        </p:nvSpPr>
        <p:spPr>
          <a:xfrm>
            <a:off x="10823666" y="3159465"/>
            <a:ext cx="1199213" cy="64573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5374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gend" descr="Editable shape; source id legend"/>
          <p:cNvSpPr/>
          <p:nvPr/>
        </p:nvSpPr>
        <p:spPr>
          <a:xfrm>
            <a:off x="276741" y="5711636"/>
            <a:ext cx="2759727" cy="1506703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374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1gate" descr="Editable shape; source id e1gate"/>
          <p:cNvSpPr/>
          <p:nvPr/>
        </p:nvSpPr>
        <p:spPr>
          <a:xfrm>
            <a:off x="2544484" y="1698885"/>
            <a:ext cx="622668" cy="37667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2gate" descr="Editable shape; source id e2gate"/>
          <p:cNvSpPr/>
          <p:nvPr/>
        </p:nvSpPr>
        <p:spPr>
          <a:xfrm>
            <a:off x="2544484" y="3028781"/>
            <a:ext cx="622668" cy="38436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374">
            <a:solidFill>
              <a:srgbClr val="B2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3gate" descr="Editable shape; source id e3gate"/>
          <p:cNvSpPr/>
          <p:nvPr/>
        </p:nvSpPr>
        <p:spPr>
          <a:xfrm>
            <a:off x="2544484" y="4358678"/>
            <a:ext cx="622668" cy="38436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l1" descr="Editable shape; source id sel1"/>
          <p:cNvSpPr/>
          <p:nvPr/>
        </p:nvSpPr>
        <p:spPr>
          <a:xfrm>
            <a:off x="3459268" y="1706572"/>
            <a:ext cx="322865" cy="322865"/>
          </a:xfrm>
          <a:prstGeom prst="ellipse">
            <a:avLst/>
          </a:prstGeom>
          <a:solidFill>
            <a:srgbClr val="007570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l2" descr="Editable shape; source id sel2"/>
          <p:cNvSpPr/>
          <p:nvPr/>
        </p:nvSpPr>
        <p:spPr>
          <a:xfrm>
            <a:off x="3459268" y="3044156"/>
            <a:ext cx="322865" cy="322865"/>
          </a:xfrm>
          <a:prstGeom prst="ellipse">
            <a:avLst/>
          </a:prstGeom>
          <a:solidFill>
            <a:srgbClr val="B28B00"/>
          </a:solidFill>
          <a:ln w="15374">
            <a:solidFill>
              <a:srgbClr val="B2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l3" descr="Editable shape; source id sel3"/>
          <p:cNvSpPr/>
          <p:nvPr/>
        </p:nvSpPr>
        <p:spPr>
          <a:xfrm>
            <a:off x="3459268" y="4374052"/>
            <a:ext cx="322865" cy="322865"/>
          </a:xfrm>
          <a:prstGeom prst="ellipse">
            <a:avLst/>
          </a:prstGeom>
          <a:solidFill>
            <a:srgbClr val="007570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ey1" descr="Editable shape; source id key1"/>
          <p:cNvSpPr/>
          <p:nvPr/>
        </p:nvSpPr>
        <p:spPr>
          <a:xfrm>
            <a:off x="2552171" y="4973659"/>
            <a:ext cx="169119" cy="169119"/>
          </a:xfrm>
          <a:prstGeom prst="ellipse">
            <a:avLst/>
          </a:prstGeom>
          <a:solidFill>
            <a:srgbClr val="007570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ey2" descr="Editable shape; source id key2"/>
          <p:cNvSpPr/>
          <p:nvPr/>
        </p:nvSpPr>
        <p:spPr>
          <a:xfrm>
            <a:off x="2552171" y="5227339"/>
            <a:ext cx="169119" cy="169119"/>
          </a:xfrm>
          <a:prstGeom prst="ellipse">
            <a:avLst/>
          </a:prstGeom>
          <a:solidFill>
            <a:srgbClr val="B28B00"/>
          </a:solidFill>
          <a:ln w="15374">
            <a:solidFill>
              <a:srgbClr val="B2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gend_active" descr="Editable shape; source id legend_active"/>
          <p:cNvSpPr/>
          <p:nvPr/>
        </p:nvSpPr>
        <p:spPr>
          <a:xfrm>
            <a:off x="453548" y="6195934"/>
            <a:ext cx="422799" cy="161432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gend_inactive" descr="Editable shape; source id legend_inactive"/>
          <p:cNvSpPr/>
          <p:nvPr/>
        </p:nvSpPr>
        <p:spPr>
          <a:xfrm>
            <a:off x="453548" y="6418864"/>
            <a:ext cx="422799" cy="161432"/>
          </a:xfrm>
          <a:prstGeom prst="rect">
            <a:avLst/>
          </a:prstGeom>
          <a:solidFill>
            <a:srgbClr val="FFFFFF"/>
          </a:solidFill>
          <a:ln w="15374">
            <a:solidFill>
              <a:srgbClr val="B28B00"/>
            </a:solidFill>
            <a:custDash>
              <a:ds d="400000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gend_weight" descr="Editable shape; source id legend_weight"/>
          <p:cNvSpPr/>
          <p:nvPr/>
        </p:nvSpPr>
        <p:spPr>
          <a:xfrm>
            <a:off x="453548" y="6641795"/>
            <a:ext cx="422799" cy="161432"/>
          </a:xfrm>
          <a:prstGeom prst="rect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egend_merge" descr="Editable shape; source id legend_merge"/>
          <p:cNvSpPr/>
          <p:nvPr/>
        </p:nvSpPr>
        <p:spPr>
          <a:xfrm>
            <a:off x="530421" y="6872413"/>
            <a:ext cx="269054" cy="269054"/>
          </a:xfrm>
          <a:prstGeom prst="ellipse">
            <a:avLst/>
          </a:prstGeom>
          <a:solidFill>
            <a:srgbClr val="FFFFFF"/>
          </a:solidFill>
          <a:ln w="15374">
            <a:solidFill>
              <a:srgbClr val="00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sel1a" descr="Editable line; source id sel1a"/>
          <p:cNvCxnSpPr/>
          <p:nvPr/>
        </p:nvCxnSpPr>
        <p:spPr>
          <a:xfrm>
            <a:off x="3543213" y="1868004"/>
            <a:ext cx="61344" cy="54888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el1b" descr="Editable line; source id sel1b"/>
          <p:cNvCxnSpPr/>
          <p:nvPr/>
        </p:nvCxnSpPr>
        <p:spPr>
          <a:xfrm flipV="1">
            <a:off x="3604557" y="1806660"/>
            <a:ext cx="96860" cy="116232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el2a" descr="Editable line; source id sel2a"/>
          <p:cNvCxnSpPr/>
          <p:nvPr/>
        </p:nvCxnSpPr>
        <p:spPr>
          <a:xfrm>
            <a:off x="3569042" y="3153930"/>
            <a:ext cx="103317" cy="103317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el2b" descr="Editable line; source id sel2b"/>
          <p:cNvCxnSpPr/>
          <p:nvPr/>
        </p:nvCxnSpPr>
        <p:spPr>
          <a:xfrm flipV="1">
            <a:off x="3569042" y="3153930"/>
            <a:ext cx="103317" cy="103317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el3a" descr="Editable line; source id sel3a"/>
          <p:cNvCxnSpPr/>
          <p:nvPr/>
        </p:nvCxnSpPr>
        <p:spPr>
          <a:xfrm>
            <a:off x="3543213" y="4535485"/>
            <a:ext cx="61344" cy="54887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el3b" descr="Editable line; source id sel3b"/>
          <p:cNvCxnSpPr/>
          <p:nvPr/>
        </p:nvCxnSpPr>
        <p:spPr>
          <a:xfrm flipV="1">
            <a:off x="3604557" y="4474141"/>
            <a:ext cx="96860" cy="116231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key1a" descr="Editable line; source id key1a"/>
          <p:cNvCxnSpPr/>
          <p:nvPr/>
        </p:nvCxnSpPr>
        <p:spPr>
          <a:xfrm>
            <a:off x="2596142" y="5058219"/>
            <a:ext cx="32133" cy="28750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key1b" descr="Editable line; source id key1b"/>
          <p:cNvCxnSpPr/>
          <p:nvPr/>
        </p:nvCxnSpPr>
        <p:spPr>
          <a:xfrm flipV="1">
            <a:off x="2628275" y="5026086"/>
            <a:ext cx="50736" cy="60883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key2a" descr="Editable line; source id key2a"/>
          <p:cNvCxnSpPr/>
          <p:nvPr/>
        </p:nvCxnSpPr>
        <p:spPr>
          <a:xfrm>
            <a:off x="2609672" y="5284839"/>
            <a:ext cx="54118" cy="54119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key2b" descr="Editable line; source id key2b"/>
          <p:cNvCxnSpPr/>
          <p:nvPr/>
        </p:nvCxnSpPr>
        <p:spPr>
          <a:xfrm flipV="1">
            <a:off x="2609672" y="5284839"/>
            <a:ext cx="54118" cy="54119"/>
          </a:xfrm>
          <a:prstGeom prst="line">
            <a:avLst/>
          </a:prstGeom>
          <a:ln w="1921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inputshaft" descr="Editable line; source id inputshaft"/>
          <p:cNvCxnSpPr/>
          <p:nvPr/>
        </p:nvCxnSpPr>
        <p:spPr>
          <a:xfrm>
            <a:off x="1076216" y="3220963"/>
            <a:ext cx="1468268" cy="0"/>
          </a:xfrm>
          <a:prstGeom prst="line">
            <a:avLst/>
          </a:prstGeom>
          <a:ln w="23061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trunk" descr="Editable line; source id trunk"/>
          <p:cNvCxnSpPr/>
          <p:nvPr/>
        </p:nvCxnSpPr>
        <p:spPr>
          <a:xfrm>
            <a:off x="2006375" y="1883379"/>
            <a:ext cx="0" cy="2659793"/>
          </a:xfrm>
          <a:prstGeom prst="line">
            <a:avLst/>
          </a:prstGeom>
          <a:ln w="23061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opbranch" descr="Editable line; source id topbranch"/>
          <p:cNvSpPr/>
          <p:nvPr/>
        </p:nvSpPr>
        <p:spPr>
          <a:xfrm>
            <a:off x="2006376" y="1825725"/>
            <a:ext cx="522734" cy="115309"/>
          </a:xfrm>
          <a:custGeom>
            <a:avLst/>
            <a:gdLst/>
            <a:ahLst/>
            <a:cxnLst/>
            <a:rect l="l" t="t" r="r" b="b"/>
            <a:pathLst>
              <a:path w="68000" h="15000">
                <a:moveTo>
                  <a:pt x="0" y="6000"/>
                </a:moveTo>
                <a:lnTo>
                  <a:pt x="52000" y="6000"/>
                </a:lnTo>
                <a:lnTo>
                  <a:pt x="52000" y="0"/>
                </a:lnTo>
                <a:lnTo>
                  <a:pt x="68000" y="7500"/>
                </a:lnTo>
                <a:lnTo>
                  <a:pt x="52000" y="15000"/>
                </a:lnTo>
                <a:lnTo>
                  <a:pt x="52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tbranch" descr="Editable line; source id botbranch"/>
          <p:cNvSpPr/>
          <p:nvPr/>
        </p:nvSpPr>
        <p:spPr>
          <a:xfrm>
            <a:off x="2006376" y="4485518"/>
            <a:ext cx="522734" cy="115309"/>
          </a:xfrm>
          <a:custGeom>
            <a:avLst/>
            <a:gdLst/>
            <a:ahLst/>
            <a:cxnLst/>
            <a:rect l="l" t="t" r="r" b="b"/>
            <a:pathLst>
              <a:path w="68000" h="15000">
                <a:moveTo>
                  <a:pt x="0" y="6000"/>
                </a:moveTo>
                <a:lnTo>
                  <a:pt x="52000" y="6000"/>
                </a:lnTo>
                <a:lnTo>
                  <a:pt x="52000" y="0"/>
                </a:lnTo>
                <a:lnTo>
                  <a:pt x="68000" y="7500"/>
                </a:lnTo>
                <a:lnTo>
                  <a:pt x="52000" y="15000"/>
                </a:lnTo>
                <a:lnTo>
                  <a:pt x="52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o1" descr="Editable line; source id go1"/>
          <p:cNvSpPr/>
          <p:nvPr/>
        </p:nvSpPr>
        <p:spPr>
          <a:xfrm>
            <a:off x="4066562" y="1818038"/>
            <a:ext cx="1399082" cy="122996"/>
          </a:xfrm>
          <a:custGeom>
            <a:avLst/>
            <a:gdLst/>
            <a:ahLst/>
            <a:cxnLst/>
            <a:rect l="l" t="t" r="r" b="b"/>
            <a:pathLst>
              <a:path w="182000" h="16000">
                <a:moveTo>
                  <a:pt x="0" y="6500"/>
                </a:moveTo>
                <a:lnTo>
                  <a:pt x="165000" y="6500"/>
                </a:lnTo>
                <a:lnTo>
                  <a:pt x="165000" y="0"/>
                </a:lnTo>
                <a:lnTo>
                  <a:pt x="182000" y="8000"/>
                </a:lnTo>
                <a:lnTo>
                  <a:pt x="165000" y="16000"/>
                </a:lnTo>
                <a:lnTo>
                  <a:pt x="165000" y="9500"/>
                </a:lnTo>
                <a:lnTo>
                  <a:pt x="0" y="95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o3" descr="Editable line; source id go3"/>
          <p:cNvSpPr/>
          <p:nvPr/>
        </p:nvSpPr>
        <p:spPr>
          <a:xfrm>
            <a:off x="4066562" y="4485518"/>
            <a:ext cx="1399082" cy="115309"/>
          </a:xfrm>
          <a:custGeom>
            <a:avLst/>
            <a:gdLst/>
            <a:ahLst/>
            <a:cxnLst/>
            <a:rect l="l" t="t" r="r" b="b"/>
            <a:pathLst>
              <a:path w="182000" h="15000">
                <a:moveTo>
                  <a:pt x="0" y="6000"/>
                </a:moveTo>
                <a:lnTo>
                  <a:pt x="166000" y="6000"/>
                </a:lnTo>
                <a:lnTo>
                  <a:pt x="166000" y="0"/>
                </a:lnTo>
                <a:lnTo>
                  <a:pt x="182000" y="7500"/>
                </a:lnTo>
                <a:lnTo>
                  <a:pt x="166000" y="15000"/>
                </a:lnTo>
                <a:lnTo>
                  <a:pt x="166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o06" descr="Editable line; source id to06"/>
          <p:cNvSpPr/>
          <p:nvPr/>
        </p:nvSpPr>
        <p:spPr>
          <a:xfrm>
            <a:off x="6864726" y="1825725"/>
            <a:ext cx="945533" cy="115309"/>
          </a:xfrm>
          <a:custGeom>
            <a:avLst/>
            <a:gdLst/>
            <a:ahLst/>
            <a:cxnLst/>
            <a:rect l="l" t="t" r="r" b="b"/>
            <a:pathLst>
              <a:path w="123000" h="15000">
                <a:moveTo>
                  <a:pt x="0" y="6000"/>
                </a:moveTo>
                <a:lnTo>
                  <a:pt x="107000" y="6000"/>
                </a:lnTo>
                <a:lnTo>
                  <a:pt x="107000" y="0"/>
                </a:lnTo>
                <a:lnTo>
                  <a:pt x="123000" y="7500"/>
                </a:lnTo>
                <a:lnTo>
                  <a:pt x="107000" y="15000"/>
                </a:lnTo>
                <a:lnTo>
                  <a:pt x="107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o04" descr="Editable line; source id to04"/>
          <p:cNvSpPr/>
          <p:nvPr/>
        </p:nvSpPr>
        <p:spPr>
          <a:xfrm>
            <a:off x="6864726" y="4500893"/>
            <a:ext cx="945533" cy="115309"/>
          </a:xfrm>
          <a:custGeom>
            <a:avLst/>
            <a:gdLst/>
            <a:ahLst/>
            <a:cxnLst/>
            <a:rect l="l" t="t" r="r" b="b"/>
            <a:pathLst>
              <a:path w="123000" h="15000">
                <a:moveTo>
                  <a:pt x="0" y="6000"/>
                </a:moveTo>
                <a:lnTo>
                  <a:pt x="107000" y="6000"/>
                </a:lnTo>
                <a:lnTo>
                  <a:pt x="107000" y="0"/>
                </a:lnTo>
                <a:lnTo>
                  <a:pt x="123000" y="7500"/>
                </a:lnTo>
                <a:lnTo>
                  <a:pt x="107000" y="15000"/>
                </a:lnTo>
                <a:lnTo>
                  <a:pt x="107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ut" descr="Editable line; source id out"/>
          <p:cNvSpPr/>
          <p:nvPr/>
        </p:nvSpPr>
        <p:spPr>
          <a:xfrm>
            <a:off x="10062628" y="3370865"/>
            <a:ext cx="730290" cy="115309"/>
          </a:xfrm>
          <a:custGeom>
            <a:avLst/>
            <a:gdLst/>
            <a:ahLst/>
            <a:cxnLst/>
            <a:rect l="l" t="t" r="r" b="b"/>
            <a:pathLst>
              <a:path w="95000" h="15000">
                <a:moveTo>
                  <a:pt x="0" y="6000"/>
                </a:moveTo>
                <a:lnTo>
                  <a:pt x="79000" y="6000"/>
                </a:lnTo>
                <a:lnTo>
                  <a:pt x="79000" y="0"/>
                </a:lnTo>
                <a:lnTo>
                  <a:pt x="95000" y="7500"/>
                </a:lnTo>
                <a:lnTo>
                  <a:pt x="79000" y="15000"/>
                </a:lnTo>
                <a:lnTo>
                  <a:pt x="79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upperhorizontal" descr="Editable line; source id upperhorizontal"/>
          <p:cNvCxnSpPr/>
          <p:nvPr/>
        </p:nvCxnSpPr>
        <p:spPr>
          <a:xfrm>
            <a:off x="8894163" y="1883379"/>
            <a:ext cx="845599" cy="0"/>
          </a:xfrm>
          <a:prstGeom prst="line">
            <a:avLst/>
          </a:prstGeom>
          <a:ln w="23061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uppervertical" descr="Editable line; source id uppervertical"/>
          <p:cNvSpPr/>
          <p:nvPr/>
        </p:nvSpPr>
        <p:spPr>
          <a:xfrm>
            <a:off x="9682108" y="1883380"/>
            <a:ext cx="115309" cy="1183839"/>
          </a:xfrm>
          <a:custGeom>
            <a:avLst/>
            <a:gdLst/>
            <a:ahLst/>
            <a:cxnLst/>
            <a:rect l="l" t="t" r="r" b="b"/>
            <a:pathLst>
              <a:path w="15000" h="154000">
                <a:moveTo>
                  <a:pt x="9000" y="0"/>
                </a:moveTo>
                <a:lnTo>
                  <a:pt x="9000" y="138000"/>
                </a:lnTo>
                <a:lnTo>
                  <a:pt x="15000" y="138000"/>
                </a:lnTo>
                <a:lnTo>
                  <a:pt x="7500" y="154000"/>
                </a:lnTo>
                <a:lnTo>
                  <a:pt x="0" y="138000"/>
                </a:lnTo>
                <a:lnTo>
                  <a:pt x="6000" y="138000"/>
                </a:lnTo>
                <a:lnTo>
                  <a:pt x="6000" y="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lowerhorizontal" descr="Editable line; source id lowerhorizontal"/>
          <p:cNvCxnSpPr/>
          <p:nvPr/>
        </p:nvCxnSpPr>
        <p:spPr>
          <a:xfrm>
            <a:off x="8894163" y="4558547"/>
            <a:ext cx="845599" cy="0"/>
          </a:xfrm>
          <a:prstGeom prst="line">
            <a:avLst/>
          </a:prstGeom>
          <a:ln w="23061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owervertical" descr="Editable line; source id lowervertical"/>
          <p:cNvSpPr/>
          <p:nvPr/>
        </p:nvSpPr>
        <p:spPr>
          <a:xfrm>
            <a:off x="9682108" y="3797508"/>
            <a:ext cx="115309" cy="761039"/>
          </a:xfrm>
          <a:custGeom>
            <a:avLst/>
            <a:gdLst/>
            <a:ahLst/>
            <a:cxnLst/>
            <a:rect l="l" t="t" r="r" b="b"/>
            <a:pathLst>
              <a:path w="15000" h="99000">
                <a:moveTo>
                  <a:pt x="6000" y="99000"/>
                </a:moveTo>
                <a:lnTo>
                  <a:pt x="6000" y="16000"/>
                </a:lnTo>
                <a:lnTo>
                  <a:pt x="0" y="16000"/>
                </a:lnTo>
                <a:lnTo>
                  <a:pt x="7500" y="0"/>
                </a:lnTo>
                <a:lnTo>
                  <a:pt x="15000" y="16000"/>
                </a:lnTo>
                <a:lnTo>
                  <a:pt x="9000" y="16000"/>
                </a:lnTo>
                <a:lnTo>
                  <a:pt x="9000" y="9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septopL" descr="Editable line; source id septopL"/>
          <p:cNvCxnSpPr/>
          <p:nvPr/>
        </p:nvCxnSpPr>
        <p:spPr>
          <a:xfrm>
            <a:off x="330552" y="2406113"/>
            <a:ext cx="2052499" cy="0"/>
          </a:xfrm>
          <a:prstGeom prst="line">
            <a:avLst/>
          </a:prstGeom>
          <a:ln w="13837">
            <a:solidFill>
              <a:srgbClr val="999999"/>
            </a:solidFill>
            <a:custDash>
              <a:ds d="611111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eptopR" descr="Editable line; source id septopR"/>
          <p:cNvCxnSpPr/>
          <p:nvPr/>
        </p:nvCxnSpPr>
        <p:spPr>
          <a:xfrm>
            <a:off x="4074249" y="2406113"/>
            <a:ext cx="7825634" cy="0"/>
          </a:xfrm>
          <a:prstGeom prst="line">
            <a:avLst/>
          </a:prstGeom>
          <a:ln w="13837">
            <a:solidFill>
              <a:srgbClr val="999999"/>
            </a:solidFill>
            <a:custDash>
              <a:ds d="611111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epbottomL" descr="Editable line; source id sepbottomL"/>
          <p:cNvCxnSpPr/>
          <p:nvPr/>
        </p:nvCxnSpPr>
        <p:spPr>
          <a:xfrm>
            <a:off x="330552" y="4112685"/>
            <a:ext cx="2052499" cy="0"/>
          </a:xfrm>
          <a:prstGeom prst="line">
            <a:avLst/>
          </a:prstGeom>
          <a:ln w="13837">
            <a:solidFill>
              <a:srgbClr val="999999"/>
            </a:solidFill>
            <a:custDash>
              <a:ds d="611111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epbottomR" descr="Editable line; source id sepbottomR"/>
          <p:cNvCxnSpPr/>
          <p:nvPr/>
        </p:nvCxnSpPr>
        <p:spPr>
          <a:xfrm>
            <a:off x="4074249" y="4112685"/>
            <a:ext cx="7825634" cy="0"/>
          </a:xfrm>
          <a:prstGeom prst="line">
            <a:avLst/>
          </a:prstGeom>
          <a:ln w="13837">
            <a:solidFill>
              <a:srgbClr val="999999"/>
            </a:solidFill>
            <a:custDash>
              <a:ds d="611111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legend_arrow" descr="Editable line; source id legend_arrow"/>
          <p:cNvSpPr/>
          <p:nvPr/>
        </p:nvSpPr>
        <p:spPr>
          <a:xfrm>
            <a:off x="445861" y="5999909"/>
            <a:ext cx="468923" cy="115309"/>
          </a:xfrm>
          <a:custGeom>
            <a:avLst/>
            <a:gdLst/>
            <a:ahLst/>
            <a:cxnLst/>
            <a:rect l="l" t="t" r="r" b="b"/>
            <a:pathLst>
              <a:path w="61000" h="15000">
                <a:moveTo>
                  <a:pt x="0" y="6000"/>
                </a:moveTo>
                <a:lnTo>
                  <a:pt x="45000" y="6000"/>
                </a:lnTo>
                <a:lnTo>
                  <a:pt x="45000" y="0"/>
                </a:lnTo>
                <a:lnTo>
                  <a:pt x="61000" y="7500"/>
                </a:lnTo>
                <a:lnTo>
                  <a:pt x="45000" y="15000"/>
                </a:lnTo>
                <a:lnTo>
                  <a:pt x="45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itle" descr="Editable text; source id title"/>
          <p:cNvSpPr txBox="1"/>
          <p:nvPr/>
        </p:nvSpPr>
        <p:spPr>
          <a:xfrm>
            <a:off x="4658481" y="99934"/>
            <a:ext cx="2998032" cy="3151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1"/>
              </a:lnSpc>
              <a:spcBef>
                <a:spcPts val="0"/>
              </a:spcBef>
              <a:spcAft>
                <a:spcPts val="0"/>
              </a:spcAft>
              <a:defRPr sz="1392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92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One token, two active branches</a:t>
            </a:r>
          </a:p>
        </p:txBody>
      </p:sp>
      <p:sp>
        <p:nvSpPr>
          <p:cNvPr id="53" name="gate_title" descr="Editable text; source id gate_title"/>
          <p:cNvSpPr txBox="1"/>
          <p:nvPr/>
        </p:nvSpPr>
        <p:spPr>
          <a:xfrm>
            <a:off x="2652105" y="722602"/>
            <a:ext cx="1168464" cy="2844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Branch Gate</a:t>
            </a:r>
          </a:p>
        </p:txBody>
      </p:sp>
      <p:sp>
        <p:nvSpPr>
          <p:cNvPr id="54" name="instruction" descr="Editable text; source id instruction"/>
          <p:cNvSpPr txBox="1"/>
          <p:nvPr/>
        </p:nvSpPr>
        <p:spPr>
          <a:xfrm>
            <a:off x="2659793" y="1130027"/>
            <a:ext cx="1153089" cy="4381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10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Select active</a:t>
            </a:r>
          </a:p>
          <a:p>
            <a:pPr algn="ctr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10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branches</a:t>
            </a:r>
          </a:p>
        </p:txBody>
      </p:sp>
      <p:sp>
        <p:nvSpPr>
          <p:cNvPr id="55" name="input_text" descr="Editable text; source id input_text"/>
          <p:cNvSpPr txBox="1"/>
          <p:nvPr/>
        </p:nvSpPr>
        <p:spPr>
          <a:xfrm>
            <a:off x="338239" y="2867349"/>
            <a:ext cx="676479" cy="66879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Input</a:t>
            </a:r>
          </a:p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token</a:t>
            </a:r>
          </a:p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3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56" name="active1" descr="Editable text; source id active1"/>
          <p:cNvSpPr txBox="1"/>
          <p:nvPr/>
        </p:nvSpPr>
        <p:spPr>
          <a:xfrm>
            <a:off x="438174" y="1345271"/>
            <a:ext cx="976282" cy="3382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9"/>
              </a:lnSpc>
              <a:spcBef>
                <a:spcPts val="0"/>
              </a:spcBef>
              <a:spcAft>
                <a:spcPts val="0"/>
              </a:spcAft>
              <a:defRPr sz="1573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573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E1 active</a:t>
            </a:r>
          </a:p>
        </p:txBody>
      </p:sp>
      <p:sp>
        <p:nvSpPr>
          <p:cNvPr id="57" name="active3" descr="Editable text; source id active3"/>
          <p:cNvSpPr txBox="1"/>
          <p:nvPr/>
        </p:nvSpPr>
        <p:spPr>
          <a:xfrm>
            <a:off x="438174" y="4327929"/>
            <a:ext cx="976282" cy="33055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9"/>
              </a:lnSpc>
              <a:spcBef>
                <a:spcPts val="0"/>
              </a:spcBef>
              <a:spcAft>
                <a:spcPts val="0"/>
              </a:spcAft>
              <a:defRPr sz="1573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573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E3 active</a:t>
            </a:r>
          </a:p>
        </p:txBody>
      </p:sp>
      <p:sp>
        <p:nvSpPr>
          <p:cNvPr id="58" name="inactive_e" descr="Editable text; source id inactive_e"/>
          <p:cNvSpPr txBox="1"/>
          <p:nvPr/>
        </p:nvSpPr>
        <p:spPr>
          <a:xfrm>
            <a:off x="1183838" y="2644418"/>
            <a:ext cx="315177" cy="3151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defRPr>
            </a:pPr>
            <a:r>
              <a:rPr sz="1634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59" name="inactive_word" descr="Editable text; source id inactive_word"/>
          <p:cNvSpPr txBox="1"/>
          <p:nvPr/>
        </p:nvSpPr>
        <p:spPr>
          <a:xfrm>
            <a:off x="1491329" y="2690542"/>
            <a:ext cx="507359" cy="24599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59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defRPr>
            </a:pPr>
            <a:r>
              <a:rPr sz="1059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rPr>
              <a:t>inactive</a:t>
            </a:r>
          </a:p>
        </p:txBody>
      </p:sp>
      <p:sp>
        <p:nvSpPr>
          <p:cNvPr id="60" name="gate_label1" descr="Editable text; source id gate_label1"/>
          <p:cNvSpPr txBox="1"/>
          <p:nvPr/>
        </p:nvSpPr>
        <p:spPr>
          <a:xfrm>
            <a:off x="2605982" y="1721946"/>
            <a:ext cx="499672" cy="30749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61" name="gate_label2" descr="Editable text; source id gate_label2"/>
          <p:cNvSpPr txBox="1"/>
          <p:nvPr/>
        </p:nvSpPr>
        <p:spPr>
          <a:xfrm>
            <a:off x="2605982" y="3051843"/>
            <a:ext cx="499672" cy="30749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55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defRPr>
            </a:pPr>
            <a:r>
              <a:rPr sz="1755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62" name="gate_label3" descr="Editable text; source id gate_label3"/>
          <p:cNvSpPr txBox="1"/>
          <p:nvPr/>
        </p:nvSpPr>
        <p:spPr>
          <a:xfrm>
            <a:off x="2605982" y="4381740"/>
            <a:ext cx="499672" cy="30749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63" name="proc_label1" descr="Editable text; source id proc_label1"/>
          <p:cNvSpPr txBox="1"/>
          <p:nvPr/>
        </p:nvSpPr>
        <p:spPr>
          <a:xfrm>
            <a:off x="5780822" y="1598950"/>
            <a:ext cx="799475" cy="33055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1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81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64" name="proc_label2" descr="Editable text; source id proc_label2"/>
          <p:cNvSpPr txBox="1"/>
          <p:nvPr/>
        </p:nvSpPr>
        <p:spPr>
          <a:xfrm>
            <a:off x="5780822" y="2851974"/>
            <a:ext cx="799475" cy="33055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15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defRPr>
            </a:pPr>
            <a:r>
              <a:rPr sz="1815" b="0" i="0" lang="zh-CN" dirty="0">
                <a:solidFill>
                  <a:srgbClr val="B28B00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65" name="proc_label3" descr="Editable text; source id proc_label3"/>
          <p:cNvSpPr txBox="1"/>
          <p:nvPr/>
        </p:nvSpPr>
        <p:spPr>
          <a:xfrm>
            <a:off x="5780822" y="4289492"/>
            <a:ext cx="799475" cy="33055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1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81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66" name="process1" descr="Editable text; source id process1"/>
          <p:cNvSpPr txBox="1"/>
          <p:nvPr/>
        </p:nvSpPr>
        <p:spPr>
          <a:xfrm>
            <a:off x="5611702" y="1891066"/>
            <a:ext cx="1137714" cy="2844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processes x</a:t>
            </a:r>
          </a:p>
        </p:txBody>
      </p:sp>
      <p:sp>
        <p:nvSpPr>
          <p:cNvPr id="67" name="process3" descr="Editable text; source id process3"/>
          <p:cNvSpPr txBox="1"/>
          <p:nvPr/>
        </p:nvSpPr>
        <p:spPr>
          <a:xfrm>
            <a:off x="5611702" y="4573921"/>
            <a:ext cx="1137714" cy="2844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processes x</a:t>
            </a:r>
          </a:p>
        </p:txBody>
      </p:sp>
      <p:sp>
        <p:nvSpPr>
          <p:cNvPr id="68" name="gatedoff" descr="Editable text; source id gatedoff"/>
          <p:cNvSpPr txBox="1"/>
          <p:nvPr/>
        </p:nvSpPr>
        <p:spPr>
          <a:xfrm>
            <a:off x="5573265" y="3144090"/>
            <a:ext cx="1214587" cy="4304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gated off</a:t>
            </a:r>
          </a:p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(no execution)</a:t>
            </a:r>
          </a:p>
        </p:txBody>
      </p:sp>
      <p:sp>
        <p:nvSpPr>
          <p:cNvPr id="69" name="weighttitle" descr="Editable text; source id weighttitle"/>
          <p:cNvSpPr txBox="1"/>
          <p:nvPr/>
        </p:nvSpPr>
        <p:spPr>
          <a:xfrm>
            <a:off x="7587328" y="968595"/>
            <a:ext cx="1560514" cy="49198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Gate weight</a:t>
            </a:r>
          </a:p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(fixture constant)</a:t>
            </a:r>
          </a:p>
        </p:txBody>
      </p:sp>
      <p:sp>
        <p:nvSpPr>
          <p:cNvPr id="70" name="weight06" descr="Editable text; source id weight06"/>
          <p:cNvSpPr txBox="1"/>
          <p:nvPr/>
        </p:nvSpPr>
        <p:spPr>
          <a:xfrm>
            <a:off x="7940943" y="1714259"/>
            <a:ext cx="853286" cy="33823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755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71" name="weight04" descr="Editable text; source id weight04"/>
          <p:cNvSpPr txBox="1"/>
          <p:nvPr/>
        </p:nvSpPr>
        <p:spPr>
          <a:xfrm>
            <a:off x="7940943" y="4397114"/>
            <a:ext cx="853286" cy="3151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634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72" name="mergelabel" descr="Editable text; source id mergelabel"/>
          <p:cNvSpPr txBox="1"/>
          <p:nvPr/>
        </p:nvSpPr>
        <p:spPr>
          <a:xfrm>
            <a:off x="9893507" y="2629044"/>
            <a:ext cx="814849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Weighted</a:t>
            </a:r>
          </a:p>
        </p:txBody>
      </p:sp>
      <p:sp>
        <p:nvSpPr>
          <p:cNvPr id="73" name="plus" descr="Editable text; source id plus"/>
          <p:cNvSpPr txBox="1"/>
          <p:nvPr/>
        </p:nvSpPr>
        <p:spPr>
          <a:xfrm>
            <a:off x="9532206" y="3228650"/>
            <a:ext cx="407424" cy="4074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936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936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4" name="result" descr="Editable text; source id result"/>
          <p:cNvSpPr txBox="1"/>
          <p:nvPr/>
        </p:nvSpPr>
        <p:spPr>
          <a:xfrm>
            <a:off x="10877477" y="3244025"/>
            <a:ext cx="1091591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y = 0.6 E1(x)</a:t>
            </a:r>
          </a:p>
        </p:txBody>
      </p:sp>
      <p:sp>
        <p:nvSpPr>
          <p:cNvPr id="75" name="footer" descr="Editable text; source id footer"/>
          <p:cNvSpPr txBox="1"/>
          <p:nvPr/>
        </p:nvSpPr>
        <p:spPr>
          <a:xfrm>
            <a:off x="4251056" y="7210653"/>
            <a:ext cx="3697573" cy="32286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75"/>
              </a:lnSpc>
              <a:spcBef>
                <a:spcPts val="0"/>
              </a:spcBef>
              <a:spcAft>
                <a:spcPts val="0"/>
              </a:spcAft>
              <a:defRPr sz="1283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83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Synthetic fixture | schematic, not measured</a:t>
            </a:r>
          </a:p>
        </p:txBody>
      </p:sp>
      <p:sp>
        <p:nvSpPr>
          <p:cNvPr id="76" name="keytext1" descr="Editable text; source id keytext1"/>
          <p:cNvSpPr txBox="1"/>
          <p:nvPr/>
        </p:nvSpPr>
        <p:spPr>
          <a:xfrm>
            <a:off x="2821225" y="4935223"/>
            <a:ext cx="1160776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active (selected)</a:t>
            </a:r>
          </a:p>
        </p:txBody>
      </p:sp>
      <p:sp>
        <p:nvSpPr>
          <p:cNvPr id="77" name="keytext2" descr="Editable text; source id keytext2"/>
          <p:cNvSpPr txBox="1"/>
          <p:nvPr/>
        </p:nvSpPr>
        <p:spPr>
          <a:xfrm>
            <a:off x="2821225" y="5188902"/>
            <a:ext cx="1191525" cy="24599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inactive (gated off)</a:t>
            </a:r>
          </a:p>
        </p:txBody>
      </p:sp>
      <p:sp>
        <p:nvSpPr>
          <p:cNvPr id="78" name="legendtitle" descr="Editable text; source id legendtitle"/>
          <p:cNvSpPr txBox="1"/>
          <p:nvPr/>
        </p:nvSpPr>
        <p:spPr>
          <a:xfrm>
            <a:off x="407424" y="5719323"/>
            <a:ext cx="922471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52"/>
              </a:lnSpc>
              <a:spcBef>
                <a:spcPts val="0"/>
              </a:spcBef>
              <a:spcAft>
                <a:spcPts val="0"/>
              </a:spcAft>
              <a:defRPr sz="1089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89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79" name="legendw" descr="Editable text; source id legendw"/>
          <p:cNvSpPr txBox="1"/>
          <p:nvPr/>
        </p:nvSpPr>
        <p:spPr>
          <a:xfrm>
            <a:off x="515046" y="6618733"/>
            <a:ext cx="299803" cy="20755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44"/>
              </a:lnSpc>
              <a:spcBef>
                <a:spcPts val="0"/>
              </a:spcBef>
              <a:spcAft>
                <a:spcPts val="0"/>
              </a:spcAft>
              <a:defRPr sz="907" b="1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907" b="1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80" name="legendplus" descr="Editable text; source id legendplus"/>
          <p:cNvSpPr txBox="1"/>
          <p:nvPr/>
        </p:nvSpPr>
        <p:spPr>
          <a:xfrm>
            <a:off x="576544" y="6880100"/>
            <a:ext cx="176807" cy="24599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defRPr sz="1150" b="1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150" b="1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1" name="legendtext1" descr="Editable text; source id legendtext1"/>
          <p:cNvSpPr txBox="1"/>
          <p:nvPr/>
        </p:nvSpPr>
        <p:spPr>
          <a:xfrm>
            <a:off x="1122340" y="5957629"/>
            <a:ext cx="1860317" cy="2229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Data path (token x)</a:t>
            </a:r>
          </a:p>
        </p:txBody>
      </p:sp>
      <p:sp>
        <p:nvSpPr>
          <p:cNvPr id="82" name="legendtext2" descr="Editable text; source id legendtext2"/>
          <p:cNvSpPr txBox="1"/>
          <p:nvPr/>
        </p:nvSpPr>
        <p:spPr>
          <a:xfrm>
            <a:off x="1122340" y="6172872"/>
            <a:ext cx="1860317" cy="2229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Executed branch (active)</a:t>
            </a:r>
          </a:p>
        </p:txBody>
      </p:sp>
      <p:sp>
        <p:nvSpPr>
          <p:cNvPr id="83" name="legendtext3" descr="Editable text; source id legendtext3"/>
          <p:cNvSpPr txBox="1"/>
          <p:nvPr/>
        </p:nvSpPr>
        <p:spPr>
          <a:xfrm>
            <a:off x="1122340" y="6388115"/>
            <a:ext cx="1860317" cy="2229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Gated-off branch (inactive)</a:t>
            </a:r>
          </a:p>
        </p:txBody>
      </p:sp>
      <p:sp>
        <p:nvSpPr>
          <p:cNvPr id="84" name="legendtext4" descr="Editable text; source id legendtext4"/>
          <p:cNvSpPr txBox="1"/>
          <p:nvPr/>
        </p:nvSpPr>
        <p:spPr>
          <a:xfrm>
            <a:off x="1122340" y="6618733"/>
            <a:ext cx="1860317" cy="2229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Gate weight (fixture constant)</a:t>
            </a:r>
          </a:p>
        </p:txBody>
      </p:sp>
      <p:sp>
        <p:nvSpPr>
          <p:cNvPr id="85" name="legendtext5" descr="Editable text; source id legendtext5"/>
          <p:cNvSpPr txBox="1"/>
          <p:nvPr/>
        </p:nvSpPr>
        <p:spPr>
          <a:xfrm>
            <a:off x="1122340" y="6903162"/>
            <a:ext cx="1860317" cy="2229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78"/>
              </a:lnSpc>
              <a:spcBef>
                <a:spcPts val="0"/>
              </a:spcBef>
              <a:spcAft>
                <a:spcPts val="0"/>
              </a:spcAft>
              <a:def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38" b="1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Additive merge</a:t>
            </a:r>
          </a:p>
        </p:txBody>
      </p:sp>
      <p:sp>
        <p:nvSpPr>
          <p:cNvPr id="86" name="merge_word" descr="Editable text; source id merge_word"/>
          <p:cNvSpPr txBox="1"/>
          <p:nvPr/>
        </p:nvSpPr>
        <p:spPr>
          <a:xfrm>
            <a:off x="9931944" y="2828912"/>
            <a:ext cx="776413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87" name="additive_word" descr="Editable text; source id additive_word"/>
          <p:cNvSpPr txBox="1"/>
          <p:nvPr/>
        </p:nvSpPr>
        <p:spPr>
          <a:xfrm>
            <a:off x="9931944" y="3028781"/>
            <a:ext cx="776413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defRPr>
            </a:pPr>
            <a:r>
              <a:rPr sz="1210" b="0" i="0" lang="zh-CN" dirty="0">
                <a:solidFill>
                  <a:srgbClr val="007570"/>
                </a:solidFill>
                <a:latin typeface="Arial"/>
                <a:ea typeface="Arial"/>
                <a:cs typeface="Arial"/>
              </a:rPr>
              <a:t>(additive)</a:t>
            </a:r>
          </a:p>
        </p:txBody>
      </p:sp>
      <p:sp>
        <p:nvSpPr>
          <p:cNvPr id="88" name="result_second" descr="Editable text; source id result_second"/>
          <p:cNvSpPr txBox="1"/>
          <p:nvPr/>
        </p:nvSpPr>
        <p:spPr>
          <a:xfrm>
            <a:off x="10892852" y="3466955"/>
            <a:ext cx="1091591" cy="238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1" b="0" i="0" lang="zh-CN" dirty="0">
                <a:solidFill>
                  <a:srgbClr val="101010"/>
                </a:solidFill>
                <a:latin typeface="Arial"/>
                <a:ea typeface="Arial"/>
                <a:cs typeface="Arial"/>
              </a:rPr>
              <a:t>+ 0.4 E3(x)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