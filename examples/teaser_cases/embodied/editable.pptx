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62576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is super_teaser-generated explanatory schematic, not an original paper figure. Exact photos, unsupported braces, joint glyph diagram and trajectory strokes remain raster. Text, primary boxes, arrows and convex encoder/decoder are editable. Source font identity unknown; Arial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bservation_photo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8" y="1552827"/>
            <a:ext cx="3620701" cy="4512423"/>
          </a:xfrm>
          <a:prstGeom prst="rect">
            <a:avLst/>
          </a:prstGeom>
          <a:effectLst/>
        </p:spPr>
      </p:pic>
      <p:pic>
        <p:nvPicPr>
          <p:cNvPr id="3" name="camera1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22" y="1929503"/>
            <a:ext cx="1214587" cy="776413"/>
          </a:xfrm>
          <a:prstGeom prst="rect">
            <a:avLst/>
          </a:prstGeom>
          <a:effectLst/>
        </p:spPr>
      </p:pic>
      <p:pic>
        <p:nvPicPr>
          <p:cNvPr id="4" name="camera2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122" y="2805851"/>
            <a:ext cx="1214587" cy="791788"/>
          </a:xfrm>
          <a:prstGeom prst="rect">
            <a:avLst/>
          </a:prstGeom>
          <a:effectLst/>
        </p:spPr>
      </p:pic>
      <p:pic>
        <p:nvPicPr>
          <p:cNvPr id="5" name="camera3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122" y="3966627"/>
            <a:ext cx="1214587" cy="707228"/>
          </a:xfrm>
          <a:prstGeom prst="rect">
            <a:avLst/>
          </a:prstGeom>
          <a:effectLst/>
        </p:spPr>
      </p:pic>
      <p:pic>
        <p:nvPicPr>
          <p:cNvPr id="6" name="approach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443" y="5250400"/>
            <a:ext cx="1783445" cy="1368332"/>
          </a:xfrm>
          <a:prstGeom prst="rect">
            <a:avLst/>
          </a:prstGeom>
          <a:effectLst/>
        </p:spPr>
      </p:pic>
      <p:pic>
        <p:nvPicPr>
          <p:cNvPr id="7" name="clos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564" y="5250400"/>
            <a:ext cx="1791132" cy="1368332"/>
          </a:xfrm>
          <a:prstGeom prst="rect">
            <a:avLst/>
          </a:prstGeom>
          <a:effectLst/>
        </p:spPr>
      </p:pic>
      <p:pic>
        <p:nvPicPr>
          <p:cNvPr id="8" name="lift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187" y="5250400"/>
            <a:ext cx="1829568" cy="1368332"/>
          </a:xfrm>
          <a:prstGeom prst="rect">
            <a:avLst/>
          </a:prstGeom>
          <a:effectLst/>
        </p:spPr>
      </p:pic>
      <p:pic>
        <p:nvPicPr>
          <p:cNvPr id="9" name="left_brac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8940" y="1414456"/>
            <a:ext cx="176807" cy="4443238"/>
          </a:xfrm>
          <a:prstGeom prst="rect">
            <a:avLst/>
          </a:prstGeom>
          <a:effectLst/>
        </p:spPr>
      </p:pic>
      <p:pic>
        <p:nvPicPr>
          <p:cNvPr id="10" name="right_brac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9520" y="1414456"/>
            <a:ext cx="192181" cy="4443238"/>
          </a:xfrm>
          <a:prstGeom prst="rect">
            <a:avLst/>
          </a:prstGeom>
          <a:effectLst/>
        </p:spPr>
      </p:pic>
      <p:pic>
        <p:nvPicPr>
          <p:cNvPr id="11" name="mode_brac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2917" y="1153089"/>
            <a:ext cx="222930" cy="2113997"/>
          </a:xfrm>
          <a:prstGeom prst="rect">
            <a:avLst/>
          </a:prstGeom>
          <a:effectLst/>
        </p:spPr>
      </p:pic>
      <p:pic>
        <p:nvPicPr>
          <p:cNvPr id="12" name="bottom_brac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1571" y="6918537"/>
            <a:ext cx="6211308" cy="261366"/>
          </a:xfrm>
          <a:prstGeom prst="rect">
            <a:avLst/>
          </a:prstGeom>
          <a:effectLst/>
        </p:spPr>
      </p:pic>
      <p:pic>
        <p:nvPicPr>
          <p:cNvPr id="13" name="robot_joints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4184" y="5196590"/>
            <a:ext cx="1137714" cy="153745"/>
          </a:xfrm>
          <a:prstGeom prst="rect">
            <a:avLst/>
          </a:prstGeom>
          <a:effectLst/>
        </p:spPr>
      </p:pic>
      <p:pic>
        <p:nvPicPr>
          <p:cNvPr id="14" name="camera_rule" descr="Exact region crop from user-provided super_teaser schematic; internal artwork remains r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35747" y="4735354"/>
            <a:ext cx="1245336" cy="169119"/>
          </a:xfrm>
          <a:prstGeom prst="rect">
            <a:avLst/>
          </a:prstGeom>
          <a:effectLst/>
        </p:spPr>
      </p:pic>
      <p:sp>
        <p:nvSpPr>
          <p:cNvPr id="15" name="title" descr="Editable text; source id title"/>
          <p:cNvSpPr txBox="1"/>
          <p:nvPr/>
        </p:nvSpPr>
        <p:spPr>
          <a:xfrm>
            <a:off x="169119" y="128761"/>
            <a:ext cx="3382395" cy="2536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3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37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pi0.5 | From a task to continuous action</a:t>
            </a:r>
          </a:p>
        </p:txBody>
      </p:sp>
      <p:sp>
        <p:nvSpPr>
          <p:cNvPr id="16" name="task" descr="Editable text; source id task"/>
          <p:cNvSpPr txBox="1"/>
          <p:nvPr/>
        </p:nvSpPr>
        <p:spPr>
          <a:xfrm>
            <a:off x="1268398" y="651495"/>
            <a:ext cx="1960252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43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Put away the dishes</a:t>
            </a:r>
          </a:p>
        </p:txBody>
      </p:sp>
      <p:sp>
        <p:nvSpPr>
          <p:cNvPr id="17" name="task_sub" descr="Editable text; source id task_sub"/>
          <p:cNvSpPr txBox="1"/>
          <p:nvPr/>
        </p:nvSpPr>
        <p:spPr>
          <a:xfrm>
            <a:off x="1798819" y="814849"/>
            <a:ext cx="576544" cy="2306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10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(Task)</a:t>
            </a:r>
          </a:p>
        </p:txBody>
      </p:sp>
      <p:sp>
        <p:nvSpPr>
          <p:cNvPr id="18" name="observation" descr="Editable text; source id observation"/>
          <p:cNvSpPr txBox="1"/>
          <p:nvPr/>
        </p:nvSpPr>
        <p:spPr>
          <a:xfrm>
            <a:off x="1522078" y="1299147"/>
            <a:ext cx="976282" cy="24599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0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31" b="0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rPr>
              <a:t>Observation</a:t>
            </a:r>
          </a:p>
        </p:txBody>
      </p:sp>
      <p:sp>
        <p:nvSpPr>
          <p:cNvPr id="19" name="obs_o" descr="Editable text; source id obs_o"/>
          <p:cNvSpPr txBox="1"/>
          <p:nvPr/>
        </p:nvSpPr>
        <p:spPr>
          <a:xfrm>
            <a:off x="2475298" y="1276085"/>
            <a:ext cx="130683" cy="24599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1" i="1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31" b="1" i="1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rPr>
              <a:t>o</a:t>
            </a:r>
          </a:p>
        </p:txBody>
      </p:sp>
      <p:sp>
        <p:nvSpPr>
          <p:cNvPr id="20" name="obs_t" descr="Editable text; source id obs_t"/>
          <p:cNvSpPr txBox="1"/>
          <p:nvPr/>
        </p:nvSpPr>
        <p:spPr>
          <a:xfrm>
            <a:off x="2575233" y="1391394"/>
            <a:ext cx="92247" cy="1383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6" b="1" i="1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86" b="1" i="1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rPr>
              <a:t>t</a:t>
            </a:r>
          </a:p>
        </p:txBody>
      </p:sp>
      <p:sp>
        <p:nvSpPr>
          <p:cNvPr id="21" name="images_header" descr="Editable text; source id images_header"/>
          <p:cNvSpPr txBox="1"/>
          <p:nvPr/>
        </p:nvSpPr>
        <p:spPr>
          <a:xfrm>
            <a:off x="4312554" y="1153089"/>
            <a:ext cx="876348" cy="4074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1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1" b="1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rPr>
              <a:t>Images +</a:t>
            </a:r>
          </a:p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1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1" b="1" i="0" lang="zh-CN" dirty="0">
                <a:solidFill>
                  <a:srgbClr val="006B51"/>
                </a:solidFill>
                <a:latin typeface="Liberation Sans"/>
                <a:ea typeface="Liberation Sans"/>
                <a:cs typeface="Liberation Sans"/>
              </a:rPr>
              <a:t>robot state</a:t>
            </a:r>
          </a:p>
        </p:txBody>
      </p:sp>
      <p:sp>
        <p:nvSpPr>
          <p:cNvPr id="22" name="camera_label" descr="Editable text; source id camera_label"/>
          <p:cNvSpPr txBox="1"/>
          <p:nvPr/>
        </p:nvSpPr>
        <p:spPr>
          <a:xfrm>
            <a:off x="4350991" y="1666214"/>
            <a:ext cx="976282" cy="2152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defRPr sz="1150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150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Camera views</a:t>
            </a:r>
          </a:p>
        </p:txBody>
      </p:sp>
      <p:sp>
        <p:nvSpPr>
          <p:cNvPr id="23" name="camera_ellipsis" descr="Editable text; source id camera_ellipsis"/>
          <p:cNvSpPr txBox="1"/>
          <p:nvPr/>
        </p:nvSpPr>
        <p:spPr>
          <a:xfrm>
            <a:off x="4673856" y="3643762"/>
            <a:ext cx="261366" cy="2306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92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...</a:t>
            </a:r>
          </a:p>
        </p:txBody>
      </p:sp>
      <p:sp>
        <p:nvSpPr>
          <p:cNvPr id="24" name="robot_label" descr="Editable text; source id robot_label"/>
          <p:cNvSpPr txBox="1"/>
          <p:nvPr/>
        </p:nvSpPr>
        <p:spPr>
          <a:xfrm>
            <a:off x="4404801" y="4956363"/>
            <a:ext cx="937846" cy="2152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5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Robot state</a:t>
            </a:r>
          </a:p>
        </p:txBody>
      </p:sp>
      <p:sp>
        <p:nvSpPr>
          <p:cNvPr id="25" name="q" descr="Editable text; source id q"/>
          <p:cNvSpPr txBox="1"/>
          <p:nvPr/>
        </p:nvSpPr>
        <p:spPr>
          <a:xfrm>
            <a:off x="4689230" y="5350335"/>
            <a:ext cx="138370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q</a:t>
            </a:r>
          </a:p>
        </p:txBody>
      </p:sp>
      <p:sp>
        <p:nvSpPr>
          <p:cNvPr id="26" name="q_sub" descr="Editable text; source id q_sub"/>
          <p:cNvSpPr txBox="1"/>
          <p:nvPr/>
        </p:nvSpPr>
        <p:spPr>
          <a:xfrm>
            <a:off x="4789165" y="5465644"/>
            <a:ext cx="76872" cy="13068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defRPr sz="726" b="0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26" b="0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</a:t>
            </a:r>
          </a:p>
        </p:txBody>
      </p:sp>
      <p:sp>
        <p:nvSpPr>
          <p:cNvPr id="27" name="joint_label" descr="Editable text; source id joint_label"/>
          <p:cNvSpPr txBox="1"/>
          <p:nvPr/>
        </p:nvSpPr>
        <p:spPr>
          <a:xfrm>
            <a:off x="4358678" y="5573265"/>
            <a:ext cx="1076216" cy="2152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3"/>
              </a:lnSpc>
              <a:spcBef>
                <a:spcPts val="0"/>
              </a:spcBef>
              <a:spcAft>
                <a:spcPts val="0"/>
              </a:spcAft>
              <a:defRPr sz="102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2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(joint positions)</a:t>
            </a:r>
          </a:p>
        </p:txBody>
      </p:sp>
      <p:sp>
        <p:nvSpPr>
          <p:cNvPr id="28" name="tokens_header" descr="Editable text; source id tokens_header"/>
          <p:cNvSpPr txBox="1"/>
          <p:nvPr/>
        </p:nvSpPr>
        <p:spPr>
          <a:xfrm>
            <a:off x="6572610" y="374754"/>
            <a:ext cx="1998688" cy="2306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55" b="0" i="0" lang="zh-CN" dirty="0">
                <a:solidFill>
                  <a:srgbClr val="FF170D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255" b="0" i="0" lang="zh-CN" dirty="0">
                <a:solidFill>
                  <a:srgbClr val="FF170D"/>
                </a:solidFill>
                <a:latin typeface="Liberation Sans Narrow"/>
                <a:ea typeface="Liberation Sans Narrow"/>
                <a:cs typeface="Liberation Sans Narrow"/>
              </a:rPr>
              <a:t>Task (language tokens)</a:t>
            </a:r>
          </a:p>
        </p:txBody>
      </p:sp>
      <p:sp>
        <p:nvSpPr>
          <p:cNvPr id="29" name="token0" descr="Editable shape; source id token0"/>
          <p:cNvSpPr/>
          <p:nvPr/>
        </p:nvSpPr>
        <p:spPr>
          <a:xfrm>
            <a:off x="6518799" y="591919"/>
            <a:ext cx="384363" cy="284428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oken_text0" descr="Editable text; source id token_text0"/>
          <p:cNvSpPr txBox="1"/>
          <p:nvPr/>
        </p:nvSpPr>
        <p:spPr>
          <a:xfrm>
            <a:off x="6634108" y="678400"/>
            <a:ext cx="322865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3"/>
              </a:lnSpc>
              <a:spcBef>
                <a:spcPts val="0"/>
              </a:spcBef>
              <a:spcAft>
                <a:spcPts val="0"/>
              </a:spcAft>
              <a:defRPr sz="1029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029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Put</a:t>
            </a:r>
          </a:p>
        </p:txBody>
      </p:sp>
      <p:sp>
        <p:nvSpPr>
          <p:cNvPr id="31" name="token1" descr="Editable shape; source id token1"/>
          <p:cNvSpPr/>
          <p:nvPr/>
        </p:nvSpPr>
        <p:spPr>
          <a:xfrm>
            <a:off x="6903162" y="591919"/>
            <a:ext cx="522733" cy="284428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ken_text1" descr="Editable text; source id token_text1"/>
          <p:cNvSpPr txBox="1"/>
          <p:nvPr/>
        </p:nvSpPr>
        <p:spPr>
          <a:xfrm>
            <a:off x="6933911" y="661104"/>
            <a:ext cx="461235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13"/>
              </a:lnSpc>
              <a:spcBef>
                <a:spcPts val="0"/>
              </a:spcBef>
              <a:spcAft>
                <a:spcPts val="0"/>
              </a:spcAft>
              <a:def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away</a:t>
            </a:r>
          </a:p>
        </p:txBody>
      </p:sp>
      <p:sp>
        <p:nvSpPr>
          <p:cNvPr id="33" name="token2" descr="Editable shape; source id token2"/>
          <p:cNvSpPr/>
          <p:nvPr/>
        </p:nvSpPr>
        <p:spPr>
          <a:xfrm>
            <a:off x="7425896" y="591919"/>
            <a:ext cx="368988" cy="284428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oken_text2" descr="Editable text; source id token_text2"/>
          <p:cNvSpPr txBox="1"/>
          <p:nvPr/>
        </p:nvSpPr>
        <p:spPr>
          <a:xfrm>
            <a:off x="7456645" y="661104"/>
            <a:ext cx="307490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13"/>
              </a:lnSpc>
              <a:spcBef>
                <a:spcPts val="0"/>
              </a:spcBef>
              <a:spcAft>
                <a:spcPts val="0"/>
              </a:spcAft>
              <a:def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the</a:t>
            </a:r>
          </a:p>
        </p:txBody>
      </p:sp>
      <p:sp>
        <p:nvSpPr>
          <p:cNvPr id="35" name="token3" descr="Editable shape; source id token3"/>
          <p:cNvSpPr/>
          <p:nvPr/>
        </p:nvSpPr>
        <p:spPr>
          <a:xfrm>
            <a:off x="7794885" y="591919"/>
            <a:ext cx="607293" cy="284428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oken_text3" descr="Editable text; source id token_text3"/>
          <p:cNvSpPr txBox="1"/>
          <p:nvPr/>
        </p:nvSpPr>
        <p:spPr>
          <a:xfrm>
            <a:off x="7933255" y="682244"/>
            <a:ext cx="545795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31"/>
              </a:lnSpc>
              <a:spcBef>
                <a:spcPts val="0"/>
              </a:spcBef>
              <a:spcAft>
                <a:spcPts val="0"/>
              </a:spcAft>
              <a:defRPr sz="983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983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dishes</a:t>
            </a:r>
          </a:p>
        </p:txBody>
      </p:sp>
      <p:sp>
        <p:nvSpPr>
          <p:cNvPr id="37" name="token4" descr="Editable shape; source id token4"/>
          <p:cNvSpPr/>
          <p:nvPr/>
        </p:nvSpPr>
        <p:spPr>
          <a:xfrm>
            <a:off x="8402178" y="591919"/>
            <a:ext cx="622668" cy="284428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oken_text4" descr="Editable text; source id token_text4"/>
          <p:cNvSpPr txBox="1"/>
          <p:nvPr/>
        </p:nvSpPr>
        <p:spPr>
          <a:xfrm>
            <a:off x="8432927" y="661104"/>
            <a:ext cx="561170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13"/>
              </a:lnSpc>
              <a:spcBef>
                <a:spcPts val="0"/>
              </a:spcBef>
              <a:spcAft>
                <a:spcPts val="0"/>
              </a:spcAft>
              <a:def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68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&lt;eos&gt;</a:t>
            </a:r>
          </a:p>
        </p:txBody>
      </p:sp>
      <p:sp>
        <p:nvSpPr>
          <p:cNvPr id="39" name="tokens_ellipsis" descr="Editable text; source id tokens_ellipsis"/>
          <p:cNvSpPr txBox="1"/>
          <p:nvPr/>
        </p:nvSpPr>
        <p:spPr>
          <a:xfrm>
            <a:off x="9094032" y="591919"/>
            <a:ext cx="269054" cy="2152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92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...</a:t>
            </a:r>
          </a:p>
        </p:txBody>
      </p:sp>
      <p:sp>
        <p:nvSpPr>
          <p:cNvPr id="40" name="prediction_box" descr="Editable shape; source id prediction_box"/>
          <p:cNvSpPr/>
          <p:nvPr/>
        </p:nvSpPr>
        <p:spPr>
          <a:xfrm>
            <a:off x="6518799" y="1222274"/>
            <a:ext cx="2221619" cy="822537"/>
          </a:xfrm>
          <a:prstGeom prst="roundRect">
            <a:avLst>
              <a:gd name="adj" fmla="val 6542"/>
            </a:avLst>
          </a:prstGeom>
          <a:solidFill>
            <a:srgbClr val="FFF2ED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rediction" descr="Editable text; source id prediction"/>
          <p:cNvSpPr txBox="1"/>
          <p:nvPr/>
        </p:nvSpPr>
        <p:spPr>
          <a:xfrm>
            <a:off x="6772479" y="1558592"/>
            <a:ext cx="1983313" cy="2767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437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VLA: subtask prediction</a:t>
            </a:r>
          </a:p>
        </p:txBody>
      </p:sp>
      <p:sp>
        <p:nvSpPr>
          <p:cNvPr id="42" name="task_down" descr="Editable line; source id task_down"/>
          <p:cNvSpPr/>
          <p:nvPr/>
        </p:nvSpPr>
        <p:spPr>
          <a:xfrm>
            <a:off x="7595016" y="922472"/>
            <a:ext cx="76873" cy="253680"/>
          </a:xfrm>
          <a:custGeom>
            <a:avLst/>
            <a:gdLst/>
            <a:ahLst/>
            <a:cxnLst/>
            <a:rect l="l" t="t" r="r" b="b"/>
            <a:pathLst>
              <a:path w="10000" h="33000">
                <a:moveTo>
                  <a:pt x="6000" y="0"/>
                </a:moveTo>
                <a:lnTo>
                  <a:pt x="6000" y="22000"/>
                </a:lnTo>
                <a:lnTo>
                  <a:pt x="10000" y="22000"/>
                </a:lnTo>
                <a:lnTo>
                  <a:pt x="5000" y="33000"/>
                </a:lnTo>
                <a:lnTo>
                  <a:pt x="0" y="22000"/>
                </a:lnTo>
                <a:lnTo>
                  <a:pt x="4000" y="22000"/>
                </a:lnTo>
                <a:lnTo>
                  <a:pt x="400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amera_to_prediction1" descr="Editable line; source id camera_to_prediction1"/>
          <p:cNvCxnSpPr/>
          <p:nvPr/>
        </p:nvCxnSpPr>
        <p:spPr>
          <a:xfrm>
            <a:off x="5557891" y="2290804"/>
            <a:ext cx="307490" cy="0"/>
          </a:xfrm>
          <a:prstGeom prst="line">
            <a:avLst/>
          </a:prstGeom>
          <a:ln w="1537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amera_to_prediction2" descr="Editable line; source id camera_to_prediction2"/>
          <p:cNvCxnSpPr/>
          <p:nvPr/>
        </p:nvCxnSpPr>
        <p:spPr>
          <a:xfrm flipV="1">
            <a:off x="5865381" y="1691197"/>
            <a:ext cx="0" cy="599607"/>
          </a:xfrm>
          <a:prstGeom prst="line">
            <a:avLst/>
          </a:prstGeom>
          <a:ln w="1537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mera_to_prediction3" descr="Editable line; source id camera_to_prediction3"/>
          <p:cNvSpPr/>
          <p:nvPr/>
        </p:nvSpPr>
        <p:spPr>
          <a:xfrm>
            <a:off x="5865382" y="1652762"/>
            <a:ext cx="622668" cy="76873"/>
          </a:xfrm>
          <a:custGeom>
            <a:avLst/>
            <a:gdLst/>
            <a:ahLst/>
            <a:cxnLst/>
            <a:rect l="l" t="t" r="r" b="b"/>
            <a:pathLst>
              <a:path w="81000" h="10000">
                <a:moveTo>
                  <a:pt x="0" y="4000"/>
                </a:moveTo>
                <a:lnTo>
                  <a:pt x="70000" y="4000"/>
                </a:lnTo>
                <a:lnTo>
                  <a:pt x="70000" y="0"/>
                </a:lnTo>
                <a:lnTo>
                  <a:pt x="81000" y="5000"/>
                </a:lnTo>
                <a:lnTo>
                  <a:pt x="70000" y="10000"/>
                </a:lnTo>
                <a:lnTo>
                  <a:pt x="70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rediction_out" descr="Editable line; source id prediction_out"/>
          <p:cNvSpPr/>
          <p:nvPr/>
        </p:nvSpPr>
        <p:spPr>
          <a:xfrm>
            <a:off x="8794229" y="1652762"/>
            <a:ext cx="284429" cy="76873"/>
          </a:xfrm>
          <a:custGeom>
            <a:avLst/>
            <a:gdLst/>
            <a:ahLst/>
            <a:cxnLst/>
            <a:rect l="l" t="t" r="r" b="b"/>
            <a:pathLst>
              <a:path w="37000" h="10000">
                <a:moveTo>
                  <a:pt x="0" y="4000"/>
                </a:moveTo>
                <a:lnTo>
                  <a:pt x="26000" y="4000"/>
                </a:lnTo>
                <a:lnTo>
                  <a:pt x="26000" y="0"/>
                </a:lnTo>
                <a:lnTo>
                  <a:pt x="37000" y="5000"/>
                </a:lnTo>
                <a:lnTo>
                  <a:pt x="26000" y="10000"/>
                </a:lnTo>
                <a:lnTo>
                  <a:pt x="26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edicted_label" descr="Editable text; source id predicted_label"/>
          <p:cNvSpPr txBox="1"/>
          <p:nvPr/>
        </p:nvSpPr>
        <p:spPr>
          <a:xfrm>
            <a:off x="9286214" y="1366411"/>
            <a:ext cx="1299147" cy="22293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1195" b="1" i="0" lang="zh-CN" dirty="0">
                <a:solidFill>
                  <a:srgbClr val="FF170D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195" b="1" i="0" lang="zh-CN" dirty="0">
                <a:solidFill>
                  <a:srgbClr val="FF170D"/>
                </a:solidFill>
                <a:latin typeface="Liberation Sans Narrow"/>
                <a:ea typeface="Liberation Sans Narrow"/>
                <a:cs typeface="Liberation Sans Narrow"/>
              </a:rPr>
              <a:t>Predicted subtask</a:t>
            </a:r>
          </a:p>
        </p:txBody>
      </p:sp>
      <p:sp>
        <p:nvSpPr>
          <p:cNvPr id="48" name="predicted_box" descr="Editable shape; source id predicted_box"/>
          <p:cNvSpPr/>
          <p:nvPr/>
        </p:nvSpPr>
        <p:spPr>
          <a:xfrm>
            <a:off x="9132468" y="1560514"/>
            <a:ext cx="1399081" cy="307490"/>
          </a:xfrm>
          <a:prstGeom prst="rect">
            <a:avLst/>
          </a:prstGeom>
          <a:solidFill>
            <a:srgbClr val="FFF6F3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redicted_text" descr="Editable text; source id predicted_text"/>
          <p:cNvSpPr txBox="1"/>
          <p:nvPr/>
        </p:nvSpPr>
        <p:spPr>
          <a:xfrm>
            <a:off x="9286214" y="1641230"/>
            <a:ext cx="1206900" cy="2306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39"/>
              </a:lnSpc>
              <a:spcBef>
                <a:spcPts val="0"/>
              </a:spcBef>
              <a:spcAft>
                <a:spcPts val="0"/>
              </a:spcAft>
              <a:defRPr sz="1165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65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Pick up the plate</a:t>
            </a:r>
          </a:p>
        </p:txBody>
      </p:sp>
      <p:sp>
        <p:nvSpPr>
          <p:cNvPr id="50" name="modes" descr="Editable text; source id modes"/>
          <p:cNvSpPr txBox="1"/>
          <p:nvPr/>
        </p:nvSpPr>
        <p:spPr>
          <a:xfrm>
            <a:off x="11000473" y="2029437"/>
            <a:ext cx="1053155" cy="5534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2"/>
              </a:lnSpc>
              <a:spcBef>
                <a:spcPts val="0"/>
              </a:spcBef>
              <a:spcAft>
                <a:spcPts val="0"/>
              </a:spcAft>
              <a:def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Same trained</a:t>
            </a:r>
          </a:p>
          <a:p>
            <a:pPr algn="ctr" fontAlgn="base">
              <a:lnSpc>
                <a:spcPts val="1252"/>
              </a:lnSpc>
              <a:spcBef>
                <a:spcPts val="0"/>
              </a:spcBef>
              <a:spcAft>
                <a:spcPts val="0"/>
              </a:spcAft>
              <a:def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model, two</a:t>
            </a:r>
          </a:p>
          <a:p>
            <a:pPr algn="ctr" fontAlgn="base">
              <a:lnSpc>
                <a:spcPts val="1252"/>
              </a:lnSpc>
              <a:spcBef>
                <a:spcPts val="0"/>
              </a:spcBef>
              <a:spcAft>
                <a:spcPts val="0"/>
              </a:spcAft>
              <a:def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9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inference modes</a:t>
            </a:r>
          </a:p>
        </p:txBody>
      </p:sp>
      <p:sp>
        <p:nvSpPr>
          <p:cNvPr id="51" name="expert_box" descr="Editable shape; source id expert_box"/>
          <p:cNvSpPr/>
          <p:nvPr/>
        </p:nvSpPr>
        <p:spPr>
          <a:xfrm>
            <a:off x="6042189" y="2821225"/>
            <a:ext cx="4604670" cy="2244680"/>
          </a:xfrm>
          <a:prstGeom prst="roundRect">
            <a:avLst>
              <a:gd name="adj" fmla="val 3082"/>
            </a:avLst>
          </a:prstGeom>
          <a:noFill/>
          <a:ln w="11530">
            <a:solidFill>
              <a:srgbClr val="087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xpert" descr="Editable text; source id expert"/>
          <p:cNvSpPr txBox="1"/>
          <p:nvPr/>
        </p:nvSpPr>
        <p:spPr>
          <a:xfrm>
            <a:off x="7556579" y="2949987"/>
            <a:ext cx="1967939" cy="2767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2"/>
              </a:lnSpc>
              <a:spcBef>
                <a:spcPts val="0"/>
              </a:spcBef>
              <a:spcAft>
                <a:spcPts val="0"/>
              </a:spcAft>
              <a:defRPr sz="1498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498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VLA + action expert</a:t>
            </a:r>
          </a:p>
        </p:txBody>
      </p:sp>
      <p:sp>
        <p:nvSpPr>
          <p:cNvPr id="53" name="context" descr="Editable text; source id context"/>
          <p:cNvSpPr txBox="1"/>
          <p:nvPr/>
        </p:nvSpPr>
        <p:spPr>
          <a:xfrm>
            <a:off x="6265119" y="3086436"/>
            <a:ext cx="614981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65"/>
              </a:lnSpc>
              <a:spcBef>
                <a:spcPts val="0"/>
              </a:spcBef>
              <a:spcAft>
                <a:spcPts val="0"/>
              </a:spcAft>
              <a:defRPr sz="1013" b="0" i="0" lang="zh-CN" dirty="0">
                <a:solidFill>
                  <a:srgbClr val="006B5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013" b="0" i="0" lang="zh-CN" dirty="0">
                <a:solidFill>
                  <a:srgbClr val="006B51"/>
                </a:solidFill>
                <a:latin typeface="Liberation Sans Narrow"/>
                <a:ea typeface="Liberation Sans Narrow"/>
                <a:cs typeface="Liberation Sans Narrow"/>
              </a:rPr>
              <a:t>Context</a:t>
            </a:r>
          </a:p>
        </p:txBody>
      </p:sp>
      <p:sp>
        <p:nvSpPr>
          <p:cNvPr id="54" name="images_box" descr="Editable shape; source id images_box"/>
          <p:cNvSpPr/>
          <p:nvPr/>
        </p:nvSpPr>
        <p:spPr>
          <a:xfrm>
            <a:off x="6134436" y="3274774"/>
            <a:ext cx="745664" cy="330552"/>
          </a:xfrm>
          <a:prstGeom prst="rect">
            <a:avLst/>
          </a:prstGeom>
          <a:solidFill>
            <a:srgbClr val="F5F8F1"/>
          </a:solidFill>
          <a:ln w="11530">
            <a:solidFill>
              <a:srgbClr val="087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mages_box_text" descr="Editable text; source id images_box_text"/>
          <p:cNvSpPr txBox="1"/>
          <p:nvPr/>
        </p:nvSpPr>
        <p:spPr>
          <a:xfrm>
            <a:off x="6165185" y="3351646"/>
            <a:ext cx="684166" cy="2075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74"/>
              </a:lnSpc>
              <a:spcBef>
                <a:spcPts val="0"/>
              </a:spcBef>
              <a:spcAft>
                <a:spcPts val="0"/>
              </a:spcAft>
              <a:defRPr sz="90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Images (o</a:t>
            </a:r>
            <a:r>
              <a:rPr sz="907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ₜ</a:t>
            </a:r>
            <a:r>
              <a:rPr sz="90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)</a:t>
            </a:r>
          </a:p>
        </p:txBody>
      </p:sp>
      <p:sp>
        <p:nvSpPr>
          <p:cNvPr id="56" name="state_box" descr="Editable shape; source id state_box"/>
          <p:cNvSpPr/>
          <p:nvPr/>
        </p:nvSpPr>
        <p:spPr>
          <a:xfrm>
            <a:off x="6095999" y="3720635"/>
            <a:ext cx="822537" cy="330552"/>
          </a:xfrm>
          <a:prstGeom prst="rect">
            <a:avLst/>
          </a:prstGeom>
          <a:solidFill>
            <a:srgbClr val="F5F8F1"/>
          </a:solidFill>
          <a:ln w="11530">
            <a:solidFill>
              <a:srgbClr val="087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tate_box_text" descr="Editable text; source id state_box_text"/>
          <p:cNvSpPr txBox="1"/>
          <p:nvPr/>
        </p:nvSpPr>
        <p:spPr>
          <a:xfrm>
            <a:off x="6126748" y="3797508"/>
            <a:ext cx="761039" cy="2075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98"/>
              </a:lnSpc>
              <a:spcBef>
                <a:spcPts val="0"/>
              </a:spcBef>
              <a:spcAft>
                <a:spcPts val="0"/>
              </a:spcAft>
              <a:def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Robot state (q</a:t>
            </a:r>
            <a:r>
              <a:rPr sz="847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ₜ</a:t>
            </a:r>
            <a:r>
              <a: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)</a:t>
            </a:r>
          </a:p>
        </p:txBody>
      </p:sp>
      <p:sp>
        <p:nvSpPr>
          <p:cNvPr id="58" name="subtask_box" descr="Editable shape; source id subtask_box"/>
          <p:cNvSpPr/>
          <p:nvPr/>
        </p:nvSpPr>
        <p:spPr>
          <a:xfrm>
            <a:off x="6095999" y="4189558"/>
            <a:ext cx="837911" cy="415112"/>
          </a:xfrm>
          <a:prstGeom prst="rect">
            <a:avLst/>
          </a:prstGeom>
          <a:solidFill>
            <a:srgbClr val="F5F8F1"/>
          </a:solidFill>
          <a:ln w="11530">
            <a:solidFill>
              <a:srgbClr val="FF17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ubtask_line1" descr="Editable text; source id subtask_line1"/>
          <p:cNvSpPr txBox="1"/>
          <p:nvPr/>
        </p:nvSpPr>
        <p:spPr>
          <a:xfrm>
            <a:off x="6134436" y="4227994"/>
            <a:ext cx="784100" cy="1383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70"/>
              </a:lnSpc>
              <a:spcBef>
                <a:spcPts val="0"/>
              </a:spcBef>
              <a:spcAft>
                <a:spcPts val="0"/>
              </a:spcAft>
              <a:defRPr sz="756" b="0" i="0" lang="zh-CN" dirty="0">
                <a:solidFill>
                  <a:srgbClr val="FF170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6" b="0" i="0" lang="zh-CN" dirty="0">
                <a:solidFill>
                  <a:srgbClr val="FF170D"/>
                </a:solidFill>
                <a:latin typeface="Liberation Sans"/>
                <a:ea typeface="Liberation Sans"/>
                <a:cs typeface="Liberation Sans"/>
              </a:rPr>
              <a:t>Predicted subtask</a:t>
            </a:r>
          </a:p>
        </p:txBody>
      </p:sp>
      <p:sp>
        <p:nvSpPr>
          <p:cNvPr id="60" name="subtask_line2" descr="Editable text; source id subtask_line2"/>
          <p:cNvSpPr txBox="1"/>
          <p:nvPr/>
        </p:nvSpPr>
        <p:spPr>
          <a:xfrm>
            <a:off x="6134436" y="4366365"/>
            <a:ext cx="784100" cy="1383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70"/>
              </a:lnSpc>
              <a:spcBef>
                <a:spcPts val="0"/>
              </a:spcBef>
              <a:spcAft>
                <a:spcPts val="0"/>
              </a:spcAft>
              <a:defRPr sz="756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6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(Pick up the plate)</a:t>
            </a:r>
          </a:p>
        </p:txBody>
      </p:sp>
      <p:sp>
        <p:nvSpPr>
          <p:cNvPr id="61" name="encoder" descr="Editable shape; source id encoder"/>
          <p:cNvSpPr/>
          <p:nvPr/>
        </p:nvSpPr>
        <p:spPr>
          <a:xfrm>
            <a:off x="7179904" y="3343960"/>
            <a:ext cx="184494" cy="1068530"/>
          </a:xfrm>
          <a:custGeom>
            <a:avLst/>
            <a:gdLst/>
            <a:ahLst/>
            <a:cxnLst/>
            <a:rect l="l" t="t" r="r" b="b"/>
            <a:pathLst>
              <a:path w="24000" h="139000">
                <a:moveTo>
                  <a:pt x="0" y="0"/>
                </a:moveTo>
                <a:lnTo>
                  <a:pt x="24000" y="16680"/>
                </a:lnTo>
                <a:lnTo>
                  <a:pt x="24000" y="122320"/>
                </a:lnTo>
                <a:lnTo>
                  <a:pt x="0" y="139000"/>
                </a:lnTo>
                <a:close/>
              </a:path>
            </a:pathLst>
          </a:custGeom>
          <a:solidFill>
            <a:srgbClr val="D8E8C2"/>
          </a:solidFill>
          <a:ln w="11530">
            <a:solidFill>
              <a:srgbClr val="08742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ontext_arrow0" descr="Editable line; source id context_arrow0"/>
          <p:cNvSpPr/>
          <p:nvPr/>
        </p:nvSpPr>
        <p:spPr>
          <a:xfrm>
            <a:off x="6933912" y="3413145"/>
            <a:ext cx="146058" cy="76873"/>
          </a:xfrm>
          <a:custGeom>
            <a:avLst/>
            <a:gdLst/>
            <a:ahLst/>
            <a:cxnLst/>
            <a:rect l="l" t="t" r="r" b="b"/>
            <a:pathLst>
              <a:path w="19000" h="10000">
                <a:moveTo>
                  <a:pt x="0" y="4000"/>
                </a:moveTo>
                <a:lnTo>
                  <a:pt x="8000" y="4000"/>
                </a:lnTo>
                <a:lnTo>
                  <a:pt x="8000" y="0"/>
                </a:lnTo>
                <a:lnTo>
                  <a:pt x="19000" y="5000"/>
                </a:lnTo>
                <a:lnTo>
                  <a:pt x="8000" y="10000"/>
                </a:lnTo>
                <a:lnTo>
                  <a:pt x="8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ontext_arrow1" descr="Editable line; source id context_arrow1"/>
          <p:cNvSpPr/>
          <p:nvPr/>
        </p:nvSpPr>
        <p:spPr>
          <a:xfrm>
            <a:off x="6933912" y="3851319"/>
            <a:ext cx="146058" cy="76873"/>
          </a:xfrm>
          <a:custGeom>
            <a:avLst/>
            <a:gdLst/>
            <a:ahLst/>
            <a:cxnLst/>
            <a:rect l="l" t="t" r="r" b="b"/>
            <a:pathLst>
              <a:path w="19000" h="10000">
                <a:moveTo>
                  <a:pt x="0" y="4000"/>
                </a:moveTo>
                <a:lnTo>
                  <a:pt x="8000" y="4000"/>
                </a:lnTo>
                <a:lnTo>
                  <a:pt x="8000" y="0"/>
                </a:lnTo>
                <a:lnTo>
                  <a:pt x="19000" y="5000"/>
                </a:lnTo>
                <a:lnTo>
                  <a:pt x="8000" y="10000"/>
                </a:lnTo>
                <a:lnTo>
                  <a:pt x="8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ontext_arrow2" descr="Editable line; source id context_arrow2"/>
          <p:cNvSpPr/>
          <p:nvPr/>
        </p:nvSpPr>
        <p:spPr>
          <a:xfrm>
            <a:off x="6933912" y="4304867"/>
            <a:ext cx="146058" cy="76873"/>
          </a:xfrm>
          <a:custGeom>
            <a:avLst/>
            <a:gdLst/>
            <a:ahLst/>
            <a:cxnLst/>
            <a:rect l="l" t="t" r="r" b="b"/>
            <a:pathLst>
              <a:path w="19000" h="10000">
                <a:moveTo>
                  <a:pt x="0" y="4000"/>
                </a:moveTo>
                <a:lnTo>
                  <a:pt x="8000" y="4000"/>
                </a:lnTo>
                <a:lnTo>
                  <a:pt x="8000" y="0"/>
                </a:lnTo>
                <a:lnTo>
                  <a:pt x="19000" y="5000"/>
                </a:lnTo>
                <a:lnTo>
                  <a:pt x="8000" y="10000"/>
                </a:lnTo>
                <a:lnTo>
                  <a:pt x="8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low_box" descr="Editable shape; source id flow_box"/>
          <p:cNvSpPr/>
          <p:nvPr/>
        </p:nvSpPr>
        <p:spPr>
          <a:xfrm>
            <a:off x="7425896" y="3220963"/>
            <a:ext cx="1998688" cy="1314522"/>
          </a:xfrm>
          <a:prstGeom prst="rect">
            <a:avLst/>
          </a:prstGeom>
          <a:noFill/>
          <a:ln w="115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low_title" descr="Editable text; source id flow_title"/>
          <p:cNvSpPr txBox="1"/>
          <p:nvPr/>
        </p:nvSpPr>
        <p:spPr>
          <a:xfrm>
            <a:off x="8079313" y="3311288"/>
            <a:ext cx="922471" cy="1921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13"/>
              </a:lnSpc>
              <a:spcBef>
                <a:spcPts val="0"/>
              </a:spcBef>
              <a:spcAft>
                <a:spcPts val="0"/>
              </a:spcAft>
              <a:defRPr sz="968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968" b="1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Flow matching</a:t>
            </a:r>
          </a:p>
        </p:txBody>
      </p:sp>
      <p:sp>
        <p:nvSpPr>
          <p:cNvPr id="67" name="flow_noise" descr="Editable text; source id flow_noise"/>
          <p:cNvSpPr txBox="1"/>
          <p:nvPr/>
        </p:nvSpPr>
        <p:spPr>
          <a:xfrm>
            <a:off x="7548892" y="3490017"/>
            <a:ext cx="461235" cy="1921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74"/>
              </a:lnSpc>
              <a:spcBef>
                <a:spcPts val="0"/>
              </a:spcBef>
              <a:spcAft>
                <a:spcPts val="0"/>
              </a:spcAft>
              <a:def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Noise</a:t>
            </a:r>
          </a:p>
        </p:txBody>
      </p:sp>
      <p:sp>
        <p:nvSpPr>
          <p:cNvPr id="68" name="trajectories" descr="Editable text; source id trajectories"/>
          <p:cNvSpPr txBox="1"/>
          <p:nvPr/>
        </p:nvSpPr>
        <p:spPr>
          <a:xfrm>
            <a:off x="8809603" y="3382395"/>
            <a:ext cx="607293" cy="307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74"/>
              </a:lnSpc>
              <a:spcBef>
                <a:spcPts val="0"/>
              </a:spcBef>
              <a:spcAft>
                <a:spcPts val="0"/>
              </a:spcAft>
              <a:def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Action</a:t>
            </a:r>
          </a:p>
          <a:p>
            <a:pPr algn="ctr" fontAlgn="base">
              <a:lnSpc>
                <a:spcPts val="974"/>
              </a:lnSpc>
              <a:spcBef>
                <a:spcPts val="0"/>
              </a:spcBef>
              <a:spcAft>
                <a:spcPts val="0"/>
              </a:spcAft>
              <a:def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47" b="0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trajectories</a:t>
            </a:r>
          </a:p>
        </p:txBody>
      </p:sp>
      <p:pic>
        <p:nvPicPr>
          <p:cNvPr id="69" name="flow_trajectories" descr="Exact source crop of complex trajectories, green noise dots and three raster ellipsis marks; internal symbolic ellipses are not editabl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7394" y="3689886"/>
            <a:ext cx="1875692" cy="761039"/>
          </a:xfrm>
          <a:prstGeom prst="rect">
            <a:avLst/>
          </a:prstGeom>
          <a:effectLst/>
        </p:spPr>
      </p:pic>
      <p:sp>
        <p:nvSpPr>
          <p:cNvPr id="70" name="encoder_flow" descr="Editable line; source id encoder_flow"/>
          <p:cNvSpPr/>
          <p:nvPr/>
        </p:nvSpPr>
        <p:spPr>
          <a:xfrm>
            <a:off x="7364398" y="3851319"/>
            <a:ext cx="99934" cy="76873"/>
          </a:xfrm>
          <a:custGeom>
            <a:avLst/>
            <a:gdLst/>
            <a:ahLst/>
            <a:cxnLst/>
            <a:rect l="l" t="t" r="r" b="b"/>
            <a:pathLst>
              <a:path w="13000" h="10000">
                <a:moveTo>
                  <a:pt x="0" y="4000"/>
                </a:moveTo>
                <a:lnTo>
                  <a:pt x="2000" y="4000"/>
                </a:lnTo>
                <a:lnTo>
                  <a:pt x="2000" y="0"/>
                </a:lnTo>
                <a:lnTo>
                  <a:pt x="13000" y="5000"/>
                </a:lnTo>
                <a:lnTo>
                  <a:pt x="2000" y="10000"/>
                </a:lnTo>
                <a:lnTo>
                  <a:pt x="2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coder" descr="Editable shape; source id decoder"/>
          <p:cNvSpPr/>
          <p:nvPr/>
        </p:nvSpPr>
        <p:spPr>
          <a:xfrm>
            <a:off x="9509145" y="3520767"/>
            <a:ext cx="130683" cy="860973"/>
          </a:xfrm>
          <a:custGeom>
            <a:avLst/>
            <a:gdLst/>
            <a:ahLst/>
            <a:cxnLst/>
            <a:rect l="l" t="t" r="r" b="b"/>
            <a:pathLst>
              <a:path w="17000" h="112000">
                <a:moveTo>
                  <a:pt x="0" y="0"/>
                </a:moveTo>
                <a:lnTo>
                  <a:pt x="17000" y="12320"/>
                </a:lnTo>
                <a:lnTo>
                  <a:pt x="17000" y="99680"/>
                </a:lnTo>
                <a:lnTo>
                  <a:pt x="0" y="112000"/>
                </a:lnTo>
                <a:close/>
              </a:path>
            </a:pathLst>
          </a:custGeom>
          <a:solidFill>
            <a:srgbClr val="D8E8C2"/>
          </a:solidFill>
          <a:ln w="11530">
            <a:solidFill>
              <a:srgbClr val="08742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low_chunk" descr="Editable line; source id flow_chunk"/>
          <p:cNvSpPr/>
          <p:nvPr/>
        </p:nvSpPr>
        <p:spPr>
          <a:xfrm>
            <a:off x="9439959" y="3843632"/>
            <a:ext cx="184494" cy="76873"/>
          </a:xfrm>
          <a:custGeom>
            <a:avLst/>
            <a:gdLst/>
            <a:ahLst/>
            <a:cxnLst/>
            <a:rect l="l" t="t" r="r" b="b"/>
            <a:pathLst>
              <a:path w="24000" h="10000">
                <a:moveTo>
                  <a:pt x="0" y="4000"/>
                </a:moveTo>
                <a:lnTo>
                  <a:pt x="13000" y="4000"/>
                </a:lnTo>
                <a:lnTo>
                  <a:pt x="13000" y="0"/>
                </a:lnTo>
                <a:lnTo>
                  <a:pt x="24000" y="5000"/>
                </a:lnTo>
                <a:lnTo>
                  <a:pt x="13000" y="10000"/>
                </a:lnTo>
                <a:lnTo>
                  <a:pt x="13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ontinuous" descr="Editable text; source id continuous"/>
          <p:cNvSpPr txBox="1"/>
          <p:nvPr/>
        </p:nvSpPr>
        <p:spPr>
          <a:xfrm>
            <a:off x="9801260" y="3267086"/>
            <a:ext cx="737977" cy="3536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44"/>
              </a:lnSpc>
              <a:spcBef>
                <a:spcPts val="0"/>
              </a:spcBef>
              <a:spcAft>
                <a:spcPts val="0"/>
              </a:spcAft>
              <a:defRPr sz="907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7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Continuous</a:t>
            </a:r>
          </a:p>
          <a:p>
            <a:pPr algn="ctr" fontAlgn="base">
              <a:lnSpc>
                <a:spcPts val="1044"/>
              </a:lnSpc>
              <a:spcBef>
                <a:spcPts val="0"/>
              </a:spcBef>
              <a:spcAft>
                <a:spcPts val="0"/>
              </a:spcAft>
              <a:defRPr sz="907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7" b="1" i="0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action chunk</a:t>
            </a:r>
          </a:p>
        </p:txBody>
      </p:sp>
      <p:sp>
        <p:nvSpPr>
          <p:cNvPr id="74" name="chunk" descr="Editable shape; source id chunk"/>
          <p:cNvSpPr/>
          <p:nvPr/>
        </p:nvSpPr>
        <p:spPr>
          <a:xfrm>
            <a:off x="9716700" y="3774446"/>
            <a:ext cx="868660" cy="430486"/>
          </a:xfrm>
          <a:prstGeom prst="rect">
            <a:avLst/>
          </a:prstGeom>
          <a:solidFill>
            <a:srgbClr val="F0F6EE"/>
          </a:solidFill>
          <a:ln w="11530">
            <a:solidFill>
              <a:srgbClr val="087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_start" descr="Editable text; source id a_start"/>
          <p:cNvSpPr txBox="1"/>
          <p:nvPr/>
        </p:nvSpPr>
        <p:spPr>
          <a:xfrm>
            <a:off x="9793573" y="3866693"/>
            <a:ext cx="153745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3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</a:t>
            </a:r>
          </a:p>
        </p:txBody>
      </p:sp>
      <p:sp>
        <p:nvSpPr>
          <p:cNvPr id="76" name="a_start_sub" descr="Editable text; source id a_start_sub"/>
          <p:cNvSpPr txBox="1"/>
          <p:nvPr/>
        </p:nvSpPr>
        <p:spPr>
          <a:xfrm>
            <a:off x="9901195" y="3982002"/>
            <a:ext cx="76872" cy="1383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defRPr sz="726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26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</a:t>
            </a:r>
          </a:p>
        </p:txBody>
      </p:sp>
      <p:sp>
        <p:nvSpPr>
          <p:cNvPr id="77" name="a_dots" descr="Editable text; source id a_dots"/>
          <p:cNvSpPr txBox="1"/>
          <p:nvPr/>
        </p:nvSpPr>
        <p:spPr>
          <a:xfrm>
            <a:off x="10016504" y="3874380"/>
            <a:ext cx="184494" cy="2306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82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1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78" name="a_end" descr="Editable text; source id a_end"/>
          <p:cNvSpPr txBox="1"/>
          <p:nvPr/>
        </p:nvSpPr>
        <p:spPr>
          <a:xfrm>
            <a:off x="10247122" y="3866693"/>
            <a:ext cx="153745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31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</a:t>
            </a:r>
          </a:p>
        </p:txBody>
      </p:sp>
      <p:sp>
        <p:nvSpPr>
          <p:cNvPr id="79" name="a_end_sub" descr="Editable text; source id a_end_sub"/>
          <p:cNvSpPr txBox="1"/>
          <p:nvPr/>
        </p:nvSpPr>
        <p:spPr>
          <a:xfrm>
            <a:off x="10347056" y="3982002"/>
            <a:ext cx="222930" cy="1383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defRPr sz="726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26" b="1" i="1" lang="zh-CN" dirty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t+H</a:t>
            </a:r>
          </a:p>
        </p:txBody>
      </p:sp>
      <p:sp>
        <p:nvSpPr>
          <p:cNvPr id="80" name="noise_box" descr="Editable shape; source id noise_box"/>
          <p:cNvSpPr/>
          <p:nvPr/>
        </p:nvSpPr>
        <p:spPr>
          <a:xfrm>
            <a:off x="7625765" y="4719979"/>
            <a:ext cx="499672" cy="253679"/>
          </a:xfrm>
          <a:prstGeom prst="rect">
            <a:avLst/>
          </a:prstGeom>
          <a:noFill/>
          <a:ln w="115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oise" descr="Editable text; source id noise"/>
          <p:cNvSpPr txBox="1"/>
          <p:nvPr/>
        </p:nvSpPr>
        <p:spPr>
          <a:xfrm>
            <a:off x="7733386" y="4794930"/>
            <a:ext cx="368988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31"/>
              </a:lnSpc>
              <a:spcBef>
                <a:spcPts val="0"/>
              </a:spcBef>
              <a:spcAft>
                <a:spcPts val="0"/>
              </a:spcAft>
              <a:defRPr sz="983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983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Noise</a:t>
            </a:r>
          </a:p>
        </p:txBody>
      </p:sp>
      <p:sp>
        <p:nvSpPr>
          <p:cNvPr id="82" name="noise_up" descr="Editable line; source id noise_up"/>
          <p:cNvSpPr/>
          <p:nvPr/>
        </p:nvSpPr>
        <p:spPr>
          <a:xfrm>
            <a:off x="7833321" y="4550860"/>
            <a:ext cx="76873" cy="161433"/>
          </a:xfrm>
          <a:custGeom>
            <a:avLst/>
            <a:gdLst/>
            <a:ahLst/>
            <a:cxnLst/>
            <a:rect l="l" t="t" r="r" b="b"/>
            <a:pathLst>
              <a:path w="10000" h="21000">
                <a:moveTo>
                  <a:pt x="4000" y="21000"/>
                </a:moveTo>
                <a:lnTo>
                  <a:pt x="4000" y="11000"/>
                </a:lnTo>
                <a:lnTo>
                  <a:pt x="0" y="11000"/>
                </a:lnTo>
                <a:lnTo>
                  <a:pt x="5000" y="0"/>
                </a:lnTo>
                <a:lnTo>
                  <a:pt x="10000" y="11000"/>
                </a:lnTo>
                <a:lnTo>
                  <a:pt x="6000" y="11000"/>
                </a:lnTo>
                <a:lnTo>
                  <a:pt x="6000" y="21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bservation_action" descr="Editable line; source id observation_action"/>
          <p:cNvSpPr/>
          <p:nvPr/>
        </p:nvSpPr>
        <p:spPr>
          <a:xfrm>
            <a:off x="5550204" y="3728323"/>
            <a:ext cx="392050" cy="76873"/>
          </a:xfrm>
          <a:custGeom>
            <a:avLst/>
            <a:gdLst/>
            <a:ahLst/>
            <a:cxnLst/>
            <a:rect l="l" t="t" r="r" b="b"/>
            <a:pathLst>
              <a:path w="51000" h="10000">
                <a:moveTo>
                  <a:pt x="0" y="4000"/>
                </a:moveTo>
                <a:lnTo>
                  <a:pt x="40000" y="4000"/>
                </a:lnTo>
                <a:lnTo>
                  <a:pt x="40000" y="0"/>
                </a:lnTo>
                <a:lnTo>
                  <a:pt x="51000" y="5000"/>
                </a:lnTo>
                <a:lnTo>
                  <a:pt x="40000" y="10000"/>
                </a:lnTo>
                <a:lnTo>
                  <a:pt x="40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subtask_route1" descr="Editable line; source id subtask_route1"/>
          <p:cNvCxnSpPr/>
          <p:nvPr/>
        </p:nvCxnSpPr>
        <p:spPr>
          <a:xfrm>
            <a:off x="9816635" y="1898754"/>
            <a:ext cx="0" cy="622668"/>
          </a:xfrm>
          <a:prstGeom prst="line">
            <a:avLst/>
          </a:prstGeom>
          <a:ln w="15374">
            <a:solidFill>
              <a:srgbClr val="FF17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ubtask_route2" descr="Editable line; source id subtask_route2"/>
          <p:cNvCxnSpPr/>
          <p:nvPr/>
        </p:nvCxnSpPr>
        <p:spPr>
          <a:xfrm flipH="1">
            <a:off x="6065250" y="2521422"/>
            <a:ext cx="3751385" cy="0"/>
          </a:xfrm>
          <a:prstGeom prst="line">
            <a:avLst/>
          </a:prstGeom>
          <a:ln w="15374">
            <a:solidFill>
              <a:srgbClr val="FF17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ubtask_route3" descr="Editable line; source id subtask_route3"/>
          <p:cNvCxnSpPr/>
          <p:nvPr/>
        </p:nvCxnSpPr>
        <p:spPr>
          <a:xfrm flipH="1">
            <a:off x="5973003" y="2521422"/>
            <a:ext cx="92247" cy="99934"/>
          </a:xfrm>
          <a:prstGeom prst="line">
            <a:avLst/>
          </a:prstGeom>
          <a:ln w="15374">
            <a:solidFill>
              <a:srgbClr val="FF17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ubtask_route4" descr="Editable line; source id subtask_route4"/>
          <p:cNvCxnSpPr/>
          <p:nvPr/>
        </p:nvCxnSpPr>
        <p:spPr>
          <a:xfrm>
            <a:off x="5973003" y="2621356"/>
            <a:ext cx="0" cy="1668136"/>
          </a:xfrm>
          <a:prstGeom prst="line">
            <a:avLst/>
          </a:prstGeom>
          <a:ln w="15374">
            <a:solidFill>
              <a:srgbClr val="FF17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subtask_route5" descr="Editable line; source id subtask_route5"/>
          <p:cNvSpPr/>
          <p:nvPr/>
        </p:nvSpPr>
        <p:spPr>
          <a:xfrm>
            <a:off x="5968737" y="4272104"/>
            <a:ext cx="96514" cy="78887"/>
          </a:xfrm>
          <a:custGeom>
            <a:avLst/>
            <a:gdLst/>
            <a:ahLst/>
            <a:cxnLst/>
            <a:rect l="l" t="t" r="r" b="b"/>
            <a:pathLst>
              <a:path w="12555" h="10262">
                <a:moveTo>
                  <a:pt x="1110" y="1430"/>
                </a:moveTo>
                <a:lnTo>
                  <a:pt x="3957" y="3328"/>
                </a:lnTo>
                <a:lnTo>
                  <a:pt x="6176" y="0"/>
                </a:lnTo>
                <a:lnTo>
                  <a:pt x="12555" y="10262"/>
                </a:lnTo>
                <a:lnTo>
                  <a:pt x="629" y="8321"/>
                </a:lnTo>
                <a:lnTo>
                  <a:pt x="2848" y="4992"/>
                </a:lnTo>
                <a:lnTo>
                  <a:pt x="0" y="3094"/>
                </a:lnTo>
                <a:close/>
              </a:path>
            </a:pathLst>
          </a:custGeom>
          <a:solidFill>
            <a:srgbClr val="FF1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unk_down" descr="Editable line; source id chunk_down"/>
          <p:cNvSpPr/>
          <p:nvPr/>
        </p:nvSpPr>
        <p:spPr>
          <a:xfrm>
            <a:off x="10078002" y="4251057"/>
            <a:ext cx="76873" cy="983970"/>
          </a:xfrm>
          <a:custGeom>
            <a:avLst/>
            <a:gdLst/>
            <a:ahLst/>
            <a:cxnLst/>
            <a:rect l="l" t="t" r="r" b="b"/>
            <a:pathLst>
              <a:path w="10000" h="128000">
                <a:moveTo>
                  <a:pt x="6000" y="0"/>
                </a:moveTo>
                <a:lnTo>
                  <a:pt x="6000" y="117000"/>
                </a:lnTo>
                <a:lnTo>
                  <a:pt x="10000" y="117000"/>
                </a:lnTo>
                <a:lnTo>
                  <a:pt x="5000" y="128000"/>
                </a:lnTo>
                <a:lnTo>
                  <a:pt x="0" y="117000"/>
                </a:lnTo>
                <a:lnTo>
                  <a:pt x="4000" y="117000"/>
                </a:lnTo>
                <a:lnTo>
                  <a:pt x="4000" y="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ep1" descr="Editable text; source id step1"/>
          <p:cNvSpPr txBox="1"/>
          <p:nvPr/>
        </p:nvSpPr>
        <p:spPr>
          <a:xfrm>
            <a:off x="6303555" y="6732120"/>
            <a:ext cx="1153089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1195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195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1. Approach</a:t>
            </a:r>
          </a:p>
        </p:txBody>
      </p:sp>
      <p:sp>
        <p:nvSpPr>
          <p:cNvPr id="91" name="step2" descr="Editable text; source id step2"/>
          <p:cNvSpPr txBox="1"/>
          <p:nvPr/>
        </p:nvSpPr>
        <p:spPr>
          <a:xfrm>
            <a:off x="8271495" y="6726355"/>
            <a:ext cx="1575888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9"/>
              </a:lnSpc>
              <a:spcBef>
                <a:spcPts val="0"/>
              </a:spcBef>
              <a:spcAft>
                <a:spcPts val="0"/>
              </a:spcAft>
              <a:defRPr sz="1286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286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2. Close (grasp rim)</a:t>
            </a:r>
          </a:p>
        </p:txBody>
      </p:sp>
      <p:sp>
        <p:nvSpPr>
          <p:cNvPr id="92" name="step3" descr="Editable text; source id step3"/>
          <p:cNvSpPr txBox="1"/>
          <p:nvPr/>
        </p:nvSpPr>
        <p:spPr>
          <a:xfrm>
            <a:off x="10308620" y="6724433"/>
            <a:ext cx="1821881" cy="23830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44"/>
              </a:lnSpc>
              <a:spcBef>
                <a:spcPts val="0"/>
              </a:spcBef>
              <a:spcAft>
                <a:spcPts val="0"/>
              </a:spcAft>
              <a:defRPr sz="1255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255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3. Lift (clear of surface)</a:t>
            </a:r>
          </a:p>
        </p:txBody>
      </p:sp>
      <p:sp>
        <p:nvSpPr>
          <p:cNvPr id="93" name="step_arrow1" descr="Editable line; source id step_arrow1"/>
          <p:cNvSpPr/>
          <p:nvPr/>
        </p:nvSpPr>
        <p:spPr>
          <a:xfrm>
            <a:off x="7741074" y="5896131"/>
            <a:ext cx="207556" cy="76873"/>
          </a:xfrm>
          <a:custGeom>
            <a:avLst/>
            <a:gdLst/>
            <a:ahLst/>
            <a:cxnLst/>
            <a:rect l="l" t="t" r="r" b="b"/>
            <a:pathLst>
              <a:path w="27000" h="10000">
                <a:moveTo>
                  <a:pt x="0" y="4000"/>
                </a:moveTo>
                <a:lnTo>
                  <a:pt x="16000" y="4000"/>
                </a:lnTo>
                <a:lnTo>
                  <a:pt x="16000" y="0"/>
                </a:lnTo>
                <a:lnTo>
                  <a:pt x="27000" y="5000"/>
                </a:lnTo>
                <a:lnTo>
                  <a:pt x="16000" y="10000"/>
                </a:lnTo>
                <a:lnTo>
                  <a:pt x="16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tep_arrow2" descr="Editable line; source id step_arrow2"/>
          <p:cNvSpPr/>
          <p:nvPr/>
        </p:nvSpPr>
        <p:spPr>
          <a:xfrm>
            <a:off x="9885821" y="5911506"/>
            <a:ext cx="199869" cy="76873"/>
          </a:xfrm>
          <a:custGeom>
            <a:avLst/>
            <a:gdLst/>
            <a:ahLst/>
            <a:cxnLst/>
            <a:rect l="l" t="t" r="r" b="b"/>
            <a:pathLst>
              <a:path w="26000" h="10000">
                <a:moveTo>
                  <a:pt x="0" y="4000"/>
                </a:moveTo>
                <a:lnTo>
                  <a:pt x="15000" y="4000"/>
                </a:lnTo>
                <a:lnTo>
                  <a:pt x="15000" y="0"/>
                </a:lnTo>
                <a:lnTo>
                  <a:pt x="26000" y="5000"/>
                </a:lnTo>
                <a:lnTo>
                  <a:pt x="15000" y="10000"/>
                </a:lnTo>
                <a:lnTo>
                  <a:pt x="15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087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xecution" descr="Editable text; source id execution"/>
          <p:cNvSpPr txBox="1"/>
          <p:nvPr/>
        </p:nvSpPr>
        <p:spPr>
          <a:xfrm>
            <a:off x="8217684" y="7208731"/>
            <a:ext cx="1844943" cy="24599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7" b="0" i="0" lang="zh-CN" dirty="0">
                <a:solidFill>
                  <a:srgbClr val="006B5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407" b="0" i="0" lang="zh-CN" dirty="0">
                <a:solidFill>
                  <a:srgbClr val="006B51"/>
                </a:solidFill>
                <a:latin typeface="Liberation Sans Narrow"/>
                <a:ea typeface="Liberation Sans Narrow"/>
                <a:cs typeface="Liberation Sans Narrow"/>
              </a:rPr>
              <a:t>Execution schematic</a:t>
            </a:r>
          </a:p>
        </p:txBody>
      </p:sp>
      <p:sp>
        <p:nvSpPr>
          <p:cNvPr id="96" name="footer" descr="Editable text; source id footer"/>
          <p:cNvSpPr txBox="1"/>
          <p:nvPr/>
        </p:nvSpPr>
        <p:spPr>
          <a:xfrm>
            <a:off x="169119" y="7318274"/>
            <a:ext cx="4458612" cy="2152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defRPr sz="1119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defRPr>
            </a:pPr>
            <a:r>
              <a:rPr sz="1119" b="0" i="0" lang="zh-CN" dirty="0">
                <a:solidFill>
                  <a:srgbClr val="111111"/>
                </a:solidFill>
                <a:latin typeface="Liberation Sans Narrow"/>
                <a:ea typeface="Liberation Sans Narrow"/>
                <a:cs typeface="Liberation Sans Narrow"/>
              </a:rPr>
              <a:t>Inference schematic; independently illustrated scenes; training omitted.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