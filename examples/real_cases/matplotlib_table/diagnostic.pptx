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914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supplied image only. All 25 table values manually compared with the original. Vertical y-axis title reads: Loss in $1000's. It remains a separately movable exact raster crop because scene v1 does not support rotation. Source font identity is uncertain; Verdana chosen from available fonts by measured width. Bar segment geometry is measured directly from source pixels; no hidden data inferred.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able_region" descr="Editable shape; source id table_region"/>
          <p:cNvSpPr/>
          <p:nvPr/>
        </p:nvSpPr>
        <p:spPr>
          <a:xfrm>
            <a:off x="981074" y="7238999"/>
            <a:ext cx="10010774" cy="18287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w_color_0" descr="Editable shape; source id row_color_0"/>
          <p:cNvSpPr/>
          <p:nvPr/>
        </p:nvSpPr>
        <p:spPr>
          <a:xfrm>
            <a:off x="1000124" y="7594599"/>
            <a:ext cx="1438274" cy="279399"/>
          </a:xfrm>
          <a:prstGeom prst="rect">
            <a:avLst/>
          </a:prstGeom>
          <a:solidFill>
            <a:srgbClr val="8C9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w_color_1" descr="Editable shape; source id row_color_1"/>
          <p:cNvSpPr/>
          <p:nvPr/>
        </p:nvSpPr>
        <p:spPr>
          <a:xfrm>
            <a:off x="1000124" y="7873999"/>
            <a:ext cx="1438274" cy="279399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w_color_2" descr="Editable shape; source id row_color_2"/>
          <p:cNvSpPr/>
          <p:nvPr/>
        </p:nvSpPr>
        <p:spPr>
          <a:xfrm>
            <a:off x="1000124" y="8153399"/>
            <a:ext cx="1438274" cy="279399"/>
          </a:xfrm>
          <a:prstGeom prst="rect">
            <a:avLst/>
          </a:prstGeom>
          <a:solidFill>
            <a:srgbClr val="BF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w_color_3" descr="Editable shape; source id row_color_3"/>
          <p:cNvSpPr/>
          <p:nvPr/>
        </p:nvSpPr>
        <p:spPr>
          <a:xfrm>
            <a:off x="1000124" y="8432799"/>
            <a:ext cx="1438274" cy="279399"/>
          </a:xfrm>
          <a:prstGeom prst="rect">
            <a:avLst/>
          </a:prstGeom>
          <a:solidFill>
            <a:srgbClr val="E0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w_color_4" descr="Editable shape; source id row_color_4"/>
          <p:cNvSpPr/>
          <p:nvPr/>
        </p:nvSpPr>
        <p:spPr>
          <a:xfrm>
            <a:off x="1000124" y="8712199"/>
            <a:ext cx="1438274" cy="279399"/>
          </a:xfrm>
          <a:prstGeom prst="rect">
            <a:avLst/>
          </a:prstGeom>
          <a:solidFill>
            <a:srgbClr val="F7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ar_0_0" descr="Editable shape; source id bar_0_0"/>
          <p:cNvSpPr/>
          <p:nvPr/>
        </p:nvSpPr>
        <p:spPr>
          <a:xfrm>
            <a:off x="2819399" y="6134099"/>
            <a:ext cx="704849" cy="380999"/>
          </a:xfrm>
          <a:prstGeom prst="rect">
            <a:avLst/>
          </a:prstGeom>
          <a:solidFill>
            <a:srgbClr val="8C9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ar_0_1" descr="Editable shape; source id bar_0_1"/>
          <p:cNvSpPr/>
          <p:nvPr/>
        </p:nvSpPr>
        <p:spPr>
          <a:xfrm>
            <a:off x="2819399" y="6515099"/>
            <a:ext cx="704849" cy="209549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ar_0_2" descr="Editable shape; source id bar_0_2"/>
          <p:cNvSpPr/>
          <p:nvPr/>
        </p:nvSpPr>
        <p:spPr>
          <a:xfrm>
            <a:off x="2819399" y="6724649"/>
            <a:ext cx="704849" cy="247649"/>
          </a:xfrm>
          <a:prstGeom prst="rect">
            <a:avLst/>
          </a:prstGeom>
          <a:solidFill>
            <a:srgbClr val="BF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ar_0_3" descr="Editable shape; source id bar_0_3"/>
          <p:cNvSpPr/>
          <p:nvPr/>
        </p:nvSpPr>
        <p:spPr>
          <a:xfrm>
            <a:off x="2819399" y="6972299"/>
            <a:ext cx="704849" cy="152399"/>
          </a:xfrm>
          <a:prstGeom prst="rect">
            <a:avLst/>
          </a:prstGeom>
          <a:solidFill>
            <a:srgbClr val="E0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ar_0_4" descr="Editable shape; source id bar_0_4"/>
          <p:cNvSpPr/>
          <p:nvPr/>
        </p:nvSpPr>
        <p:spPr>
          <a:xfrm>
            <a:off x="2819399" y="7124699"/>
            <a:ext cx="704849" cy="190499"/>
          </a:xfrm>
          <a:prstGeom prst="rect">
            <a:avLst/>
          </a:prstGeom>
          <a:solidFill>
            <a:srgbClr val="F7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_1_0" descr="Editable shape; source id bar_1_0"/>
          <p:cNvSpPr/>
          <p:nvPr/>
        </p:nvSpPr>
        <p:spPr>
          <a:xfrm>
            <a:off x="4591049" y="4419599"/>
            <a:ext cx="704849" cy="914399"/>
          </a:xfrm>
          <a:prstGeom prst="rect">
            <a:avLst/>
          </a:prstGeom>
          <a:solidFill>
            <a:srgbClr val="8C9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_1_1" descr="Editable shape; source id bar_1_1"/>
          <p:cNvSpPr/>
          <p:nvPr/>
        </p:nvSpPr>
        <p:spPr>
          <a:xfrm>
            <a:off x="4591049" y="5333999"/>
            <a:ext cx="704849" cy="228599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_1_2" descr="Editable shape; source id bar_1_2"/>
          <p:cNvSpPr/>
          <p:nvPr/>
        </p:nvSpPr>
        <p:spPr>
          <a:xfrm>
            <a:off x="4591049" y="5562599"/>
            <a:ext cx="704849" cy="228599"/>
          </a:xfrm>
          <a:prstGeom prst="rect">
            <a:avLst/>
          </a:prstGeom>
          <a:solidFill>
            <a:srgbClr val="BF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_1_3" descr="Editable shape; source id bar_1_3"/>
          <p:cNvSpPr/>
          <p:nvPr/>
        </p:nvSpPr>
        <p:spPr>
          <a:xfrm>
            <a:off x="4591049" y="5791199"/>
            <a:ext cx="704849" cy="1047749"/>
          </a:xfrm>
          <a:prstGeom prst="rect">
            <a:avLst/>
          </a:prstGeom>
          <a:solidFill>
            <a:srgbClr val="E0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_1_4" descr="Editable shape; source id bar_1_4"/>
          <p:cNvSpPr/>
          <p:nvPr/>
        </p:nvSpPr>
        <p:spPr>
          <a:xfrm>
            <a:off x="4591049" y="6838949"/>
            <a:ext cx="704849" cy="476249"/>
          </a:xfrm>
          <a:prstGeom prst="rect">
            <a:avLst/>
          </a:prstGeom>
          <a:solidFill>
            <a:srgbClr val="F7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_2_0" descr="Editable shape; source id bar_2_0"/>
          <p:cNvSpPr/>
          <p:nvPr/>
        </p:nvSpPr>
        <p:spPr>
          <a:xfrm>
            <a:off x="6343649" y="5105399"/>
            <a:ext cx="704849" cy="952499"/>
          </a:xfrm>
          <a:prstGeom prst="rect">
            <a:avLst/>
          </a:prstGeom>
          <a:solidFill>
            <a:srgbClr val="8C9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_2_1" descr="Editable shape; source id bar_2_1"/>
          <p:cNvSpPr/>
          <p:nvPr/>
        </p:nvSpPr>
        <p:spPr>
          <a:xfrm>
            <a:off x="6343649" y="6057899"/>
            <a:ext cx="704849" cy="419099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_2_2" descr="Editable shape; source id bar_2_2"/>
          <p:cNvSpPr/>
          <p:nvPr/>
        </p:nvSpPr>
        <p:spPr>
          <a:xfrm>
            <a:off x="6343649" y="6476999"/>
            <a:ext cx="704849" cy="419099"/>
          </a:xfrm>
          <a:prstGeom prst="rect">
            <a:avLst/>
          </a:prstGeom>
          <a:solidFill>
            <a:srgbClr val="BF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_2_3" descr="Editable shape; source id bar_2_3"/>
          <p:cNvSpPr/>
          <p:nvPr/>
        </p:nvSpPr>
        <p:spPr>
          <a:xfrm>
            <a:off x="6343649" y="6896099"/>
            <a:ext cx="704849" cy="209549"/>
          </a:xfrm>
          <a:prstGeom prst="rect">
            <a:avLst/>
          </a:prstGeom>
          <a:solidFill>
            <a:srgbClr val="E0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_2_4" descr="Editable shape; source id bar_2_4"/>
          <p:cNvSpPr/>
          <p:nvPr/>
        </p:nvSpPr>
        <p:spPr>
          <a:xfrm>
            <a:off x="6343649" y="7105649"/>
            <a:ext cx="704849" cy="209549"/>
          </a:xfrm>
          <a:prstGeom prst="rect">
            <a:avLst/>
          </a:prstGeom>
          <a:solidFill>
            <a:srgbClr val="F7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_3_0" descr="Editable shape; source id bar_3_0"/>
          <p:cNvSpPr/>
          <p:nvPr/>
        </p:nvSpPr>
        <p:spPr>
          <a:xfrm>
            <a:off x="8115299" y="1390649"/>
            <a:ext cx="704849" cy="2152649"/>
          </a:xfrm>
          <a:prstGeom prst="rect">
            <a:avLst/>
          </a:prstGeom>
          <a:solidFill>
            <a:srgbClr val="8C9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_3_1" descr="Editable shape; source id bar_3_1"/>
          <p:cNvSpPr/>
          <p:nvPr/>
        </p:nvSpPr>
        <p:spPr>
          <a:xfrm>
            <a:off x="8115299" y="3543299"/>
            <a:ext cx="704849" cy="533399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_3_2" descr="Editable shape; source id bar_3_2"/>
          <p:cNvSpPr/>
          <p:nvPr/>
        </p:nvSpPr>
        <p:spPr>
          <a:xfrm>
            <a:off x="8115299" y="4076699"/>
            <a:ext cx="704849" cy="1371599"/>
          </a:xfrm>
          <a:prstGeom prst="rect">
            <a:avLst/>
          </a:prstGeom>
          <a:solidFill>
            <a:srgbClr val="BF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_3_3" descr="Editable shape; source id bar_3_3"/>
          <p:cNvSpPr/>
          <p:nvPr/>
        </p:nvSpPr>
        <p:spPr>
          <a:xfrm>
            <a:off x="8115299" y="5448299"/>
            <a:ext cx="704849" cy="266699"/>
          </a:xfrm>
          <a:prstGeom prst="rect">
            <a:avLst/>
          </a:prstGeom>
          <a:solidFill>
            <a:srgbClr val="E0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_3_4" descr="Editable shape; source id bar_3_4"/>
          <p:cNvSpPr/>
          <p:nvPr/>
        </p:nvSpPr>
        <p:spPr>
          <a:xfrm>
            <a:off x="8115299" y="5714999"/>
            <a:ext cx="704849" cy="1600199"/>
          </a:xfrm>
          <a:prstGeom prst="rect">
            <a:avLst/>
          </a:prstGeom>
          <a:solidFill>
            <a:srgbClr val="F7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_4_0" descr="Editable shape; source id bar_4_0"/>
          <p:cNvSpPr/>
          <p:nvPr/>
        </p:nvSpPr>
        <p:spPr>
          <a:xfrm>
            <a:off x="9886949" y="4781549"/>
            <a:ext cx="704849" cy="152399"/>
          </a:xfrm>
          <a:prstGeom prst="rect">
            <a:avLst/>
          </a:prstGeom>
          <a:solidFill>
            <a:srgbClr val="8C95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ar_4_1" descr="Editable shape; source id bar_4_1"/>
          <p:cNvSpPr/>
          <p:nvPr/>
        </p:nvSpPr>
        <p:spPr>
          <a:xfrm>
            <a:off x="9886949" y="4933949"/>
            <a:ext cx="704849" cy="190499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ar_4_2" descr="Editable shape; source id bar_4_2"/>
          <p:cNvSpPr/>
          <p:nvPr/>
        </p:nvSpPr>
        <p:spPr>
          <a:xfrm>
            <a:off x="9886949" y="5124449"/>
            <a:ext cx="704849" cy="1657349"/>
          </a:xfrm>
          <a:prstGeom prst="rect">
            <a:avLst/>
          </a:prstGeom>
          <a:solidFill>
            <a:srgbClr val="BF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ar_4_3" descr="Editable shape; source id bar_4_3"/>
          <p:cNvSpPr/>
          <p:nvPr/>
        </p:nvSpPr>
        <p:spPr>
          <a:xfrm>
            <a:off x="9886949" y="6781799"/>
            <a:ext cx="704849" cy="438149"/>
          </a:xfrm>
          <a:prstGeom prst="rect">
            <a:avLst/>
          </a:prstGeom>
          <a:solidFill>
            <a:srgbClr val="E0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ar_4_4" descr="Editable shape; source id bar_4_4"/>
          <p:cNvSpPr/>
          <p:nvPr/>
        </p:nvSpPr>
        <p:spPr>
          <a:xfrm>
            <a:off x="9886949" y="7219949"/>
            <a:ext cx="704849" cy="95249"/>
          </a:xfrm>
          <a:prstGeom prst="rect">
            <a:avLst/>
          </a:prstGeom>
          <a:solidFill>
            <a:srgbClr val="F7F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rotated_y_axis_title" descr="Exact source crop [59,163,76,277]; rotated title Loss in $1000's. Removed only blank right-side pixels, retaining all original visible glyphs. Scene v1 has no text rotation; no editable text overlay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49" y="3105149"/>
            <a:ext cx="323849" cy="2171699"/>
          </a:xfrm>
          <a:prstGeom prst="rect">
            <a:avLst/>
          </a:prstGeom>
          <a:effectLst/>
        </p:spPr>
      </p:pic>
      <p:cxnSp>
        <p:nvCxnSpPr>
          <p:cNvPr id="34" name="plot_top" descr="Editable line; source id plot_top"/>
          <p:cNvCxnSpPr/>
          <p:nvPr/>
        </p:nvCxnSpPr>
        <p:spPr>
          <a:xfrm>
            <a:off x="2438399" y="1104899"/>
            <a:ext cx="8534400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plot_left" descr="Editable line; source id plot_left"/>
          <p:cNvCxnSpPr/>
          <p:nvPr/>
        </p:nvCxnSpPr>
        <p:spPr>
          <a:xfrm>
            <a:off x="2438399" y="1104899"/>
            <a:ext cx="0" cy="621030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plot_right" descr="Editable line; source id plot_right"/>
          <p:cNvCxnSpPr/>
          <p:nvPr/>
        </p:nvCxnSpPr>
        <p:spPr>
          <a:xfrm>
            <a:off x="10972799" y="1104899"/>
            <a:ext cx="0" cy="621030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plot_baseline" descr="Editable line; source id plot_baseline"/>
          <p:cNvCxnSpPr/>
          <p:nvPr/>
        </p:nvCxnSpPr>
        <p:spPr>
          <a:xfrm>
            <a:off x="2438399" y="7315199"/>
            <a:ext cx="8534400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tick_0" descr="Editable line; source id tick_0"/>
          <p:cNvCxnSpPr/>
          <p:nvPr/>
        </p:nvCxnSpPr>
        <p:spPr>
          <a:xfrm>
            <a:off x="2345054" y="7315199"/>
            <a:ext cx="93345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tick_500" descr="Editable line; source id tick_500"/>
          <p:cNvCxnSpPr/>
          <p:nvPr/>
        </p:nvCxnSpPr>
        <p:spPr>
          <a:xfrm>
            <a:off x="2345054" y="5939366"/>
            <a:ext cx="93345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tick_1000" descr="Editable line; source id tick_1000"/>
          <p:cNvCxnSpPr/>
          <p:nvPr/>
        </p:nvCxnSpPr>
        <p:spPr>
          <a:xfrm>
            <a:off x="2345054" y="4563534"/>
            <a:ext cx="93345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tick_1500" descr="Editable line; source id tick_1500"/>
          <p:cNvCxnSpPr/>
          <p:nvPr/>
        </p:nvCxnSpPr>
        <p:spPr>
          <a:xfrm>
            <a:off x="2345054" y="3187699"/>
            <a:ext cx="93345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tick_2000" descr="Editable line; source id tick_2000"/>
          <p:cNvCxnSpPr/>
          <p:nvPr/>
        </p:nvCxnSpPr>
        <p:spPr>
          <a:xfrm>
            <a:off x="2345054" y="1811866"/>
            <a:ext cx="93345" cy="0"/>
          </a:xfrm>
          <a:prstGeom prst="line">
            <a:avLst/>
          </a:prstGeom>
          <a:ln w="20954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table_vertical_0" descr="Editable line; source id table_vertical_0"/>
          <p:cNvCxnSpPr/>
          <p:nvPr/>
        </p:nvCxnSpPr>
        <p:spPr>
          <a:xfrm>
            <a:off x="2438399" y="7315199"/>
            <a:ext cx="0" cy="16764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table_vertical_1" descr="Editable line; source id table_vertical_1"/>
          <p:cNvCxnSpPr/>
          <p:nvPr/>
        </p:nvCxnSpPr>
        <p:spPr>
          <a:xfrm>
            <a:off x="4145279" y="7315199"/>
            <a:ext cx="0" cy="16764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table_vertical_2" descr="Editable line; source id table_vertical_2"/>
          <p:cNvCxnSpPr/>
          <p:nvPr/>
        </p:nvCxnSpPr>
        <p:spPr>
          <a:xfrm>
            <a:off x="5852159" y="7315199"/>
            <a:ext cx="0" cy="16764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table_vertical_3" descr="Editable line; source id table_vertical_3"/>
          <p:cNvCxnSpPr/>
          <p:nvPr/>
        </p:nvCxnSpPr>
        <p:spPr>
          <a:xfrm>
            <a:off x="7559039" y="7315199"/>
            <a:ext cx="0" cy="16764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table_vertical_4" descr="Editable line; source id table_vertical_4"/>
          <p:cNvCxnSpPr/>
          <p:nvPr/>
        </p:nvCxnSpPr>
        <p:spPr>
          <a:xfrm>
            <a:off x="9265919" y="7315199"/>
            <a:ext cx="0" cy="16764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table_vertical_5" descr="Editable line; source id table_vertical_5"/>
          <p:cNvCxnSpPr/>
          <p:nvPr/>
        </p:nvCxnSpPr>
        <p:spPr>
          <a:xfrm>
            <a:off x="10972799" y="7315199"/>
            <a:ext cx="0" cy="16764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row_labels_left" descr="Editable line; source id row_labels_left"/>
          <p:cNvCxnSpPr/>
          <p:nvPr/>
        </p:nvCxnSpPr>
        <p:spPr>
          <a:xfrm>
            <a:off x="1000124" y="7594599"/>
            <a:ext cx="0" cy="139700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table_horizontal_1" descr="Editable line; source id table_horizontal_1"/>
          <p:cNvCxnSpPr/>
          <p:nvPr/>
        </p:nvCxnSpPr>
        <p:spPr>
          <a:xfrm>
            <a:off x="1000124" y="7594599"/>
            <a:ext cx="9972675" cy="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table_horizontal_2" descr="Editable line; source id table_horizontal_2"/>
          <p:cNvCxnSpPr/>
          <p:nvPr/>
        </p:nvCxnSpPr>
        <p:spPr>
          <a:xfrm>
            <a:off x="1000124" y="7873999"/>
            <a:ext cx="9972675" cy="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table_horizontal_3" descr="Editable line; source id table_horizontal_3"/>
          <p:cNvCxnSpPr/>
          <p:nvPr/>
        </p:nvCxnSpPr>
        <p:spPr>
          <a:xfrm>
            <a:off x="1000124" y="8153399"/>
            <a:ext cx="9972675" cy="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table_horizontal_4" descr="Editable line; source id table_horizontal_4"/>
          <p:cNvCxnSpPr/>
          <p:nvPr/>
        </p:nvCxnSpPr>
        <p:spPr>
          <a:xfrm>
            <a:off x="1000124" y="8432799"/>
            <a:ext cx="9972675" cy="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table_horizontal_5" descr="Editable line; source id table_horizontal_5"/>
          <p:cNvCxnSpPr/>
          <p:nvPr/>
        </p:nvCxnSpPr>
        <p:spPr>
          <a:xfrm>
            <a:off x="1000124" y="8712199"/>
            <a:ext cx="9972675" cy="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table_horizontal_6" descr="Editable line; source id table_horizontal_6"/>
          <p:cNvCxnSpPr/>
          <p:nvPr/>
        </p:nvCxnSpPr>
        <p:spPr>
          <a:xfrm>
            <a:off x="1000124" y="8991599"/>
            <a:ext cx="9972675" cy="0"/>
          </a:xfrm>
          <a:prstGeom prst="line">
            <a:avLst/>
          </a:prstGeom>
          <a:ln w="25717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itle" descr="Editable text; source id title"/>
          <p:cNvSpPr txBox="1"/>
          <p:nvPr/>
        </p:nvSpPr>
        <p:spPr>
          <a:xfrm>
            <a:off x="5048249" y="601979"/>
            <a:ext cx="3314699" cy="4571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3074"/>
              </a:lnSpc>
              <a:spcBef>
                <a:spcPts val="0"/>
              </a:spcBef>
              <a:spcAft>
                <a:spcPts val="0"/>
              </a:spcAft>
              <a:defRPr sz="2499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499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Loss by Disaster</a:t>
            </a:r>
          </a:p>
        </p:txBody>
      </p:sp>
      <p:sp>
        <p:nvSpPr>
          <p:cNvPr id="57" name="tick_label_0" descr="Editable text; source id tick_label_0"/>
          <p:cNvSpPr txBox="1"/>
          <p:nvPr/>
        </p:nvSpPr>
        <p:spPr>
          <a:xfrm>
            <a:off x="1466849" y="7153274"/>
            <a:ext cx="771524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0</a:t>
            </a:r>
          </a:p>
        </p:txBody>
      </p:sp>
      <p:sp>
        <p:nvSpPr>
          <p:cNvPr id="58" name="tick_label_500" descr="Editable text; source id tick_label_500"/>
          <p:cNvSpPr txBox="1"/>
          <p:nvPr/>
        </p:nvSpPr>
        <p:spPr>
          <a:xfrm>
            <a:off x="1466849" y="5777864"/>
            <a:ext cx="771524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500</a:t>
            </a:r>
          </a:p>
        </p:txBody>
      </p:sp>
      <p:sp>
        <p:nvSpPr>
          <p:cNvPr id="59" name="tick_label_1000" descr="Editable text; source id tick_label_1000"/>
          <p:cNvSpPr txBox="1"/>
          <p:nvPr/>
        </p:nvSpPr>
        <p:spPr>
          <a:xfrm>
            <a:off x="1466849" y="4402454"/>
            <a:ext cx="771524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1000</a:t>
            </a:r>
          </a:p>
        </p:txBody>
      </p:sp>
      <p:sp>
        <p:nvSpPr>
          <p:cNvPr id="60" name="tick_label_1500" descr="Editable text; source id tick_label_1500"/>
          <p:cNvSpPr txBox="1"/>
          <p:nvPr/>
        </p:nvSpPr>
        <p:spPr>
          <a:xfrm>
            <a:off x="1466849" y="3025139"/>
            <a:ext cx="771524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1500</a:t>
            </a:r>
          </a:p>
        </p:txBody>
      </p:sp>
      <p:sp>
        <p:nvSpPr>
          <p:cNvPr id="61" name="tick_label_2000" descr="Editable text; source id tick_label_2000"/>
          <p:cNvSpPr txBox="1"/>
          <p:nvPr/>
        </p:nvSpPr>
        <p:spPr>
          <a:xfrm>
            <a:off x="1466849" y="1649729"/>
            <a:ext cx="771524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2000</a:t>
            </a:r>
          </a:p>
        </p:txBody>
      </p:sp>
      <p:sp>
        <p:nvSpPr>
          <p:cNvPr id="62" name="header_0" descr="Editable text; source id header_0"/>
          <p:cNvSpPr txBox="1"/>
          <p:nvPr/>
        </p:nvSpPr>
        <p:spPr>
          <a:xfrm>
            <a:off x="2495549" y="7263764"/>
            <a:ext cx="159257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Freeze</a:t>
            </a:r>
          </a:p>
        </p:txBody>
      </p:sp>
      <p:sp>
        <p:nvSpPr>
          <p:cNvPr id="63" name="header_1" descr="Editable text; source id header_1"/>
          <p:cNvSpPr txBox="1"/>
          <p:nvPr/>
        </p:nvSpPr>
        <p:spPr>
          <a:xfrm>
            <a:off x="4202429" y="7263764"/>
            <a:ext cx="159257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Wind</a:t>
            </a:r>
          </a:p>
        </p:txBody>
      </p:sp>
      <p:sp>
        <p:nvSpPr>
          <p:cNvPr id="64" name="header_2" descr="Editable text; source id header_2"/>
          <p:cNvSpPr txBox="1"/>
          <p:nvPr/>
        </p:nvSpPr>
        <p:spPr>
          <a:xfrm>
            <a:off x="5909309" y="7263764"/>
            <a:ext cx="159257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Flood</a:t>
            </a:r>
          </a:p>
        </p:txBody>
      </p:sp>
      <p:sp>
        <p:nvSpPr>
          <p:cNvPr id="65" name="header_3" descr="Editable text; source id header_3"/>
          <p:cNvSpPr txBox="1"/>
          <p:nvPr/>
        </p:nvSpPr>
        <p:spPr>
          <a:xfrm>
            <a:off x="7616189" y="7263764"/>
            <a:ext cx="159257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Quake</a:t>
            </a:r>
          </a:p>
        </p:txBody>
      </p:sp>
      <p:sp>
        <p:nvSpPr>
          <p:cNvPr id="66" name="header_4" descr="Editable text; source id header_4"/>
          <p:cNvSpPr txBox="1"/>
          <p:nvPr/>
        </p:nvSpPr>
        <p:spPr>
          <a:xfrm>
            <a:off x="9323069" y="7263764"/>
            <a:ext cx="159257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Hail</a:t>
            </a:r>
          </a:p>
        </p:txBody>
      </p:sp>
      <p:sp>
        <p:nvSpPr>
          <p:cNvPr id="67" name="row_label_0" descr="Editable text; source id row_label_0"/>
          <p:cNvSpPr txBox="1"/>
          <p:nvPr/>
        </p:nvSpPr>
        <p:spPr>
          <a:xfrm>
            <a:off x="1142999" y="7541418"/>
            <a:ext cx="127253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100 year</a:t>
            </a:r>
          </a:p>
        </p:txBody>
      </p:sp>
      <p:sp>
        <p:nvSpPr>
          <p:cNvPr id="68" name="number_0_0" descr="Editable text; source id number_0_0"/>
          <p:cNvSpPr txBox="1"/>
          <p:nvPr/>
        </p:nvSpPr>
        <p:spPr>
          <a:xfrm>
            <a:off x="2609087" y="75469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431.5</a:t>
            </a:r>
          </a:p>
        </p:txBody>
      </p:sp>
      <p:sp>
        <p:nvSpPr>
          <p:cNvPr id="69" name="number_0_1" descr="Editable text; source id number_0_1"/>
          <p:cNvSpPr txBox="1"/>
          <p:nvPr/>
        </p:nvSpPr>
        <p:spPr>
          <a:xfrm>
            <a:off x="4315967" y="75469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1049.4</a:t>
            </a:r>
          </a:p>
        </p:txBody>
      </p:sp>
      <p:sp>
        <p:nvSpPr>
          <p:cNvPr id="70" name="number_0_2" descr="Editable text; source id number_0_2"/>
          <p:cNvSpPr txBox="1"/>
          <p:nvPr/>
        </p:nvSpPr>
        <p:spPr>
          <a:xfrm>
            <a:off x="6022847" y="75469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799.6</a:t>
            </a:r>
          </a:p>
        </p:txBody>
      </p:sp>
      <p:sp>
        <p:nvSpPr>
          <p:cNvPr id="71" name="number_0_3" descr="Editable text; source id number_0_3"/>
          <p:cNvSpPr txBox="1"/>
          <p:nvPr/>
        </p:nvSpPr>
        <p:spPr>
          <a:xfrm>
            <a:off x="7729727" y="75469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2149.8</a:t>
            </a:r>
          </a:p>
        </p:txBody>
      </p:sp>
      <p:sp>
        <p:nvSpPr>
          <p:cNvPr id="72" name="number_0_4" descr="Editable text; source id number_0_4"/>
          <p:cNvSpPr txBox="1"/>
          <p:nvPr/>
        </p:nvSpPr>
        <p:spPr>
          <a:xfrm>
            <a:off x="9436607" y="75469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917.9</a:t>
            </a:r>
          </a:p>
        </p:txBody>
      </p:sp>
      <p:sp>
        <p:nvSpPr>
          <p:cNvPr id="73" name="row_label_1" descr="Editable text; source id row_label_1"/>
          <p:cNvSpPr txBox="1"/>
          <p:nvPr/>
        </p:nvSpPr>
        <p:spPr>
          <a:xfrm>
            <a:off x="1142999" y="7820818"/>
            <a:ext cx="127253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50 year</a:t>
            </a:r>
          </a:p>
        </p:txBody>
      </p:sp>
      <p:sp>
        <p:nvSpPr>
          <p:cNvPr id="74" name="number_1_0" descr="Editable text; source id number_1_0"/>
          <p:cNvSpPr txBox="1"/>
          <p:nvPr/>
        </p:nvSpPr>
        <p:spPr>
          <a:xfrm>
            <a:off x="2609087" y="78263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292.2</a:t>
            </a:r>
          </a:p>
        </p:txBody>
      </p:sp>
      <p:sp>
        <p:nvSpPr>
          <p:cNvPr id="75" name="number_1_1" descr="Editable text; source id number_1_1"/>
          <p:cNvSpPr txBox="1"/>
          <p:nvPr/>
        </p:nvSpPr>
        <p:spPr>
          <a:xfrm>
            <a:off x="4315967" y="78263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717.8</a:t>
            </a:r>
          </a:p>
        </p:txBody>
      </p:sp>
      <p:sp>
        <p:nvSpPr>
          <p:cNvPr id="76" name="number_1_2" descr="Editable text; source id number_1_2"/>
          <p:cNvSpPr txBox="1"/>
          <p:nvPr/>
        </p:nvSpPr>
        <p:spPr>
          <a:xfrm>
            <a:off x="6022847" y="78263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456.4</a:t>
            </a:r>
          </a:p>
        </p:txBody>
      </p:sp>
      <p:sp>
        <p:nvSpPr>
          <p:cNvPr id="77" name="number_1_3" descr="Editable text; source id number_1_3"/>
          <p:cNvSpPr txBox="1"/>
          <p:nvPr/>
        </p:nvSpPr>
        <p:spPr>
          <a:xfrm>
            <a:off x="7729727" y="78263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1368.5</a:t>
            </a:r>
          </a:p>
        </p:txBody>
      </p:sp>
      <p:sp>
        <p:nvSpPr>
          <p:cNvPr id="78" name="number_1_4" descr="Editable text; source id number_1_4"/>
          <p:cNvSpPr txBox="1"/>
          <p:nvPr/>
        </p:nvSpPr>
        <p:spPr>
          <a:xfrm>
            <a:off x="9436607" y="78263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865.6</a:t>
            </a:r>
          </a:p>
        </p:txBody>
      </p:sp>
      <p:sp>
        <p:nvSpPr>
          <p:cNvPr id="79" name="row_label_2" descr="Editable text; source id row_label_2"/>
          <p:cNvSpPr txBox="1"/>
          <p:nvPr/>
        </p:nvSpPr>
        <p:spPr>
          <a:xfrm>
            <a:off x="1142999" y="8100218"/>
            <a:ext cx="127253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20 year</a:t>
            </a:r>
          </a:p>
        </p:txBody>
      </p:sp>
      <p:sp>
        <p:nvSpPr>
          <p:cNvPr id="80" name="number_2_0" descr="Editable text; source id number_2_0"/>
          <p:cNvSpPr txBox="1"/>
          <p:nvPr/>
        </p:nvSpPr>
        <p:spPr>
          <a:xfrm>
            <a:off x="2609087" y="81057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213.8</a:t>
            </a:r>
          </a:p>
        </p:txBody>
      </p:sp>
      <p:sp>
        <p:nvSpPr>
          <p:cNvPr id="81" name="number_2_1" descr="Editable text; source id number_2_1"/>
          <p:cNvSpPr txBox="1"/>
          <p:nvPr/>
        </p:nvSpPr>
        <p:spPr>
          <a:xfrm>
            <a:off x="4315967" y="81057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636.0</a:t>
            </a:r>
          </a:p>
        </p:txBody>
      </p:sp>
      <p:sp>
        <p:nvSpPr>
          <p:cNvPr id="82" name="number_2_2" descr="Editable text; source id number_2_2"/>
          <p:cNvSpPr txBox="1"/>
          <p:nvPr/>
        </p:nvSpPr>
        <p:spPr>
          <a:xfrm>
            <a:off x="6022847" y="81057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305.7</a:t>
            </a:r>
          </a:p>
        </p:txBody>
      </p:sp>
      <p:sp>
        <p:nvSpPr>
          <p:cNvPr id="83" name="number_2_3" descr="Editable text; source id number_2_3"/>
          <p:cNvSpPr txBox="1"/>
          <p:nvPr/>
        </p:nvSpPr>
        <p:spPr>
          <a:xfrm>
            <a:off x="7729727" y="81057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1175.2</a:t>
            </a:r>
          </a:p>
        </p:txBody>
      </p:sp>
      <p:sp>
        <p:nvSpPr>
          <p:cNvPr id="84" name="number_2_4" descr="Editable text; source id number_2_4"/>
          <p:cNvSpPr txBox="1"/>
          <p:nvPr/>
        </p:nvSpPr>
        <p:spPr>
          <a:xfrm>
            <a:off x="9436607" y="81057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796.0</a:t>
            </a:r>
          </a:p>
        </p:txBody>
      </p:sp>
      <p:sp>
        <p:nvSpPr>
          <p:cNvPr id="85" name="row_label_3" descr="Editable text; source id row_label_3"/>
          <p:cNvSpPr txBox="1"/>
          <p:nvPr/>
        </p:nvSpPr>
        <p:spPr>
          <a:xfrm>
            <a:off x="1142999" y="8379618"/>
            <a:ext cx="127253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10 year</a:t>
            </a:r>
          </a:p>
        </p:txBody>
      </p:sp>
      <p:sp>
        <p:nvSpPr>
          <p:cNvPr id="86" name="number_3_0" descr="Editable text; source id number_3_0"/>
          <p:cNvSpPr txBox="1"/>
          <p:nvPr/>
        </p:nvSpPr>
        <p:spPr>
          <a:xfrm>
            <a:off x="2609087" y="83851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124.6</a:t>
            </a:r>
          </a:p>
        </p:txBody>
      </p:sp>
      <p:sp>
        <p:nvSpPr>
          <p:cNvPr id="87" name="number_3_1" descr="Editable text; source id number_3_1"/>
          <p:cNvSpPr txBox="1"/>
          <p:nvPr/>
        </p:nvSpPr>
        <p:spPr>
          <a:xfrm>
            <a:off x="4315967" y="83851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555.4</a:t>
            </a:r>
          </a:p>
        </p:txBody>
      </p:sp>
      <p:sp>
        <p:nvSpPr>
          <p:cNvPr id="88" name="number_3_2" descr="Editable text; source id number_3_2"/>
          <p:cNvSpPr txBox="1"/>
          <p:nvPr/>
        </p:nvSpPr>
        <p:spPr>
          <a:xfrm>
            <a:off x="6022847" y="83851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153.2</a:t>
            </a:r>
          </a:p>
        </p:txBody>
      </p:sp>
      <p:sp>
        <p:nvSpPr>
          <p:cNvPr id="89" name="number_3_3" descr="Editable text; source id number_3_3"/>
          <p:cNvSpPr txBox="1"/>
          <p:nvPr/>
        </p:nvSpPr>
        <p:spPr>
          <a:xfrm>
            <a:off x="7729727" y="83851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677.2</a:t>
            </a:r>
          </a:p>
        </p:txBody>
      </p:sp>
      <p:sp>
        <p:nvSpPr>
          <p:cNvPr id="90" name="number_3_4" descr="Editable text; source id number_3_4"/>
          <p:cNvSpPr txBox="1"/>
          <p:nvPr/>
        </p:nvSpPr>
        <p:spPr>
          <a:xfrm>
            <a:off x="9436607" y="83851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192.5</a:t>
            </a:r>
          </a:p>
        </p:txBody>
      </p:sp>
      <p:sp>
        <p:nvSpPr>
          <p:cNvPr id="91" name="row_label_4" descr="Editable text; source id row_label_4"/>
          <p:cNvSpPr txBox="1"/>
          <p:nvPr/>
        </p:nvSpPr>
        <p:spPr>
          <a:xfrm>
            <a:off x="1142999" y="8659018"/>
            <a:ext cx="1272539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5 year</a:t>
            </a:r>
          </a:p>
        </p:txBody>
      </p:sp>
      <p:sp>
        <p:nvSpPr>
          <p:cNvPr id="92" name="number_4_0" descr="Editable text; source id number_4_0"/>
          <p:cNvSpPr txBox="1"/>
          <p:nvPr/>
        </p:nvSpPr>
        <p:spPr>
          <a:xfrm>
            <a:off x="2609087" y="86645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66.4</a:t>
            </a:r>
          </a:p>
        </p:txBody>
      </p:sp>
      <p:sp>
        <p:nvSpPr>
          <p:cNvPr id="93" name="number_4_1" descr="Editable text; source id number_4_1"/>
          <p:cNvSpPr txBox="1"/>
          <p:nvPr/>
        </p:nvSpPr>
        <p:spPr>
          <a:xfrm>
            <a:off x="4315967" y="86645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174.3</a:t>
            </a:r>
          </a:p>
        </p:txBody>
      </p:sp>
      <p:sp>
        <p:nvSpPr>
          <p:cNvPr id="94" name="number_4_2" descr="Editable text; source id number_4_2"/>
          <p:cNvSpPr txBox="1"/>
          <p:nvPr/>
        </p:nvSpPr>
        <p:spPr>
          <a:xfrm>
            <a:off x="6022847" y="86645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75.1</a:t>
            </a:r>
          </a:p>
        </p:txBody>
      </p:sp>
      <p:sp>
        <p:nvSpPr>
          <p:cNvPr id="95" name="number_4_3" descr="Editable text; source id number_4_3"/>
          <p:cNvSpPr txBox="1"/>
          <p:nvPr/>
        </p:nvSpPr>
        <p:spPr>
          <a:xfrm>
            <a:off x="7729727" y="86645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577.9</a:t>
            </a:r>
          </a:p>
        </p:txBody>
      </p:sp>
      <p:sp>
        <p:nvSpPr>
          <p:cNvPr id="96" name="number_4_4" descr="Editable text; source id number_4_4"/>
          <p:cNvSpPr txBox="1"/>
          <p:nvPr/>
        </p:nvSpPr>
        <p:spPr>
          <a:xfrm>
            <a:off x="9436607" y="8664574"/>
            <a:ext cx="1365503" cy="35432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r" fontAlgn="base">
              <a:lnSpc>
                <a:spcPts val="2549"/>
              </a:lnSpc>
              <a:spcBef>
                <a:spcPts val="0"/>
              </a:spcBef>
              <a:spcAft>
                <a:spcPts val="0"/>
              </a:spcAft>
              <a:def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pPr>
            <a:r>
              <a:rPr sz="2083" b="0" i="0" lang="zh-CN" dirty="0">
                <a:solidFill>
                  <a:srgbClr val="000000"/>
                </a:solidFill>
                <a:latin typeface="Verdana"/>
                <a:ea typeface="Verdana"/>
                <a:cs typeface="Verdana"/>
              </a:rPr>
              <a:t>32.0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by Disaster — editable source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