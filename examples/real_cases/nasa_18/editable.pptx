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9143999"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Reconstructed from the provided NASA page 18 screenshot only. No original speaker notes were supplied. Source wording Software Bus) is retained exactly. Connector endpoints use fixed source coordinates and do not automatically reroute after a node is moved. Header texture and both brand marks are the only raster assets.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header_nasa" descr="Exact crop of user-authorized nasa_blank_header.png from the same NASA presentation; not generated."/>
          <p:cNvPicPr>
            <a:picLocks noChangeAspect="1"/>
          </p:cNvPicPr>
          <p:nvPr/>
        </p:nvPicPr>
        <p:blipFill>
          <a:blip r:embed="rId2"/>
          <a:stretch>
            <a:fillRect/>
          </a:stretch>
        </p:blipFill>
        <p:spPr>
          <a:xfrm>
            <a:off x="0" y="0"/>
            <a:ext cx="1142999" cy="1021079"/>
          </a:xfrm>
          <a:prstGeom prst="rect">
            <a:avLst/>
          </a:prstGeom>
          <a:effectLst/>
        </p:spPr>
      </p:pic>
      <p:pic>
        <p:nvPicPr>
          <p:cNvPr id="3" name="header_texture" descr="Exact crop of user-authorized nasa_blank_header.png from the same NASA presentation; not generated."/>
          <p:cNvPicPr>
            <a:picLocks noChangeAspect="1"/>
          </p:cNvPicPr>
          <p:nvPr/>
        </p:nvPicPr>
        <p:blipFill>
          <a:blip r:embed="rId3"/>
          <a:stretch>
            <a:fillRect/>
          </a:stretch>
        </p:blipFill>
        <p:spPr>
          <a:xfrm>
            <a:off x="1142999" y="0"/>
            <a:ext cx="9662159" cy="1021079"/>
          </a:xfrm>
          <a:prstGeom prst="rect">
            <a:avLst/>
          </a:prstGeom>
          <a:effectLst/>
        </p:spPr>
      </p:pic>
      <p:pic>
        <p:nvPicPr>
          <p:cNvPr id="4" name="header_cfs" descr="Exact crop of user-authorized nasa_blank_header.png from the same NASA presentation; not generated."/>
          <p:cNvPicPr>
            <a:picLocks noChangeAspect="1"/>
          </p:cNvPicPr>
          <p:nvPr/>
        </p:nvPicPr>
        <p:blipFill>
          <a:blip r:embed="rId4"/>
          <a:stretch>
            <a:fillRect/>
          </a:stretch>
        </p:blipFill>
        <p:spPr>
          <a:xfrm>
            <a:off x="10805159" y="0"/>
            <a:ext cx="1386839" cy="1021079"/>
          </a:xfrm>
          <a:prstGeom prst="rect">
            <a:avLst/>
          </a:prstGeom>
          <a:effectLst/>
        </p:spPr>
      </p:pic>
      <p:sp>
        <p:nvSpPr>
          <p:cNvPr id="5" name="storage_bottom" descr="Editable shape; source id storage_bottom"/>
          <p:cNvSpPr/>
          <p:nvPr/>
        </p:nvSpPr>
        <p:spPr>
          <a:xfrm>
            <a:off x="10066019" y="1844039"/>
            <a:ext cx="1051559" cy="289559"/>
          </a:xfrm>
          <a:prstGeom prst="ellipse">
            <a:avLst/>
          </a:prstGeom>
          <a:solidFill>
            <a:srgbClr val="FFFFFF"/>
          </a:solidFill>
          <a:ln w="876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storage_body" descr="Editable shape; source id storage_body"/>
          <p:cNvSpPr/>
          <p:nvPr/>
        </p:nvSpPr>
        <p:spPr>
          <a:xfrm>
            <a:off x="10066019" y="1363979"/>
            <a:ext cx="1051559" cy="624839"/>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7" name="storage_left_side" descr="Editable line; source id storage_left_side"/>
          <p:cNvCxnSpPr/>
          <p:nvPr/>
        </p:nvCxnSpPr>
        <p:spPr>
          <a:xfrm>
            <a:off x="10066019" y="1363979"/>
            <a:ext cx="0" cy="624840"/>
          </a:xfrm>
          <a:prstGeom prst="line">
            <a:avLst/>
          </a:prstGeom>
          <a:ln w="8762">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8" name="storage_right_side" descr="Editable line; source id storage_right_side"/>
          <p:cNvCxnSpPr/>
          <p:nvPr/>
        </p:nvCxnSpPr>
        <p:spPr>
          <a:xfrm>
            <a:off x="11117579" y="1363979"/>
            <a:ext cx="0" cy="624840"/>
          </a:xfrm>
          <a:prstGeom prst="line">
            <a:avLst/>
          </a:prstGeom>
          <a:ln w="8762">
            <a:solidFill>
              <a:srgbClr val="000000"/>
            </a:solidFill>
          </a:ln>
          <a:effectLst/>
        </p:spPr>
        <p:style>
          <a:lnRef idx="2">
            <a:schemeClr val="accent1"/>
          </a:lnRef>
          <a:fillRef idx="0">
            <a:schemeClr val="accent1"/>
          </a:fillRef>
          <a:effectRef idx="0">
            <a:schemeClr val="accent1"/>
          </a:effectRef>
          <a:fontRef idx="minor">
            <a:schemeClr val="tx1"/>
          </a:fontRef>
        </p:style>
      </p:cxnSp>
      <p:sp>
        <p:nvSpPr>
          <p:cNvPr id="9" name="storage_top" descr="Editable shape; source id storage_top"/>
          <p:cNvSpPr/>
          <p:nvPr/>
        </p:nvSpPr>
        <p:spPr>
          <a:xfrm>
            <a:off x="10066019" y="1219199"/>
            <a:ext cx="1051559" cy="289559"/>
          </a:xfrm>
          <a:prstGeom prst="ellipse">
            <a:avLst/>
          </a:prstGeom>
          <a:solidFill>
            <a:srgbClr val="FFFFFF"/>
          </a:solidFill>
          <a:ln w="876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 name="scheduler_bus_a" descr="Editable line; source id scheduler_bus_a"/>
          <p:cNvCxnSpPr/>
          <p:nvPr/>
        </p:nvCxnSpPr>
        <p:spPr>
          <a:xfrm flipV="1">
            <a:off x="2844545" y="2781299"/>
            <a:ext cx="0" cy="249555"/>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11" name="scheduler_bus_b" descr="Editable line; source id scheduler_bus_b"/>
          <p:cNvCxnSpPr/>
          <p:nvPr/>
        </p:nvCxnSpPr>
        <p:spPr>
          <a:xfrm>
            <a:off x="2844545" y="3030854"/>
            <a:ext cx="0" cy="249555"/>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12" name="limit_checker_bus_a" descr="Editable line; source id limit_checker_bus_a"/>
          <p:cNvCxnSpPr/>
          <p:nvPr/>
        </p:nvCxnSpPr>
        <p:spPr>
          <a:xfrm flipV="1">
            <a:off x="4225289" y="2756153"/>
            <a:ext cx="0" cy="256413"/>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13" name="limit_checker_bus_b" descr="Editable line; source id limit_checker_bus_b"/>
          <p:cNvCxnSpPr/>
          <p:nvPr/>
        </p:nvCxnSpPr>
        <p:spPr>
          <a:xfrm>
            <a:off x="4225289" y="3012566"/>
            <a:ext cx="0" cy="256413"/>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14" name="memory_manager_bus_a" descr="Editable line; source id memory_manager_bus_a"/>
          <p:cNvCxnSpPr/>
          <p:nvPr/>
        </p:nvCxnSpPr>
        <p:spPr>
          <a:xfrm flipV="1">
            <a:off x="5543549" y="2777489"/>
            <a:ext cx="0" cy="243840"/>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15" name="memory_manager_bus_b" descr="Editable line; source id memory_manager_bus_b"/>
          <p:cNvCxnSpPr/>
          <p:nvPr/>
        </p:nvCxnSpPr>
        <p:spPr>
          <a:xfrm>
            <a:off x="5543549" y="3021329"/>
            <a:ext cx="0" cy="243840"/>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16" name="space_wire_bus_a" descr="Editable line; source id space_wire_bus_a"/>
          <p:cNvCxnSpPr/>
          <p:nvPr/>
        </p:nvCxnSpPr>
        <p:spPr>
          <a:xfrm flipV="1">
            <a:off x="7094981" y="2785109"/>
            <a:ext cx="0" cy="245745"/>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17" name="space_wire_bus_b" descr="Editable line; source id space_wire_bus_b"/>
          <p:cNvCxnSpPr/>
          <p:nvPr/>
        </p:nvCxnSpPr>
        <p:spPr>
          <a:xfrm>
            <a:off x="7094981" y="3030854"/>
            <a:ext cx="0" cy="245745"/>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18" name="instrument_manager_bus_a" descr="Editable line; source id instrument_manager_bus_a"/>
          <p:cNvCxnSpPr/>
          <p:nvPr/>
        </p:nvCxnSpPr>
        <p:spPr>
          <a:xfrm flipV="1">
            <a:off x="8311895" y="2773679"/>
            <a:ext cx="0" cy="249555"/>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19" name="instrument_manager_bus_b" descr="Editable line; source id instrument_manager_bus_b"/>
          <p:cNvCxnSpPr/>
          <p:nvPr/>
        </p:nvCxnSpPr>
        <p:spPr>
          <a:xfrm>
            <a:off x="8311895" y="3023234"/>
            <a:ext cx="0" cy="249555"/>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20" name="cfdp_transfer_bus_a" descr="Editable line; source id cfdp_transfer_bus_a"/>
          <p:cNvCxnSpPr/>
          <p:nvPr/>
        </p:nvCxnSpPr>
        <p:spPr>
          <a:xfrm flipV="1">
            <a:off x="9428225" y="2773679"/>
            <a:ext cx="0" cy="247650"/>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21" name="cfdp_transfer_bus_b" descr="Editable line; source id cfdp_transfer_bus_b"/>
          <p:cNvCxnSpPr/>
          <p:nvPr/>
        </p:nvCxnSpPr>
        <p:spPr>
          <a:xfrm>
            <a:off x="9428225" y="3021329"/>
            <a:ext cx="0" cy="247650"/>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22" name="stored_command_bus_a" descr="Editable line; source id stored_command_bus_a"/>
          <p:cNvCxnSpPr/>
          <p:nvPr/>
        </p:nvCxnSpPr>
        <p:spPr>
          <a:xfrm flipH="1">
            <a:off x="1729739" y="3817619"/>
            <a:ext cx="200025" cy="0"/>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23" name="stored_command_bus_b" descr="Editable line; source id stored_command_bus_b"/>
          <p:cNvCxnSpPr/>
          <p:nvPr/>
        </p:nvCxnSpPr>
        <p:spPr>
          <a:xfrm>
            <a:off x="1929764" y="3817619"/>
            <a:ext cx="200025" cy="0"/>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24" name="packet_manager_bus_a" descr="Editable line; source id packet_manager_bus_a"/>
          <p:cNvCxnSpPr/>
          <p:nvPr/>
        </p:nvCxnSpPr>
        <p:spPr>
          <a:xfrm flipH="1">
            <a:off x="1729739" y="4935473"/>
            <a:ext cx="200025" cy="0"/>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25" name="packet_manager_bus_b" descr="Editable line; source id packet_manager_bus_b"/>
          <p:cNvCxnSpPr/>
          <p:nvPr/>
        </p:nvCxnSpPr>
        <p:spPr>
          <a:xfrm>
            <a:off x="1929764" y="4935473"/>
            <a:ext cx="200025" cy="0"/>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26" name="instruments_space_wire_a" descr="Editable line; source id instruments_space_wire_a"/>
          <p:cNvCxnSpPr/>
          <p:nvPr/>
        </p:nvCxnSpPr>
        <p:spPr>
          <a:xfrm flipV="1">
            <a:off x="7120889" y="1626869"/>
            <a:ext cx="0" cy="150495"/>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27" name="instruments_space_wire_b" descr="Editable line; source id instruments_space_wire_b"/>
          <p:cNvCxnSpPr/>
          <p:nvPr/>
        </p:nvCxnSpPr>
        <p:spPr>
          <a:xfrm>
            <a:off x="7120889" y="1777364"/>
            <a:ext cx="0" cy="150495"/>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28" name="instruments_manager_a" descr="Editable line; source id instruments_manager_a"/>
          <p:cNvCxnSpPr/>
          <p:nvPr/>
        </p:nvCxnSpPr>
        <p:spPr>
          <a:xfrm flipH="1" flipV="1">
            <a:off x="7532369" y="1626869"/>
            <a:ext cx="299085" cy="200025"/>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29" name="instruments_manager_b" descr="Editable line; source id instruments_manager_b"/>
          <p:cNvCxnSpPr/>
          <p:nvPr/>
        </p:nvCxnSpPr>
        <p:spPr>
          <a:xfrm>
            <a:off x="7831454" y="1826894"/>
            <a:ext cx="299085" cy="200025"/>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0" name="manager_storage_vertical" descr="Editable line; source id manager_storage_vertical"/>
          <p:cNvCxnSpPr/>
          <p:nvPr/>
        </p:nvCxnSpPr>
        <p:spPr>
          <a:xfrm>
            <a:off x="8342375" y="1626869"/>
            <a:ext cx="0" cy="299466"/>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1" name="manager_storage_horizontal" descr="Editable line; source id manager_storage_horizontal"/>
          <p:cNvCxnSpPr/>
          <p:nvPr/>
        </p:nvCxnSpPr>
        <p:spPr>
          <a:xfrm>
            <a:off x="8342375" y="1626869"/>
            <a:ext cx="1722120" cy="0"/>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2" name="cfdp_storage" descr="Editable line; source id cfdp_storage"/>
          <p:cNvCxnSpPr/>
          <p:nvPr/>
        </p:nvCxnSpPr>
        <p:spPr>
          <a:xfrm flipV="1">
            <a:off x="9692639" y="1828799"/>
            <a:ext cx="373380" cy="179832"/>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3" name="data_bus_a" descr="Editable line; source id data_bus_a"/>
          <p:cNvCxnSpPr/>
          <p:nvPr/>
        </p:nvCxnSpPr>
        <p:spPr>
          <a:xfrm flipH="1">
            <a:off x="9963149" y="3465575"/>
            <a:ext cx="230505" cy="0"/>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4" name="data_bus_b" descr="Editable line; source id data_bus_b"/>
          <p:cNvCxnSpPr/>
          <p:nvPr/>
        </p:nvCxnSpPr>
        <p:spPr>
          <a:xfrm>
            <a:off x="10193654" y="3465575"/>
            <a:ext cx="230505" cy="0"/>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5" name="file_bus_a" descr="Editable line; source id file_bus_a"/>
          <p:cNvCxnSpPr/>
          <p:nvPr/>
        </p:nvCxnSpPr>
        <p:spPr>
          <a:xfrm flipH="1">
            <a:off x="9963149" y="4379975"/>
            <a:ext cx="192405" cy="0"/>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6" name="file_bus_b" descr="Editable line; source id file_bus_b"/>
          <p:cNvCxnSpPr/>
          <p:nvPr/>
        </p:nvCxnSpPr>
        <p:spPr>
          <a:xfrm>
            <a:off x="10155554" y="4379975"/>
            <a:ext cx="192405" cy="0"/>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7" name="gnc_bus_a" descr="Editable line; source id gnc_bus_a"/>
          <p:cNvCxnSpPr/>
          <p:nvPr/>
        </p:nvCxnSpPr>
        <p:spPr>
          <a:xfrm flipH="1">
            <a:off x="9963149" y="5385815"/>
            <a:ext cx="200025" cy="0"/>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8" name="gnc_bus_b" descr="Editable line; source id gnc_bus_b"/>
          <p:cNvCxnSpPr/>
          <p:nvPr/>
        </p:nvCxnSpPr>
        <p:spPr>
          <a:xfrm>
            <a:off x="10163174" y="5385815"/>
            <a:ext cx="200025" cy="0"/>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9" name="data_storage_up" descr="Editable line; source id data_storage_up"/>
          <p:cNvCxnSpPr/>
          <p:nvPr/>
        </p:nvCxnSpPr>
        <p:spPr>
          <a:xfrm flipV="1">
            <a:off x="10852403" y="2137409"/>
            <a:ext cx="0" cy="819150"/>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0" name="file_storage_vertical" descr="Editable line; source id file_storage_vertical"/>
          <p:cNvCxnSpPr/>
          <p:nvPr/>
        </p:nvCxnSpPr>
        <p:spPr>
          <a:xfrm flipV="1">
            <a:off x="10241279" y="2137409"/>
            <a:ext cx="0" cy="1729740"/>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1" name="file_storage_diagonal" descr="Editable line; source id file_storage_diagonal"/>
          <p:cNvCxnSpPr/>
          <p:nvPr/>
        </p:nvCxnSpPr>
        <p:spPr>
          <a:xfrm>
            <a:off x="10241279" y="3867149"/>
            <a:ext cx="304800" cy="205740"/>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2" name="bus1553_bus_a" descr="Editable line; source id bus1553_bus_a"/>
          <p:cNvCxnSpPr/>
          <p:nvPr/>
        </p:nvCxnSpPr>
        <p:spPr>
          <a:xfrm flipV="1">
            <a:off x="2967989" y="5629655"/>
            <a:ext cx="0" cy="248412"/>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3" name="bus1553_bus_b" descr="Editable line; source id bus1553_bus_b"/>
          <p:cNvCxnSpPr/>
          <p:nvPr/>
        </p:nvCxnSpPr>
        <p:spPr>
          <a:xfrm>
            <a:off x="2967989" y="5878067"/>
            <a:ext cx="0" cy="248412"/>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4" name="telemetry_output_bus_a" descr="Editable line; source id telemetry_output_bus_a"/>
          <p:cNvCxnSpPr/>
          <p:nvPr/>
        </p:nvCxnSpPr>
        <p:spPr>
          <a:xfrm flipV="1">
            <a:off x="4084319" y="5629655"/>
            <a:ext cx="0" cy="248412"/>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5" name="telemetry_output_bus_b" descr="Editable line; source id telemetry_output_bus_b"/>
          <p:cNvCxnSpPr/>
          <p:nvPr/>
        </p:nvCxnSpPr>
        <p:spPr>
          <a:xfrm>
            <a:off x="4084319" y="5878067"/>
            <a:ext cx="0" cy="248412"/>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6" name="command_ingest_bus_a" descr="Editable line; source id command_ingest_bus_a"/>
          <p:cNvCxnSpPr/>
          <p:nvPr/>
        </p:nvCxnSpPr>
        <p:spPr>
          <a:xfrm flipV="1">
            <a:off x="4987289" y="5629655"/>
            <a:ext cx="0" cy="248412"/>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7" name="command_ingest_bus_b" descr="Editable line; source id command_ingest_bus_b"/>
          <p:cNvCxnSpPr/>
          <p:nvPr/>
        </p:nvCxnSpPr>
        <p:spPr>
          <a:xfrm>
            <a:off x="4987289" y="5878067"/>
            <a:ext cx="0" cy="248412"/>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8" name="software_service_bus_a" descr="Editable line; source id software_service_bus_a"/>
          <p:cNvCxnSpPr/>
          <p:nvPr/>
        </p:nvCxnSpPr>
        <p:spPr>
          <a:xfrm flipV="1">
            <a:off x="5914643" y="5629655"/>
            <a:ext cx="0" cy="248412"/>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9" name="software_service_bus_b" descr="Editable line; source id software_service_bus_b"/>
          <p:cNvCxnSpPr/>
          <p:nvPr/>
        </p:nvCxnSpPr>
        <p:spPr>
          <a:xfrm>
            <a:off x="5914643" y="5878067"/>
            <a:ext cx="0" cy="248412"/>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0" name="time_services_bus_a" descr="Editable line; source id time_services_bus_a"/>
          <p:cNvCxnSpPr/>
          <p:nvPr/>
        </p:nvCxnSpPr>
        <p:spPr>
          <a:xfrm flipV="1">
            <a:off x="6918959" y="5629655"/>
            <a:ext cx="0" cy="248412"/>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1" name="time_services_bus_b" descr="Editable line; source id time_services_bus_b"/>
          <p:cNvCxnSpPr/>
          <p:nvPr/>
        </p:nvCxnSpPr>
        <p:spPr>
          <a:xfrm>
            <a:off x="6918959" y="5878067"/>
            <a:ext cx="0" cy="248412"/>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2" name="executive_services_bus_a" descr="Editable line; source id executive_services_bus_a"/>
          <p:cNvCxnSpPr/>
          <p:nvPr/>
        </p:nvCxnSpPr>
        <p:spPr>
          <a:xfrm flipV="1">
            <a:off x="7844789" y="5629655"/>
            <a:ext cx="0" cy="248412"/>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3" name="executive_services_bus_b" descr="Editable line; source id executive_services_bus_b"/>
          <p:cNvCxnSpPr/>
          <p:nvPr/>
        </p:nvCxnSpPr>
        <p:spPr>
          <a:xfrm>
            <a:off x="7844789" y="5878067"/>
            <a:ext cx="0" cy="248412"/>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4" name="event_services_bus_a" descr="Editable line; source id event_services_bus_a"/>
          <p:cNvCxnSpPr/>
          <p:nvPr/>
        </p:nvCxnSpPr>
        <p:spPr>
          <a:xfrm flipV="1">
            <a:off x="8759189" y="5629655"/>
            <a:ext cx="0" cy="248412"/>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5" name="event_services_bus_b" descr="Editable line; source id event_services_bus_b"/>
          <p:cNvCxnSpPr/>
          <p:nvPr/>
        </p:nvCxnSpPr>
        <p:spPr>
          <a:xfrm>
            <a:off x="8759189" y="5878067"/>
            <a:ext cx="0" cy="248412"/>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6" name="table_services_bus_a" descr="Editable line; source id table_services_bus_a"/>
          <p:cNvCxnSpPr/>
          <p:nvPr/>
        </p:nvCxnSpPr>
        <p:spPr>
          <a:xfrm flipV="1">
            <a:off x="9764267" y="5629655"/>
            <a:ext cx="0" cy="248412"/>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7" name="table_services_bus_b" descr="Editable line; source id table_services_bus_b"/>
          <p:cNvCxnSpPr/>
          <p:nvPr/>
        </p:nvCxnSpPr>
        <p:spPr>
          <a:xfrm>
            <a:off x="9764267" y="5878067"/>
            <a:ext cx="0" cy="248412"/>
          </a:xfrm>
          <a:prstGeom prst="line">
            <a:avLst/>
          </a:prstGeom>
          <a:ln w="17144">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8" name="gnc_hardware_bus_a" descr="Editable line; source id gnc_hardware_bus_a"/>
          <p:cNvCxnSpPr/>
          <p:nvPr/>
        </p:nvCxnSpPr>
        <p:spPr>
          <a:xfrm flipV="1">
            <a:off x="2975609" y="7056119"/>
            <a:ext cx="0" cy="251460"/>
          </a:xfrm>
          <a:prstGeom prst="line">
            <a:avLst/>
          </a:prstGeom>
          <a:ln w="13715">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9" name="gnc_hardware_bus_b" descr="Editable line; source id gnc_hardware_bus_b"/>
          <p:cNvCxnSpPr/>
          <p:nvPr/>
        </p:nvCxnSpPr>
        <p:spPr>
          <a:xfrm>
            <a:off x="2975609" y="7307579"/>
            <a:ext cx="0" cy="251460"/>
          </a:xfrm>
          <a:prstGeom prst="line">
            <a:avLst/>
          </a:prstGeom>
          <a:ln w="13715">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0" name="commands_to_ingest_horizontal" descr="Editable line; source id commands_to_ingest_horizontal"/>
          <p:cNvCxnSpPr/>
          <p:nvPr/>
        </p:nvCxnSpPr>
        <p:spPr>
          <a:xfrm flipH="1">
            <a:off x="5016245" y="7467599"/>
            <a:ext cx="2711958" cy="0"/>
          </a:xfrm>
          <a:prstGeom prst="line">
            <a:avLst/>
          </a:prstGeom>
          <a:ln w="13715">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61" name="commands_to_ingest_vertical" descr="Editable line; source id commands_to_ingest_vertical"/>
          <p:cNvCxnSpPr/>
          <p:nvPr/>
        </p:nvCxnSpPr>
        <p:spPr>
          <a:xfrm flipV="1">
            <a:off x="5016245" y="7031735"/>
            <a:ext cx="0" cy="435864"/>
          </a:xfrm>
          <a:prstGeom prst="line">
            <a:avLst/>
          </a:prstGeom>
          <a:ln w="13715">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2" name="telemetry_down" descr="Editable line; source id telemetry_down"/>
          <p:cNvCxnSpPr/>
          <p:nvPr/>
        </p:nvCxnSpPr>
        <p:spPr>
          <a:xfrm>
            <a:off x="4117085" y="7025639"/>
            <a:ext cx="0" cy="649986"/>
          </a:xfrm>
          <a:prstGeom prst="line">
            <a:avLst/>
          </a:prstGeom>
          <a:ln w="13715">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63" name="telemetry_to_interfaces" descr="Editable line; source id telemetry_to_interfaces"/>
          <p:cNvCxnSpPr/>
          <p:nvPr/>
        </p:nvCxnSpPr>
        <p:spPr>
          <a:xfrm>
            <a:off x="4117085" y="7675625"/>
            <a:ext cx="3567684" cy="0"/>
          </a:xfrm>
          <a:prstGeom prst="line">
            <a:avLst/>
          </a:prstGeom>
          <a:ln w="13715">
            <a:solidFill>
              <a:srgbClr val="000000"/>
            </a:solidFill>
            <a:tailEnd type="triangle"/>
          </a:ln>
          <a:effectLst/>
        </p:spPr>
        <p:style>
          <a:lnRef idx="2">
            <a:schemeClr val="accent1"/>
          </a:lnRef>
          <a:fillRef idx="0">
            <a:schemeClr val="accent1"/>
          </a:fillRef>
          <a:effectRef idx="0">
            <a:schemeClr val="accent1"/>
          </a:effectRef>
          <a:fontRef idx="minor">
            <a:schemeClr val="tx1"/>
          </a:fontRef>
        </p:style>
      </p:cxnSp>
      <p:sp>
        <p:nvSpPr>
          <p:cNvPr id="64" name="software_bus_outer" descr="Editable shape; source id software_bus_outer"/>
          <p:cNvSpPr/>
          <p:nvPr/>
        </p:nvSpPr>
        <p:spPr>
          <a:xfrm>
            <a:off x="2129789" y="3280409"/>
            <a:ext cx="7833359" cy="2346959"/>
          </a:xfrm>
          <a:prstGeom prst="rect">
            <a:avLst/>
          </a:prstGeom>
          <a:solidFill>
            <a:srgbClr val="00FF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software_bus_interior" descr="Editable shape; source id software_bus_interior"/>
          <p:cNvSpPr/>
          <p:nvPr/>
        </p:nvSpPr>
        <p:spPr>
          <a:xfrm>
            <a:off x="2392679" y="3528059"/>
            <a:ext cx="7307579" cy="1851659"/>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instruments_back" descr="Editable shape; source id instruments_back"/>
          <p:cNvSpPr/>
          <p:nvPr/>
        </p:nvSpPr>
        <p:spPr>
          <a:xfrm>
            <a:off x="6408419" y="1116329"/>
            <a:ext cx="1363979" cy="396239"/>
          </a:xfrm>
          <a:prstGeom prst="rect">
            <a:avLst/>
          </a:prstGeom>
          <a:solidFill>
            <a:srgbClr val="FFFFFF"/>
          </a:solidFill>
          <a:ln w="876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gnc_back" descr="Editable shape; source id gnc_back"/>
          <p:cNvSpPr/>
          <p:nvPr/>
        </p:nvSpPr>
        <p:spPr>
          <a:xfrm>
            <a:off x="10367009" y="4994909"/>
            <a:ext cx="838199" cy="861059"/>
          </a:xfrm>
          <a:prstGeom prst="ellipse">
            <a:avLst/>
          </a:prstGeom>
          <a:solidFill>
            <a:srgbClr val="FFFF99"/>
          </a:solidFill>
          <a:ln w="8762">
            <a:solidFill>
              <a:srgbClr val="55555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bus1553_shadow" descr="Editable shape; source id bus1553_shadow"/>
          <p:cNvSpPr/>
          <p:nvPr/>
        </p:nvSpPr>
        <p:spPr>
          <a:xfrm>
            <a:off x="2560319" y="6210299"/>
            <a:ext cx="827531" cy="838199"/>
          </a:xfrm>
          <a:prstGeom prst="ellipse">
            <a:avLst/>
          </a:prstGeom>
          <a:solidFill>
            <a:srgbClr val="00CCFF"/>
          </a:solidFill>
          <a:ln w="876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instruments_front" descr="Editable shape; source id instruments_front"/>
          <p:cNvSpPr/>
          <p:nvPr/>
        </p:nvSpPr>
        <p:spPr>
          <a:xfrm>
            <a:off x="6309359" y="1217675"/>
            <a:ext cx="1363979" cy="396239"/>
          </a:xfrm>
          <a:prstGeom prst="rect">
            <a:avLst/>
          </a:prstGeom>
          <a:solidFill>
            <a:srgbClr val="FFFFFF"/>
          </a:solidFill>
          <a:ln w="876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gnc_middle" descr="Editable shape; source id gnc_middle"/>
          <p:cNvSpPr/>
          <p:nvPr/>
        </p:nvSpPr>
        <p:spPr>
          <a:xfrm>
            <a:off x="10420349" y="5010149"/>
            <a:ext cx="838199" cy="861059"/>
          </a:xfrm>
          <a:prstGeom prst="ellipse">
            <a:avLst/>
          </a:prstGeom>
          <a:solidFill>
            <a:srgbClr val="FFFF99"/>
          </a:solidFill>
          <a:ln w="8762">
            <a:solidFill>
              <a:srgbClr val="55555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bus1553" descr="Editable shape; source id bus1553"/>
          <p:cNvSpPr/>
          <p:nvPr/>
        </p:nvSpPr>
        <p:spPr>
          <a:xfrm>
            <a:off x="2548889" y="6198869"/>
            <a:ext cx="822959" cy="832103"/>
          </a:xfrm>
          <a:prstGeom prst="ellipse">
            <a:avLst/>
          </a:prstGeom>
          <a:solidFill>
            <a:srgbClr val="FFFF99"/>
          </a:solidFill>
          <a:ln w="876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scheduler" descr="Editable shape; source id scheduler"/>
          <p:cNvSpPr/>
          <p:nvPr/>
        </p:nvSpPr>
        <p:spPr>
          <a:xfrm>
            <a:off x="2436875" y="1941575"/>
            <a:ext cx="830579" cy="838199"/>
          </a:xfrm>
          <a:prstGeom prst="ellipse">
            <a:avLst/>
          </a:prstGeom>
          <a:solidFill>
            <a:srgbClr val="00CCFF"/>
          </a:solidFill>
          <a:ln w="876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limit_checker" descr="Editable shape; source id limit_checker"/>
          <p:cNvSpPr/>
          <p:nvPr/>
        </p:nvSpPr>
        <p:spPr>
          <a:xfrm>
            <a:off x="3849623" y="1929383"/>
            <a:ext cx="830579" cy="822959"/>
          </a:xfrm>
          <a:prstGeom prst="ellipse">
            <a:avLst/>
          </a:prstGeom>
          <a:solidFill>
            <a:srgbClr val="00CCFF"/>
          </a:solidFill>
          <a:ln w="876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memory_manager" descr="Editable shape; source id memory_manager"/>
          <p:cNvSpPr/>
          <p:nvPr/>
        </p:nvSpPr>
        <p:spPr>
          <a:xfrm>
            <a:off x="5169407" y="1935479"/>
            <a:ext cx="827531" cy="838199"/>
          </a:xfrm>
          <a:prstGeom prst="ellipse">
            <a:avLst/>
          </a:prstGeom>
          <a:solidFill>
            <a:srgbClr val="00CCFF"/>
          </a:solidFill>
          <a:ln w="876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space_wire" descr="Editable shape; source id space_wire"/>
          <p:cNvSpPr/>
          <p:nvPr/>
        </p:nvSpPr>
        <p:spPr>
          <a:xfrm>
            <a:off x="6701789" y="1929383"/>
            <a:ext cx="830579" cy="853439"/>
          </a:xfrm>
          <a:prstGeom prst="ellipse">
            <a:avLst/>
          </a:prstGeom>
          <a:solidFill>
            <a:srgbClr val="FFFF99"/>
          </a:solidFill>
          <a:ln w="876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instrument_manager" descr="Editable shape; source id instrument_manager"/>
          <p:cNvSpPr/>
          <p:nvPr/>
        </p:nvSpPr>
        <p:spPr>
          <a:xfrm>
            <a:off x="7933943" y="1927859"/>
            <a:ext cx="830579" cy="838199"/>
          </a:xfrm>
          <a:prstGeom prst="ellipse">
            <a:avLst/>
          </a:prstGeom>
          <a:solidFill>
            <a:srgbClr val="FFFF99"/>
          </a:solidFill>
          <a:ln w="876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cfdp_transfer" descr="Editable shape; source id cfdp_transfer"/>
          <p:cNvSpPr/>
          <p:nvPr/>
        </p:nvSpPr>
        <p:spPr>
          <a:xfrm>
            <a:off x="9052559" y="1929383"/>
            <a:ext cx="827531" cy="838199"/>
          </a:xfrm>
          <a:prstGeom prst="ellipse">
            <a:avLst/>
          </a:prstGeom>
          <a:solidFill>
            <a:srgbClr val="00CCFF"/>
          </a:solidFill>
          <a:ln w="876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stored_command" descr="Editable shape; source id stored_command"/>
          <p:cNvSpPr/>
          <p:nvPr/>
        </p:nvSpPr>
        <p:spPr>
          <a:xfrm>
            <a:off x="874775" y="3389375"/>
            <a:ext cx="830579" cy="830579"/>
          </a:xfrm>
          <a:prstGeom prst="ellipse">
            <a:avLst/>
          </a:prstGeom>
          <a:solidFill>
            <a:srgbClr val="00CCFF"/>
          </a:solidFill>
          <a:ln w="876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packet_manager" descr="Editable shape; source id packet_manager"/>
          <p:cNvSpPr/>
          <p:nvPr/>
        </p:nvSpPr>
        <p:spPr>
          <a:xfrm>
            <a:off x="874775" y="4559045"/>
            <a:ext cx="830579" cy="838199"/>
          </a:xfrm>
          <a:prstGeom prst="ellipse">
            <a:avLst/>
          </a:prstGeom>
          <a:solidFill>
            <a:srgbClr val="00CCFF"/>
          </a:solidFill>
          <a:ln w="876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data_storage" descr="Editable shape; source id data_storage"/>
          <p:cNvSpPr/>
          <p:nvPr/>
        </p:nvSpPr>
        <p:spPr>
          <a:xfrm>
            <a:off x="10418825" y="2999231"/>
            <a:ext cx="815339" cy="832865"/>
          </a:xfrm>
          <a:prstGeom prst="ellipse">
            <a:avLst/>
          </a:prstGeom>
          <a:solidFill>
            <a:srgbClr val="00CCFF"/>
          </a:solidFill>
          <a:ln w="876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file_manager" descr="Editable shape; source id file_manager"/>
          <p:cNvSpPr/>
          <p:nvPr/>
        </p:nvSpPr>
        <p:spPr>
          <a:xfrm>
            <a:off x="10376915" y="3996689"/>
            <a:ext cx="811529" cy="832103"/>
          </a:xfrm>
          <a:prstGeom prst="ellipse">
            <a:avLst/>
          </a:prstGeom>
          <a:solidFill>
            <a:srgbClr val="00CCFF"/>
          </a:solidFill>
          <a:ln w="876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gnc_front" descr="Editable shape; source id gnc_front"/>
          <p:cNvSpPr/>
          <p:nvPr/>
        </p:nvSpPr>
        <p:spPr>
          <a:xfrm>
            <a:off x="10473689" y="5029199"/>
            <a:ext cx="838199" cy="853439"/>
          </a:xfrm>
          <a:prstGeom prst="ellipse">
            <a:avLst/>
          </a:prstGeom>
          <a:solidFill>
            <a:srgbClr val="FFFF99"/>
          </a:solidFill>
          <a:ln w="8762">
            <a:solidFill>
              <a:srgbClr val="55555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telemetry_output" descr="Editable shape; source id telemetry_output"/>
          <p:cNvSpPr/>
          <p:nvPr/>
        </p:nvSpPr>
        <p:spPr>
          <a:xfrm>
            <a:off x="3676649" y="6192773"/>
            <a:ext cx="830579" cy="830579"/>
          </a:xfrm>
          <a:prstGeom prst="ellipse">
            <a:avLst/>
          </a:prstGeom>
          <a:solidFill>
            <a:srgbClr val="FFFF99"/>
          </a:solidFill>
          <a:ln w="876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command_ingest" descr="Editable shape; source id command_ingest"/>
          <p:cNvSpPr/>
          <p:nvPr/>
        </p:nvSpPr>
        <p:spPr>
          <a:xfrm>
            <a:off x="4636769" y="6192773"/>
            <a:ext cx="830579" cy="830579"/>
          </a:xfrm>
          <a:prstGeom prst="ellipse">
            <a:avLst/>
          </a:prstGeom>
          <a:solidFill>
            <a:srgbClr val="FFFF99"/>
          </a:solidFill>
          <a:ln w="876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software_service" descr="Editable shape; source id software_service"/>
          <p:cNvSpPr/>
          <p:nvPr/>
        </p:nvSpPr>
        <p:spPr>
          <a:xfrm>
            <a:off x="5553455" y="6172199"/>
            <a:ext cx="811529" cy="832103"/>
          </a:xfrm>
          <a:prstGeom prst="ellipse">
            <a:avLst/>
          </a:prstGeom>
          <a:solidFill>
            <a:srgbClr val="00FF00"/>
          </a:solidFill>
          <a:ln w="876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time_services" descr="Editable shape; source id time_services"/>
          <p:cNvSpPr/>
          <p:nvPr/>
        </p:nvSpPr>
        <p:spPr>
          <a:xfrm>
            <a:off x="6511289" y="6198869"/>
            <a:ext cx="828293" cy="830579"/>
          </a:xfrm>
          <a:prstGeom prst="ellipse">
            <a:avLst/>
          </a:prstGeom>
          <a:solidFill>
            <a:srgbClr val="00FF00"/>
          </a:solidFill>
          <a:ln w="876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executive_services" descr="Editable shape; source id executive_services"/>
          <p:cNvSpPr/>
          <p:nvPr/>
        </p:nvSpPr>
        <p:spPr>
          <a:xfrm>
            <a:off x="7456169" y="6155435"/>
            <a:ext cx="822959" cy="830579"/>
          </a:xfrm>
          <a:prstGeom prst="ellipse">
            <a:avLst/>
          </a:prstGeom>
          <a:solidFill>
            <a:srgbClr val="00FF00"/>
          </a:solidFill>
          <a:ln w="876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event_services" descr="Editable shape; source id event_services"/>
          <p:cNvSpPr/>
          <p:nvPr/>
        </p:nvSpPr>
        <p:spPr>
          <a:xfrm>
            <a:off x="8343899" y="6198869"/>
            <a:ext cx="822959" cy="830579"/>
          </a:xfrm>
          <a:prstGeom prst="ellipse">
            <a:avLst/>
          </a:prstGeom>
          <a:solidFill>
            <a:srgbClr val="00FF00"/>
          </a:solidFill>
          <a:ln w="876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table_services" descr="Editable shape; source id table_services"/>
          <p:cNvSpPr/>
          <p:nvPr/>
        </p:nvSpPr>
        <p:spPr>
          <a:xfrm>
            <a:off x="9358121" y="6198869"/>
            <a:ext cx="826769" cy="830579"/>
          </a:xfrm>
          <a:prstGeom prst="ellipse">
            <a:avLst/>
          </a:prstGeom>
          <a:solidFill>
            <a:srgbClr val="00FF00"/>
          </a:solidFill>
          <a:ln w="876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gnc_hardware" descr="Editable shape; source id gnc_hardware"/>
          <p:cNvSpPr/>
          <p:nvPr/>
        </p:nvSpPr>
        <p:spPr>
          <a:xfrm>
            <a:off x="2548889" y="7559039"/>
            <a:ext cx="853439" cy="400049"/>
          </a:xfrm>
          <a:prstGeom prst="rect">
            <a:avLst/>
          </a:prstGeom>
          <a:solidFill>
            <a:srgbClr val="FFFFFF"/>
          </a:solidFill>
          <a:ln w="876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communication_interfaces" descr="Editable shape; source id communication_interfaces"/>
          <p:cNvSpPr/>
          <p:nvPr/>
        </p:nvSpPr>
        <p:spPr>
          <a:xfrm>
            <a:off x="7728203" y="7309865"/>
            <a:ext cx="1242059" cy="419099"/>
          </a:xfrm>
          <a:prstGeom prst="rect">
            <a:avLst/>
          </a:prstGeom>
          <a:solidFill>
            <a:srgbClr val="FFFFFF"/>
          </a:solidFill>
          <a:ln w="876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legend_cfs" descr="Editable shape; source id legend_cfs"/>
          <p:cNvSpPr/>
          <p:nvPr/>
        </p:nvSpPr>
        <p:spPr>
          <a:xfrm>
            <a:off x="112775" y="7410449"/>
            <a:ext cx="346709" cy="346709"/>
          </a:xfrm>
          <a:prstGeom prst="ellipse">
            <a:avLst/>
          </a:prstGeom>
          <a:solidFill>
            <a:srgbClr val="00CCFF"/>
          </a:solidFill>
          <a:ln w="876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legend_mission" descr="Editable shape; source id legend_mission"/>
          <p:cNvSpPr/>
          <p:nvPr/>
        </p:nvSpPr>
        <p:spPr>
          <a:xfrm>
            <a:off x="102869" y="7882889"/>
            <a:ext cx="344423" cy="346709"/>
          </a:xfrm>
          <a:prstGeom prst="ellipse">
            <a:avLst/>
          </a:prstGeom>
          <a:solidFill>
            <a:srgbClr val="FFFF99"/>
          </a:solidFill>
          <a:ln w="876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legend_core" descr="Editable shape; source id legend_core"/>
          <p:cNvSpPr/>
          <p:nvPr/>
        </p:nvSpPr>
        <p:spPr>
          <a:xfrm>
            <a:off x="102869" y="8392667"/>
            <a:ext cx="344423" cy="346709"/>
          </a:xfrm>
          <a:prstGeom prst="ellipse">
            <a:avLst/>
          </a:prstGeom>
          <a:solidFill>
            <a:srgbClr val="00FF00"/>
          </a:solidFill>
          <a:ln w="876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footer_rule_black" descr="Editable shape; source id footer_rule_black"/>
          <p:cNvSpPr/>
          <p:nvPr/>
        </p:nvSpPr>
        <p:spPr>
          <a:xfrm>
            <a:off x="0" y="8846819"/>
            <a:ext cx="12191999" cy="15239"/>
          </a:xfrm>
          <a:prstGeom prst="rect">
            <a:avLst/>
          </a:pr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6" name="footer_rule_grey" descr="Editable line; source id footer_rule_grey"/>
          <p:cNvCxnSpPr/>
          <p:nvPr/>
        </p:nvCxnSpPr>
        <p:spPr>
          <a:xfrm>
            <a:off x="0" y="8869679"/>
            <a:ext cx="12191999" cy="0"/>
          </a:xfrm>
          <a:prstGeom prst="line">
            <a:avLst/>
          </a:prstGeom>
          <a:ln w="7619">
            <a:solidFill>
              <a:srgbClr val="777777"/>
            </a:solidFill>
          </a:ln>
          <a:effectLst/>
        </p:spPr>
        <p:style>
          <a:lnRef idx="2">
            <a:schemeClr val="accent1"/>
          </a:lnRef>
          <a:fillRef idx="0">
            <a:schemeClr val="accent1"/>
          </a:fillRef>
          <a:effectRef idx="0">
            <a:schemeClr val="accent1"/>
          </a:effectRef>
          <a:fontRef idx="minor">
            <a:schemeClr val="tx1"/>
          </a:fontRef>
        </p:style>
      </p:cxnSp>
      <p:sp>
        <p:nvSpPr>
          <p:cNvPr id="97" name="title" descr="Editable text; source id title"/>
          <p:cNvSpPr txBox="1"/>
          <p:nvPr/>
        </p:nvSpPr>
        <p:spPr>
          <a:xfrm>
            <a:off x="2670809" y="278891"/>
            <a:ext cx="6934199" cy="617219"/>
          </a:xfrm>
          <a:prstGeom prst="rect">
            <a:avLst/>
          </a:prstGeom>
          <a:noFill/>
          <a:effectLst/>
        </p:spPr>
        <p:txBody>
          <a:bodyPr wrap="none" anchor="t" tIns="0" rIns="0" bIns="0" lIns="0" anchorCtr="0" vertOverflow="overflow">
            <a:noAutofit/>
          </a:bodyPr>
          <a:lstStyle/>
          <a:p>
            <a:pPr algn="l" fontAlgn="base">
              <a:lnSpc>
                <a:spcPts val="4184"/>
              </a:lnSpc>
              <a:spcBef>
                <a:spcPts val="0"/>
              </a:spcBef>
              <a:spcAft>
                <a:spcPts val="0"/>
              </a:spcAft>
              <a:defRPr sz="3733" b="1" i="0" lang="zh-CN" dirty="0">
                <a:solidFill>
                  <a:srgbClr val="FFFFFF"/>
                </a:solidFill>
                <a:latin typeface="Arial"/>
                <a:ea typeface="Arial"/>
                <a:cs typeface="Arial"/>
              </a:defRPr>
            </a:pPr>
            <a:r>
              <a:rPr sz="3733" b="1" i="0" lang="zh-CN" dirty="0">
                <a:solidFill>
                  <a:srgbClr val="FFFFFF"/>
                </a:solidFill>
                <a:latin typeface="Arial"/>
                <a:ea typeface="Arial"/>
                <a:cs typeface="Arial"/>
              </a:rPr>
              <a:t>Example Mission Applications</a:t>
            </a:r>
          </a:p>
        </p:txBody>
      </p:sp>
      <p:sp>
        <p:nvSpPr>
          <p:cNvPr id="98" name="instruments_label" descr="Editable text; source id instruments_label"/>
          <p:cNvSpPr txBox="1"/>
          <p:nvPr/>
        </p:nvSpPr>
        <p:spPr>
          <a:xfrm>
            <a:off x="6440423" y="1273073"/>
            <a:ext cx="988085" cy="242148"/>
          </a:xfrm>
          <a:prstGeom prst="rect">
            <a:avLst/>
          </a:prstGeom>
          <a:noFill/>
          <a:effectLst/>
        </p:spPr>
        <p:txBody>
          <a:bodyPr wrap="none" anchor="t" tIns="0" rIns="0" bIns="0" lIns="0" anchorCtr="0" vertOverflow="overflow">
            <a:noAutofit/>
          </a:bodyPr>
          <a:lstStyle/>
          <a:p>
            <a:pPr algn="l" fontAlgn="base">
              <a:lnSpc>
                <a:spcPts val="1649"/>
              </a:lnSpc>
              <a:spcBef>
                <a:spcPts val="0"/>
              </a:spcBef>
              <a:spcAft>
                <a:spcPts val="0"/>
              </a:spcAft>
              <a:defRPr sz="1466" b="0" i="0" lang="zh-CN" dirty="0">
                <a:solidFill>
                  <a:srgbClr val="000000"/>
                </a:solidFill>
                <a:latin typeface="Arial"/>
                <a:ea typeface="Arial"/>
                <a:cs typeface="Arial"/>
              </a:defRPr>
            </a:pPr>
            <a:r>
              <a:rPr sz="1466" b="0" i="0" lang="zh-CN" dirty="0">
                <a:solidFill>
                  <a:srgbClr val="000000"/>
                </a:solidFill>
                <a:latin typeface="Arial"/>
                <a:ea typeface="Arial"/>
                <a:cs typeface="Arial"/>
              </a:rPr>
              <a:t>Instruments</a:t>
            </a:r>
          </a:p>
        </p:txBody>
      </p:sp>
      <p:sp>
        <p:nvSpPr>
          <p:cNvPr id="99" name="software_bus_label" descr="Editable text; source id software_bus_label"/>
          <p:cNvSpPr txBox="1"/>
          <p:nvPr/>
        </p:nvSpPr>
        <p:spPr>
          <a:xfrm>
            <a:off x="3796283" y="5106771"/>
            <a:ext cx="4441774" cy="271271"/>
          </a:xfrm>
          <a:prstGeom prst="rect">
            <a:avLst/>
          </a:prstGeom>
          <a:noFill/>
          <a:effectLst/>
        </p:spPr>
        <p:txBody>
          <a:bodyPr wrap="none" anchor="t" tIns="0" rIns="0" bIns="0" lIns="0" anchorCtr="0" vertOverflow="overflow">
            <a:noAutofit/>
          </a:bodyPr>
          <a:lstStyle/>
          <a:p>
            <a:pPr algn="l" fontAlgn="base">
              <a:lnSpc>
                <a:spcPts val="2099"/>
              </a:lnSpc>
              <a:spcBef>
                <a:spcPts val="0"/>
              </a:spcBef>
              <a:spcAft>
                <a:spcPts val="0"/>
              </a:spcAft>
              <a:defRPr sz="1866" b="0" i="0" lang="zh-CN" dirty="0">
                <a:solidFill>
                  <a:srgbClr val="000000"/>
                </a:solidFill>
                <a:latin typeface="Arial"/>
                <a:ea typeface="Arial"/>
                <a:cs typeface="Arial"/>
              </a:defRPr>
            </a:pPr>
            <a:r>
              <a:rPr sz="1866" b="0" i="0" lang="zh-CN" dirty="0">
                <a:solidFill>
                  <a:srgbClr val="000000"/>
                </a:solidFill>
                <a:latin typeface="Arial"/>
                <a:ea typeface="Arial"/>
                <a:cs typeface="Arial"/>
              </a:rPr>
              <a:t>Inter-task Message Router (Software Bus)</a:t>
            </a:r>
          </a:p>
        </p:txBody>
      </p:sp>
      <p:sp>
        <p:nvSpPr>
          <p:cNvPr id="100" name="scheduler_label_1" descr="Editable text; source id scheduler_label_1"/>
          <p:cNvSpPr txBox="1"/>
          <p:nvPr/>
        </p:nvSpPr>
        <p:spPr>
          <a:xfrm>
            <a:off x="2561843" y="2267330"/>
            <a:ext cx="627278"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Scheduler</a:t>
            </a:r>
          </a:p>
        </p:txBody>
      </p:sp>
      <p:sp>
        <p:nvSpPr>
          <p:cNvPr id="101" name="limit_checker_label_1" descr="Editable text; source id limit_checker_label_1"/>
          <p:cNvSpPr txBox="1"/>
          <p:nvPr/>
        </p:nvSpPr>
        <p:spPr>
          <a:xfrm>
            <a:off x="4078223" y="2166594"/>
            <a:ext cx="301294"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Limit</a:t>
            </a:r>
          </a:p>
        </p:txBody>
      </p:sp>
      <p:sp>
        <p:nvSpPr>
          <p:cNvPr id="102" name="limit_checker_label_2" descr="Editable text; source id limit_checker_label_2"/>
          <p:cNvSpPr txBox="1"/>
          <p:nvPr/>
        </p:nvSpPr>
        <p:spPr>
          <a:xfrm>
            <a:off x="3963923" y="2320670"/>
            <a:ext cx="521665"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Checker</a:t>
            </a:r>
          </a:p>
        </p:txBody>
      </p:sp>
      <p:sp>
        <p:nvSpPr>
          <p:cNvPr id="103" name="memory_manager_label_1" descr="Editable text; source id memory_manager_label_1"/>
          <p:cNvSpPr txBox="1"/>
          <p:nvPr/>
        </p:nvSpPr>
        <p:spPr>
          <a:xfrm>
            <a:off x="5297423" y="2128494"/>
            <a:ext cx="504520"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Memory</a:t>
            </a:r>
          </a:p>
        </p:txBody>
      </p:sp>
      <p:sp>
        <p:nvSpPr>
          <p:cNvPr id="104" name="memory_manager_label_2" descr="Editable text; source id memory_manager_label_2"/>
          <p:cNvSpPr txBox="1"/>
          <p:nvPr/>
        </p:nvSpPr>
        <p:spPr>
          <a:xfrm>
            <a:off x="5312663" y="2341854"/>
            <a:ext cx="551916"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Manager</a:t>
            </a:r>
          </a:p>
        </p:txBody>
      </p:sp>
      <p:sp>
        <p:nvSpPr>
          <p:cNvPr id="105" name="space_wire_label_1" descr="Editable text; source id space_wire_label_1"/>
          <p:cNvSpPr txBox="1"/>
          <p:nvPr/>
        </p:nvSpPr>
        <p:spPr>
          <a:xfrm>
            <a:off x="6920483" y="2168270"/>
            <a:ext cx="399440"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Space</a:t>
            </a:r>
          </a:p>
        </p:txBody>
      </p:sp>
      <p:sp>
        <p:nvSpPr>
          <p:cNvPr id="106" name="space_wire_label_2" descr="Editable text; source id space_wire_label_2"/>
          <p:cNvSpPr txBox="1"/>
          <p:nvPr/>
        </p:nvSpPr>
        <p:spPr>
          <a:xfrm>
            <a:off x="6973823" y="2318994"/>
            <a:ext cx="293674"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Wire</a:t>
            </a:r>
          </a:p>
        </p:txBody>
      </p:sp>
      <p:sp>
        <p:nvSpPr>
          <p:cNvPr id="107" name="instrument_manager_label_1" descr="Editable text; source id instrument_manager_label_1"/>
          <p:cNvSpPr txBox="1"/>
          <p:nvPr/>
        </p:nvSpPr>
        <p:spPr>
          <a:xfrm>
            <a:off x="8071103" y="2219934"/>
            <a:ext cx="655319"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Instrument</a:t>
            </a:r>
          </a:p>
        </p:txBody>
      </p:sp>
      <p:sp>
        <p:nvSpPr>
          <p:cNvPr id="108" name="instrument_manager_label_2" descr="Editable text; source id instrument_manager_label_2"/>
          <p:cNvSpPr txBox="1"/>
          <p:nvPr/>
        </p:nvSpPr>
        <p:spPr>
          <a:xfrm>
            <a:off x="8132063" y="2372334"/>
            <a:ext cx="551916"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Manager</a:t>
            </a:r>
          </a:p>
        </p:txBody>
      </p:sp>
      <p:sp>
        <p:nvSpPr>
          <p:cNvPr id="109" name="cfdp_transfer_label_1" descr="Editable text; source id cfdp_transfer_label_1"/>
          <p:cNvSpPr txBox="1"/>
          <p:nvPr/>
        </p:nvSpPr>
        <p:spPr>
          <a:xfrm>
            <a:off x="9145523" y="2168270"/>
            <a:ext cx="640003"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CFDP File</a:t>
            </a:r>
          </a:p>
        </p:txBody>
      </p:sp>
      <p:sp>
        <p:nvSpPr>
          <p:cNvPr id="110" name="cfdp_transfer_label_2" descr="Editable text; source id cfdp_transfer_label_2"/>
          <p:cNvSpPr txBox="1"/>
          <p:nvPr/>
        </p:nvSpPr>
        <p:spPr>
          <a:xfrm>
            <a:off x="9206483" y="2320594"/>
            <a:ext cx="521512"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Transfer</a:t>
            </a:r>
          </a:p>
        </p:txBody>
      </p:sp>
      <p:sp>
        <p:nvSpPr>
          <p:cNvPr id="111" name="stored_command_label_1" descr="Editable text; source id stored_command_label_1"/>
          <p:cNvSpPr txBox="1"/>
          <p:nvPr/>
        </p:nvSpPr>
        <p:spPr>
          <a:xfrm>
            <a:off x="1136903" y="3661790"/>
            <a:ext cx="414451"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Stored</a:t>
            </a:r>
          </a:p>
        </p:txBody>
      </p:sp>
      <p:sp>
        <p:nvSpPr>
          <p:cNvPr id="112" name="stored_command_label_2" descr="Editable text; source id stored_command_label_2"/>
          <p:cNvSpPr txBox="1"/>
          <p:nvPr/>
        </p:nvSpPr>
        <p:spPr>
          <a:xfrm>
            <a:off x="1022603" y="3814190"/>
            <a:ext cx="640232"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Command</a:t>
            </a:r>
          </a:p>
        </p:txBody>
      </p:sp>
      <p:sp>
        <p:nvSpPr>
          <p:cNvPr id="113" name="packet_manager_label_1" descr="Editable text; source id packet_manager_label_1"/>
          <p:cNvSpPr txBox="1"/>
          <p:nvPr/>
        </p:nvSpPr>
        <p:spPr>
          <a:xfrm>
            <a:off x="1114043" y="4818354"/>
            <a:ext cx="429463"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Packet</a:t>
            </a:r>
          </a:p>
        </p:txBody>
      </p:sp>
      <p:sp>
        <p:nvSpPr>
          <p:cNvPr id="114" name="packet_manager_label_2" descr="Editable text; source id packet_manager_label_2"/>
          <p:cNvSpPr txBox="1"/>
          <p:nvPr/>
        </p:nvSpPr>
        <p:spPr>
          <a:xfrm>
            <a:off x="1060703" y="4970754"/>
            <a:ext cx="551916"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Manager</a:t>
            </a:r>
          </a:p>
        </p:txBody>
      </p:sp>
      <p:sp>
        <p:nvSpPr>
          <p:cNvPr id="115" name="storage_label_1" descr="Editable text; source id storage_label_1"/>
          <p:cNvSpPr txBox="1"/>
          <p:nvPr/>
        </p:nvSpPr>
        <p:spPr>
          <a:xfrm>
            <a:off x="10456163" y="1549374"/>
            <a:ext cx="338937"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Mass</a:t>
            </a:r>
          </a:p>
        </p:txBody>
      </p:sp>
      <p:sp>
        <p:nvSpPr>
          <p:cNvPr id="116" name="storage_label_2" descr="Editable text; source id storage_label_2"/>
          <p:cNvSpPr txBox="1"/>
          <p:nvPr/>
        </p:nvSpPr>
        <p:spPr>
          <a:xfrm>
            <a:off x="10379963" y="1703450"/>
            <a:ext cx="489813"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Storage</a:t>
            </a:r>
          </a:p>
        </p:txBody>
      </p:sp>
      <p:sp>
        <p:nvSpPr>
          <p:cNvPr id="117" name="storage_label_3" descr="Editable text; source id storage_label_3"/>
          <p:cNvSpPr txBox="1"/>
          <p:nvPr/>
        </p:nvSpPr>
        <p:spPr>
          <a:xfrm>
            <a:off x="10265663" y="1863470"/>
            <a:ext cx="722909"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File System</a:t>
            </a:r>
          </a:p>
        </p:txBody>
      </p:sp>
      <p:sp>
        <p:nvSpPr>
          <p:cNvPr id="118" name="data_storage_line1" descr="Editable text; source id data_storage_line1"/>
          <p:cNvSpPr txBox="1"/>
          <p:nvPr/>
        </p:nvSpPr>
        <p:spPr>
          <a:xfrm>
            <a:off x="10692383" y="3184474"/>
            <a:ext cx="337108" cy="198119"/>
          </a:xfrm>
          <a:prstGeom prst="rect">
            <a:avLst/>
          </a:prstGeom>
          <a:noFill/>
          <a:effectLst/>
        </p:spPr>
        <p:txBody>
          <a:bodyPr wrap="none" anchor="t" tIns="0" rIns="0" bIns="0" lIns="0" anchorCtr="0" vertOverflow="overflow">
            <a:noAutofit/>
          </a:bodyPr>
          <a:lstStyle/>
          <a:p>
            <a:pPr algn="l" fontAlgn="base">
              <a:lnSpc>
                <a:spcPts val="1349"/>
              </a:lnSpc>
              <a:spcBef>
                <a:spcPts val="0"/>
              </a:spcBef>
              <a:spcAft>
                <a:spcPts val="0"/>
              </a:spcAft>
              <a:defRPr sz="1199" b="0" i="0" lang="zh-CN" dirty="0">
                <a:solidFill>
                  <a:srgbClr val="000000"/>
                </a:solidFill>
                <a:latin typeface="Arial"/>
                <a:ea typeface="Arial"/>
                <a:cs typeface="Arial"/>
              </a:defRPr>
            </a:pPr>
            <a:r>
              <a:rPr sz="1199" b="0" i="0" lang="zh-CN" dirty="0">
                <a:solidFill>
                  <a:srgbClr val="000000"/>
                </a:solidFill>
                <a:latin typeface="Arial"/>
                <a:ea typeface="Arial"/>
                <a:cs typeface="Arial"/>
              </a:rPr>
              <a:t>Data</a:t>
            </a:r>
          </a:p>
        </p:txBody>
      </p:sp>
      <p:sp>
        <p:nvSpPr>
          <p:cNvPr id="119" name="data_storage_line2" descr="Editable text; source id data_storage_line2"/>
          <p:cNvSpPr txBox="1"/>
          <p:nvPr/>
        </p:nvSpPr>
        <p:spPr>
          <a:xfrm>
            <a:off x="10585703" y="3323539"/>
            <a:ext cx="548944" cy="198119"/>
          </a:xfrm>
          <a:prstGeom prst="rect">
            <a:avLst/>
          </a:prstGeom>
          <a:noFill/>
          <a:effectLst/>
        </p:spPr>
        <p:txBody>
          <a:bodyPr wrap="none" anchor="t" tIns="0" rIns="0" bIns="0" lIns="0" anchorCtr="0" vertOverflow="overflow">
            <a:noAutofit/>
          </a:bodyPr>
          <a:lstStyle/>
          <a:p>
            <a:pPr algn="l" fontAlgn="base">
              <a:lnSpc>
                <a:spcPts val="1349"/>
              </a:lnSpc>
              <a:spcBef>
                <a:spcPts val="0"/>
              </a:spcBef>
              <a:spcAft>
                <a:spcPts val="0"/>
              </a:spcAft>
              <a:defRPr sz="1199" b="0" i="0" lang="zh-CN" dirty="0">
                <a:solidFill>
                  <a:srgbClr val="000000"/>
                </a:solidFill>
                <a:latin typeface="Arial"/>
                <a:ea typeface="Arial"/>
                <a:cs typeface="Arial"/>
              </a:defRPr>
            </a:pPr>
            <a:r>
              <a:rPr sz="1199" b="0" i="0" lang="zh-CN" dirty="0">
                <a:solidFill>
                  <a:srgbClr val="000000"/>
                </a:solidFill>
                <a:latin typeface="Arial"/>
                <a:ea typeface="Arial"/>
                <a:cs typeface="Arial"/>
              </a:rPr>
              <a:t>Storage</a:t>
            </a:r>
          </a:p>
        </p:txBody>
      </p:sp>
      <p:sp>
        <p:nvSpPr>
          <p:cNvPr id="120" name="file_manager_line1" descr="Editable text; source id file_manager_line1"/>
          <p:cNvSpPr txBox="1"/>
          <p:nvPr/>
        </p:nvSpPr>
        <p:spPr>
          <a:xfrm>
            <a:off x="10684763" y="4197934"/>
            <a:ext cx="260756" cy="198119"/>
          </a:xfrm>
          <a:prstGeom prst="rect">
            <a:avLst/>
          </a:prstGeom>
          <a:noFill/>
          <a:effectLst/>
        </p:spPr>
        <p:txBody>
          <a:bodyPr wrap="none" anchor="t" tIns="0" rIns="0" bIns="0" lIns="0" anchorCtr="0" vertOverflow="overflow">
            <a:noAutofit/>
          </a:bodyPr>
          <a:lstStyle/>
          <a:p>
            <a:pPr algn="l" fontAlgn="base">
              <a:lnSpc>
                <a:spcPts val="1349"/>
              </a:lnSpc>
              <a:spcBef>
                <a:spcPts val="0"/>
              </a:spcBef>
              <a:spcAft>
                <a:spcPts val="0"/>
              </a:spcAft>
              <a:defRPr sz="1199" b="0" i="0" lang="zh-CN" dirty="0">
                <a:solidFill>
                  <a:srgbClr val="000000"/>
                </a:solidFill>
                <a:latin typeface="Arial"/>
                <a:ea typeface="Arial"/>
                <a:cs typeface="Arial"/>
              </a:defRPr>
            </a:pPr>
            <a:r>
              <a:rPr sz="1199" b="0" i="0" lang="zh-CN" dirty="0">
                <a:solidFill>
                  <a:srgbClr val="000000"/>
                </a:solidFill>
                <a:latin typeface="Arial"/>
                <a:ea typeface="Arial"/>
                <a:cs typeface="Arial"/>
              </a:rPr>
              <a:t>File</a:t>
            </a:r>
          </a:p>
        </p:txBody>
      </p:sp>
      <p:sp>
        <p:nvSpPr>
          <p:cNvPr id="121" name="file_manager_line2" descr="Editable text; source id file_manager_line2"/>
          <p:cNvSpPr txBox="1"/>
          <p:nvPr/>
        </p:nvSpPr>
        <p:spPr>
          <a:xfrm>
            <a:off x="10517123" y="4350334"/>
            <a:ext cx="618743" cy="198119"/>
          </a:xfrm>
          <a:prstGeom prst="rect">
            <a:avLst/>
          </a:prstGeom>
          <a:noFill/>
          <a:effectLst/>
        </p:spPr>
        <p:txBody>
          <a:bodyPr wrap="none" anchor="t" tIns="0" rIns="0" bIns="0" lIns="0" anchorCtr="0" vertOverflow="overflow">
            <a:noAutofit/>
          </a:bodyPr>
          <a:lstStyle/>
          <a:p>
            <a:pPr algn="l" fontAlgn="base">
              <a:lnSpc>
                <a:spcPts val="1349"/>
              </a:lnSpc>
              <a:spcBef>
                <a:spcPts val="0"/>
              </a:spcBef>
              <a:spcAft>
                <a:spcPts val="0"/>
              </a:spcAft>
              <a:defRPr sz="1199" b="0" i="0" lang="zh-CN" dirty="0">
                <a:solidFill>
                  <a:srgbClr val="000000"/>
                </a:solidFill>
                <a:latin typeface="Arial"/>
                <a:ea typeface="Arial"/>
                <a:cs typeface="Arial"/>
              </a:defRPr>
            </a:pPr>
            <a:r>
              <a:rPr sz="1199" b="0" i="0" lang="zh-CN" dirty="0">
                <a:solidFill>
                  <a:srgbClr val="000000"/>
                </a:solidFill>
                <a:latin typeface="Arial"/>
                <a:ea typeface="Arial"/>
                <a:cs typeface="Arial"/>
              </a:rPr>
              <a:t>Manager</a:t>
            </a:r>
          </a:p>
        </p:txBody>
      </p:sp>
      <p:sp>
        <p:nvSpPr>
          <p:cNvPr id="122" name="gnc_label" descr="Editable text; source id gnc_label"/>
          <p:cNvSpPr txBox="1"/>
          <p:nvPr/>
        </p:nvSpPr>
        <p:spPr>
          <a:xfrm>
            <a:off x="10753343" y="5340629"/>
            <a:ext cx="367436" cy="158495"/>
          </a:xfrm>
          <a:prstGeom prst="rect">
            <a:avLst/>
          </a:prstGeom>
          <a:noFill/>
          <a:effectLst/>
        </p:spPr>
        <p:txBody>
          <a:bodyPr wrap="none" anchor="t" tIns="0" rIns="0" bIns="0" lIns="0" anchorCtr="0" vertOverflow="overflow">
            <a:noAutofit/>
          </a:bodyPr>
          <a:lstStyle/>
          <a:p>
            <a:pPr algn="l" fontAlgn="base">
              <a:lnSpc>
                <a:spcPts val="1079"/>
              </a:lnSpc>
              <a:spcBef>
                <a:spcPts val="0"/>
              </a:spcBef>
              <a:spcAft>
                <a:spcPts val="0"/>
              </a:spcAft>
              <a:defRPr sz="959" b="0" i="0" lang="zh-CN" dirty="0">
                <a:solidFill>
                  <a:srgbClr val="000000"/>
                </a:solidFill>
                <a:latin typeface="Arial"/>
                <a:ea typeface="Arial"/>
                <a:cs typeface="Arial"/>
              </a:defRPr>
            </a:pPr>
            <a:r>
              <a:rPr sz="959" b="0" i="0" lang="zh-CN" dirty="0">
                <a:solidFill>
                  <a:srgbClr val="000000"/>
                </a:solidFill>
                <a:latin typeface="Arial"/>
                <a:ea typeface="Arial"/>
                <a:cs typeface="Arial"/>
              </a:rPr>
              <a:t>GN&amp;C</a:t>
            </a:r>
          </a:p>
        </p:txBody>
      </p:sp>
      <p:sp>
        <p:nvSpPr>
          <p:cNvPr id="123" name="bus1553_label_1" descr="Editable text; source id bus1553_label_1"/>
          <p:cNvSpPr txBox="1"/>
          <p:nvPr/>
        </p:nvSpPr>
        <p:spPr>
          <a:xfrm>
            <a:off x="2706623" y="6464655"/>
            <a:ext cx="587806"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1553 Bus</a:t>
            </a:r>
          </a:p>
        </p:txBody>
      </p:sp>
      <p:sp>
        <p:nvSpPr>
          <p:cNvPr id="124" name="bus1553_label_2" descr="Editable text; source id bus1553_label_2"/>
          <p:cNvSpPr txBox="1"/>
          <p:nvPr/>
        </p:nvSpPr>
        <p:spPr>
          <a:xfrm>
            <a:off x="2752343" y="6618350"/>
            <a:ext cx="489813"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Support</a:t>
            </a:r>
          </a:p>
        </p:txBody>
      </p:sp>
      <p:sp>
        <p:nvSpPr>
          <p:cNvPr id="125" name="telemetry_output_label_1" descr="Editable text; source id telemetry_output_label_1"/>
          <p:cNvSpPr txBox="1"/>
          <p:nvPr/>
        </p:nvSpPr>
        <p:spPr>
          <a:xfrm>
            <a:off x="3819143" y="6502374"/>
            <a:ext cx="617296"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Telemetry</a:t>
            </a:r>
          </a:p>
        </p:txBody>
      </p:sp>
      <p:sp>
        <p:nvSpPr>
          <p:cNvPr id="126" name="telemetry_output_label_2" descr="Editable text; source id telemetry_output_label_2"/>
          <p:cNvSpPr txBox="1"/>
          <p:nvPr/>
        </p:nvSpPr>
        <p:spPr>
          <a:xfrm>
            <a:off x="3918203" y="6656450"/>
            <a:ext cx="421995"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Output</a:t>
            </a:r>
          </a:p>
        </p:txBody>
      </p:sp>
      <p:sp>
        <p:nvSpPr>
          <p:cNvPr id="127" name="command_ingest_label_1" descr="Editable text; source id command_ingest_label_1"/>
          <p:cNvSpPr txBox="1"/>
          <p:nvPr/>
        </p:nvSpPr>
        <p:spPr>
          <a:xfrm>
            <a:off x="4748783" y="6504050"/>
            <a:ext cx="640232"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Command</a:t>
            </a:r>
          </a:p>
        </p:txBody>
      </p:sp>
      <p:sp>
        <p:nvSpPr>
          <p:cNvPr id="128" name="command_ingest_label_2" descr="Editable text; source id command_ingest_label_2"/>
          <p:cNvSpPr txBox="1"/>
          <p:nvPr/>
        </p:nvSpPr>
        <p:spPr>
          <a:xfrm>
            <a:off x="4885943" y="6654774"/>
            <a:ext cx="384352"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Ingest</a:t>
            </a:r>
          </a:p>
        </p:txBody>
      </p:sp>
      <p:sp>
        <p:nvSpPr>
          <p:cNvPr id="129" name="software_service_label_1" descr="Editable text; source id software_service_label_1"/>
          <p:cNvSpPr txBox="1"/>
          <p:nvPr/>
        </p:nvSpPr>
        <p:spPr>
          <a:xfrm>
            <a:off x="5701283" y="6389750"/>
            <a:ext cx="549935"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Software</a:t>
            </a:r>
          </a:p>
        </p:txBody>
      </p:sp>
      <p:sp>
        <p:nvSpPr>
          <p:cNvPr id="130" name="software_service_label_2" descr="Editable text; source id software_service_label_2"/>
          <p:cNvSpPr txBox="1"/>
          <p:nvPr/>
        </p:nvSpPr>
        <p:spPr>
          <a:xfrm>
            <a:off x="5830823" y="6542074"/>
            <a:ext cx="293827"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Bus)</a:t>
            </a:r>
          </a:p>
        </p:txBody>
      </p:sp>
      <p:sp>
        <p:nvSpPr>
          <p:cNvPr id="131" name="time_services_label_1" descr="Editable text; source id time_services_label_1"/>
          <p:cNvSpPr txBox="1"/>
          <p:nvPr/>
        </p:nvSpPr>
        <p:spPr>
          <a:xfrm>
            <a:off x="6783323" y="6410934"/>
            <a:ext cx="316229"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Time</a:t>
            </a:r>
          </a:p>
        </p:txBody>
      </p:sp>
      <p:sp>
        <p:nvSpPr>
          <p:cNvPr id="132" name="time_services_label_2" descr="Editable text; source id time_services_label_2"/>
          <p:cNvSpPr txBox="1"/>
          <p:nvPr/>
        </p:nvSpPr>
        <p:spPr>
          <a:xfrm>
            <a:off x="6669023" y="6565010"/>
            <a:ext cx="534771"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Services</a:t>
            </a:r>
          </a:p>
        </p:txBody>
      </p:sp>
      <p:sp>
        <p:nvSpPr>
          <p:cNvPr id="133" name="executive_services_label_1" descr="Editable text; source id executive_services_label_1"/>
          <p:cNvSpPr txBox="1"/>
          <p:nvPr/>
        </p:nvSpPr>
        <p:spPr>
          <a:xfrm>
            <a:off x="7606283" y="6410934"/>
            <a:ext cx="602665"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Executive</a:t>
            </a:r>
          </a:p>
        </p:txBody>
      </p:sp>
      <p:sp>
        <p:nvSpPr>
          <p:cNvPr id="134" name="executive_services_label_2" descr="Editable text; source id executive_services_label_2"/>
          <p:cNvSpPr txBox="1"/>
          <p:nvPr/>
        </p:nvSpPr>
        <p:spPr>
          <a:xfrm>
            <a:off x="7629143" y="6565010"/>
            <a:ext cx="534771"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Services</a:t>
            </a:r>
          </a:p>
        </p:txBody>
      </p:sp>
      <p:sp>
        <p:nvSpPr>
          <p:cNvPr id="135" name="event_services_label_1" descr="Editable text; source id event_services_label_1"/>
          <p:cNvSpPr txBox="1"/>
          <p:nvPr/>
        </p:nvSpPr>
        <p:spPr>
          <a:xfrm>
            <a:off x="8634983" y="6433794"/>
            <a:ext cx="361721"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Event</a:t>
            </a:r>
          </a:p>
        </p:txBody>
      </p:sp>
      <p:sp>
        <p:nvSpPr>
          <p:cNvPr id="136" name="event_services_label_2" descr="Editable text; source id event_services_label_2"/>
          <p:cNvSpPr txBox="1"/>
          <p:nvPr/>
        </p:nvSpPr>
        <p:spPr>
          <a:xfrm>
            <a:off x="8543543" y="6580250"/>
            <a:ext cx="534771"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Services</a:t>
            </a:r>
          </a:p>
        </p:txBody>
      </p:sp>
      <p:sp>
        <p:nvSpPr>
          <p:cNvPr id="137" name="table_services_label_1" descr="Editable text; source id table_services_label_1"/>
          <p:cNvSpPr txBox="1"/>
          <p:nvPr/>
        </p:nvSpPr>
        <p:spPr>
          <a:xfrm>
            <a:off x="9610343" y="6357594"/>
            <a:ext cx="353948"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Table</a:t>
            </a:r>
          </a:p>
        </p:txBody>
      </p:sp>
      <p:sp>
        <p:nvSpPr>
          <p:cNvPr id="138" name="table_services_label_2" descr="Editable text; source id table_services_label_2"/>
          <p:cNvSpPr txBox="1"/>
          <p:nvPr/>
        </p:nvSpPr>
        <p:spPr>
          <a:xfrm>
            <a:off x="9526523" y="6504050"/>
            <a:ext cx="534771"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Services</a:t>
            </a:r>
          </a:p>
        </p:txBody>
      </p:sp>
      <p:sp>
        <p:nvSpPr>
          <p:cNvPr id="139" name="gnc_hardware_line1" descr="Editable text; source id gnc_hardware_line1"/>
          <p:cNvSpPr txBox="1"/>
          <p:nvPr/>
        </p:nvSpPr>
        <p:spPr>
          <a:xfrm>
            <a:off x="2759963" y="7631810"/>
            <a:ext cx="406679"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GN&amp;C</a:t>
            </a:r>
          </a:p>
        </p:txBody>
      </p:sp>
      <p:sp>
        <p:nvSpPr>
          <p:cNvPr id="140" name="gnc_hardware_line2" descr="Editable text; source id gnc_hardware_line2"/>
          <p:cNvSpPr txBox="1"/>
          <p:nvPr/>
        </p:nvSpPr>
        <p:spPr>
          <a:xfrm>
            <a:off x="2668523" y="7782534"/>
            <a:ext cx="602589"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Hardware</a:t>
            </a:r>
          </a:p>
        </p:txBody>
      </p:sp>
      <p:sp>
        <p:nvSpPr>
          <p:cNvPr id="141" name="communication_interfaces_line1" descr="Editable text; source id communication_interfaces_line1"/>
          <p:cNvSpPr txBox="1"/>
          <p:nvPr/>
        </p:nvSpPr>
        <p:spPr>
          <a:xfrm>
            <a:off x="7888223" y="7380350"/>
            <a:ext cx="956538"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Communication</a:t>
            </a:r>
          </a:p>
        </p:txBody>
      </p:sp>
      <p:sp>
        <p:nvSpPr>
          <p:cNvPr id="142" name="communication_interfaces_line2" descr="Editable text; source id communication_interfaces_line2"/>
          <p:cNvSpPr txBox="1"/>
          <p:nvPr/>
        </p:nvSpPr>
        <p:spPr>
          <a:xfrm>
            <a:off x="8071103" y="7532674"/>
            <a:ext cx="610209"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Interfaces</a:t>
            </a:r>
          </a:p>
        </p:txBody>
      </p:sp>
      <p:sp>
        <p:nvSpPr>
          <p:cNvPr id="143" name="commands_label" descr="Editable text; source id commands_label"/>
          <p:cNvSpPr txBox="1"/>
          <p:nvPr/>
        </p:nvSpPr>
        <p:spPr>
          <a:xfrm>
            <a:off x="6409943" y="7281290"/>
            <a:ext cx="707974"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Commands</a:t>
            </a:r>
          </a:p>
        </p:txBody>
      </p:sp>
      <p:sp>
        <p:nvSpPr>
          <p:cNvPr id="144" name="telemetry_path_label" descr="Editable text; source id telemetry_path_label"/>
          <p:cNvSpPr txBox="1"/>
          <p:nvPr/>
        </p:nvSpPr>
        <p:spPr>
          <a:xfrm>
            <a:off x="6211823" y="7759674"/>
            <a:ext cx="1234622"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Real-time Telemetry</a:t>
            </a:r>
          </a:p>
        </p:txBody>
      </p:sp>
      <p:sp>
        <p:nvSpPr>
          <p:cNvPr id="145" name="file_downlink_label" descr="Editable text; source id file_downlink_label"/>
          <p:cNvSpPr txBox="1"/>
          <p:nvPr/>
        </p:nvSpPr>
        <p:spPr>
          <a:xfrm>
            <a:off x="6211823" y="7957794"/>
            <a:ext cx="798423" cy="176105"/>
          </a:xfrm>
          <a:prstGeom prst="rect">
            <a:avLst/>
          </a:prstGeom>
          <a:noFill/>
          <a:effectLst/>
        </p:spPr>
        <p:txBody>
          <a:bodyPr wrap="none" anchor="t" tIns="0" rIns="0" bIns="0" lIns="0" anchorCtr="0" vertOverflow="overflow">
            <a:noAutofit/>
          </a:bodyPr>
          <a:lstStyle/>
          <a:p>
            <a:pPr algn="l" fontAlgn="base">
              <a:lnSpc>
                <a:spcPts val="1214"/>
              </a:lnSpc>
              <a:spcBef>
                <a:spcPts val="0"/>
              </a:spcBef>
              <a:spcAft>
                <a:spcPts val="0"/>
              </a:spcAft>
              <a:defRPr sz="1066" b="0" i="0" lang="zh-CN" dirty="0">
                <a:solidFill>
                  <a:srgbClr val="000000"/>
                </a:solidFill>
                <a:latin typeface="Arial"/>
                <a:ea typeface="Arial"/>
                <a:cs typeface="Arial"/>
              </a:defRPr>
            </a:pPr>
            <a:r>
              <a:rPr sz="1066" b="0" i="0" lang="zh-CN" dirty="0">
                <a:solidFill>
                  <a:srgbClr val="000000"/>
                </a:solidFill>
                <a:latin typeface="Arial"/>
                <a:ea typeface="Arial"/>
                <a:cs typeface="Arial"/>
              </a:rPr>
              <a:t>File downlink</a:t>
            </a:r>
          </a:p>
        </p:txBody>
      </p:sp>
      <p:sp>
        <p:nvSpPr>
          <p:cNvPr id="146" name="legend_cfs_label" descr="Editable text; source id legend_cfs_label"/>
          <p:cNvSpPr txBox="1"/>
          <p:nvPr/>
        </p:nvSpPr>
        <p:spPr>
          <a:xfrm>
            <a:off x="557783" y="7481011"/>
            <a:ext cx="1276205" cy="220134"/>
          </a:xfrm>
          <a:prstGeom prst="rect">
            <a:avLst/>
          </a:prstGeom>
          <a:noFill/>
          <a:effectLst/>
        </p:spPr>
        <p:txBody>
          <a:bodyPr wrap="none" anchor="t" tIns="0" rIns="0" bIns="0" lIns="0" anchorCtr="0" vertOverflow="overflow">
            <a:noAutofit/>
          </a:bodyPr>
          <a:lstStyle/>
          <a:p>
            <a:pPr algn="l" fontAlgn="base">
              <a:lnSpc>
                <a:spcPts val="1499"/>
              </a:lnSpc>
              <a:spcBef>
                <a:spcPts val="0"/>
              </a:spcBef>
              <a:spcAft>
                <a:spcPts val="0"/>
              </a:spcAft>
              <a:defRPr sz="1333" b="0" i="0" lang="zh-CN" dirty="0">
                <a:solidFill>
                  <a:srgbClr val="000000"/>
                </a:solidFill>
                <a:latin typeface="Arial"/>
                <a:ea typeface="Arial"/>
                <a:cs typeface="Arial"/>
              </a:defRPr>
            </a:pPr>
            <a:r>
              <a:rPr sz="1333" b="0" i="0" lang="zh-CN" dirty="0">
                <a:solidFill>
                  <a:srgbClr val="000000"/>
                </a:solidFill>
                <a:latin typeface="Arial"/>
                <a:ea typeface="Arial"/>
                <a:cs typeface="Arial"/>
              </a:rPr>
              <a:t>cFS Applications</a:t>
            </a:r>
          </a:p>
        </p:txBody>
      </p:sp>
      <p:sp>
        <p:nvSpPr>
          <p:cNvPr id="147" name="legend_mission_label" descr="Editable text; source id legend_mission_label"/>
          <p:cNvSpPr txBox="1"/>
          <p:nvPr/>
        </p:nvSpPr>
        <p:spPr>
          <a:xfrm>
            <a:off x="542543" y="7920913"/>
            <a:ext cx="1554479" cy="220134"/>
          </a:xfrm>
          <a:prstGeom prst="rect">
            <a:avLst/>
          </a:prstGeom>
          <a:noFill/>
          <a:effectLst/>
        </p:spPr>
        <p:txBody>
          <a:bodyPr wrap="none" anchor="t" tIns="0" rIns="0" bIns="0" lIns="0" anchorCtr="0" vertOverflow="overflow">
            <a:noAutofit/>
          </a:bodyPr>
          <a:lstStyle/>
          <a:p>
            <a:pPr algn="l" fontAlgn="base">
              <a:lnSpc>
                <a:spcPts val="1499"/>
              </a:lnSpc>
              <a:spcBef>
                <a:spcPts val="0"/>
              </a:spcBef>
              <a:spcAft>
                <a:spcPts val="0"/>
              </a:spcAft>
              <a:defRPr sz="1333" b="0" i="0" lang="zh-CN" dirty="0">
                <a:solidFill>
                  <a:srgbClr val="000000"/>
                </a:solidFill>
                <a:latin typeface="Arial"/>
                <a:ea typeface="Arial"/>
                <a:cs typeface="Arial"/>
              </a:defRPr>
            </a:pPr>
            <a:r>
              <a:rPr sz="1333" b="0" i="0" lang="zh-CN" dirty="0">
                <a:solidFill>
                  <a:srgbClr val="000000"/>
                </a:solidFill>
                <a:latin typeface="Arial"/>
                <a:ea typeface="Arial"/>
                <a:cs typeface="Arial"/>
              </a:rPr>
              <a:t>Mission Applications</a:t>
            </a:r>
          </a:p>
        </p:txBody>
      </p:sp>
      <p:sp>
        <p:nvSpPr>
          <p:cNvPr id="148" name="legend_core_label" descr="Editable text; source id legend_core_label"/>
          <p:cNvSpPr txBox="1"/>
          <p:nvPr/>
        </p:nvSpPr>
        <p:spPr>
          <a:xfrm>
            <a:off x="557783" y="8448750"/>
            <a:ext cx="2049779" cy="220134"/>
          </a:xfrm>
          <a:prstGeom prst="rect">
            <a:avLst/>
          </a:prstGeom>
          <a:noFill/>
          <a:effectLst/>
        </p:spPr>
        <p:txBody>
          <a:bodyPr wrap="none" anchor="t" tIns="0" rIns="0" bIns="0" lIns="0" anchorCtr="0" vertOverflow="overflow">
            <a:noAutofit/>
          </a:bodyPr>
          <a:lstStyle/>
          <a:p>
            <a:pPr algn="l" fontAlgn="base">
              <a:lnSpc>
                <a:spcPts val="1499"/>
              </a:lnSpc>
              <a:spcBef>
                <a:spcPts val="0"/>
              </a:spcBef>
              <a:spcAft>
                <a:spcPts val="0"/>
              </a:spcAft>
              <a:defRPr sz="1333" b="0" i="0" lang="zh-CN" dirty="0">
                <a:solidFill>
                  <a:srgbClr val="000000"/>
                </a:solidFill>
                <a:latin typeface="Arial"/>
                <a:ea typeface="Arial"/>
                <a:cs typeface="Arial"/>
              </a:defRPr>
            </a:pPr>
            <a:r>
              <a:rPr sz="1333" b="0" i="0" lang="zh-CN" dirty="0">
                <a:solidFill>
                  <a:srgbClr val="000000"/>
                </a:solidFill>
                <a:latin typeface="Arial"/>
                <a:ea typeface="Arial"/>
                <a:cs typeface="Arial"/>
              </a:rPr>
              <a:t>Core Services/Applications</a:t>
            </a:r>
          </a:p>
        </p:txBody>
      </p:sp>
      <p:sp>
        <p:nvSpPr>
          <p:cNvPr id="149" name="page_number" descr="Editable text; source id page_number"/>
          <p:cNvSpPr txBox="1"/>
          <p:nvPr/>
        </p:nvSpPr>
        <p:spPr>
          <a:xfrm>
            <a:off x="11393423" y="8905646"/>
            <a:ext cx="241249" cy="233171"/>
          </a:xfrm>
          <a:prstGeom prst="rect">
            <a:avLst/>
          </a:prstGeom>
          <a:noFill/>
          <a:effectLst/>
        </p:spPr>
        <p:txBody>
          <a:bodyPr wrap="none" anchor="t" tIns="0" rIns="0" bIns="0" lIns="0" anchorCtr="0" vertOverflow="overflow">
            <a:noAutofit/>
          </a:bodyPr>
          <a:lstStyle/>
          <a:p>
            <a:pPr algn="l" fontAlgn="base">
              <a:lnSpc>
                <a:spcPts val="1799"/>
              </a:lnSpc>
              <a:spcBef>
                <a:spcPts val="0"/>
              </a:spcBef>
              <a:spcAft>
                <a:spcPts val="0"/>
              </a:spcAft>
              <a:defRPr sz="1599" b="0" i="0" lang="zh-CN" dirty="0">
                <a:solidFill>
                  <a:srgbClr val="000000"/>
                </a:solidFill>
                <a:latin typeface="Arial"/>
                <a:ea typeface="Arial"/>
                <a:cs typeface="Arial"/>
              </a:defRPr>
            </a:pPr>
            <a:r>
              <a:rPr sz="1599" b="0" i="0" lang="zh-CN" dirty="0">
                <a:solidFill>
                  <a:srgbClr val="000000"/>
                </a:solidFill>
                <a:latin typeface="Arial"/>
                <a:ea typeface="Arial"/>
                <a:cs typeface="Arial"/>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NASA Example Mission Applications — editable screenshot reconstruction</dc:title>
  <dc:subject>Reconstructed from source images; see validation and font manifest</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