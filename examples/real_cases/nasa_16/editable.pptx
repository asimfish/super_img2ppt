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143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David McComas / NASA GSFC, NTRS 20180007319. Reconstructed from the rendered page image and OCR; source speaker notes were not supplied. Logos remain independent raster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nasa-logo" descr="NASA NTRS 20180007319 page 11, title-free common header crop; source image coordinates recorded in box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4419" cy="1021079"/>
          </a:xfrm>
          <a:prstGeom prst="rect">
            <a:avLst/>
          </a:prstGeom>
          <a:effectLst/>
        </p:spPr>
      </p:pic>
      <p:pic>
        <p:nvPicPr>
          <p:cNvPr id="3" name="stars" descr="NASA NTRS 20180007319 page 11, title-free common header crop; source image coordinates recorded in box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19" y="0"/>
            <a:ext cx="9677399" cy="1021079"/>
          </a:xfrm>
          <a:prstGeom prst="rect">
            <a:avLst/>
          </a:prstGeom>
          <a:effectLst/>
        </p:spPr>
      </p:pic>
      <p:pic>
        <p:nvPicPr>
          <p:cNvPr id="4" name="cfs-logo" descr="NASA NTRS 20180007319 page 11, title-free common header crop; source image coordinates recorded in box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1819" y="0"/>
            <a:ext cx="1440179" cy="1021079"/>
          </a:xfrm>
          <a:prstGeom prst="rect">
            <a:avLst/>
          </a:prstGeom>
          <a:effectLst/>
        </p:spPr>
      </p:pic>
      <p:cxnSp>
        <p:nvCxnSpPr>
          <p:cNvPr id="5" name="footer" descr="Editable line; source id footer"/>
          <p:cNvCxnSpPr/>
          <p:nvPr/>
        </p:nvCxnSpPr>
        <p:spPr>
          <a:xfrm>
            <a:off x="0" y="8854439"/>
            <a:ext cx="12191999" cy="0"/>
          </a:xfrm>
          <a:prstGeom prst="line">
            <a:avLst/>
          </a:prstGeom>
          <a:ln w="15239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llout" descr="Editable shape; source id callout"/>
          <p:cNvSpPr/>
          <p:nvPr/>
        </p:nvSpPr>
        <p:spPr>
          <a:xfrm>
            <a:off x="609599" y="7315199"/>
            <a:ext cx="10972799" cy="86867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bevel-top" descr="Text-free edge crop of the source page 16 green callout; editable center and text reconstructed separately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" y="7315199"/>
            <a:ext cx="10972799" cy="99059"/>
          </a:xfrm>
          <a:prstGeom prst="rect">
            <a:avLst/>
          </a:prstGeom>
          <a:effectLst/>
        </p:spPr>
      </p:pic>
      <p:pic>
        <p:nvPicPr>
          <p:cNvPr id="8" name="bevel-bottom" descr="Text-free edge crop of the source page 16 green callout; editable center and text reconstructed separately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" y="8084819"/>
            <a:ext cx="10972799" cy="99059"/>
          </a:xfrm>
          <a:prstGeom prst="rect">
            <a:avLst/>
          </a:prstGeom>
          <a:effectLst/>
        </p:spPr>
      </p:pic>
      <p:pic>
        <p:nvPicPr>
          <p:cNvPr id="9" name="bevel-left" descr="Text-free edge crop of the source page 16 green callout; editable center and text reconstructed separately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9" y="7414259"/>
            <a:ext cx="106679" cy="670559"/>
          </a:xfrm>
          <a:prstGeom prst="rect">
            <a:avLst/>
          </a:prstGeom>
          <a:effectLst/>
        </p:spPr>
      </p:pic>
      <p:pic>
        <p:nvPicPr>
          <p:cNvPr id="10" name="bevel-right" descr="Text-free edge crop of the source page 16 green callout; editable center and text reconstructed separately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5719" y="7414259"/>
            <a:ext cx="106679" cy="670559"/>
          </a:xfrm>
          <a:prstGeom prst="rect">
            <a:avLst/>
          </a:prstGeom>
          <a:effectLst/>
        </p:spPr>
      </p:pic>
      <p:sp>
        <p:nvSpPr>
          <p:cNvPr id="11" name="title" descr="Editable text; source id title"/>
          <p:cNvSpPr txBox="1"/>
          <p:nvPr/>
        </p:nvSpPr>
        <p:spPr>
          <a:xfrm>
            <a:off x="3756659" y="241934"/>
            <a:ext cx="4261484" cy="5528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293"/>
              </a:lnSpc>
              <a:spcBef>
                <a:spcPts val="0"/>
              </a:spcBef>
              <a:spcAft>
                <a:spcPts val="0"/>
              </a:spcAft>
              <a:defRPr sz="3733" b="1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33" b="1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 Goals</a:t>
            </a:r>
          </a:p>
        </p:txBody>
      </p:sp>
      <p:sp>
        <p:nvSpPr>
          <p:cNvPr id="12" name="page-number" descr="Editable text; source id page-number"/>
          <p:cNvSpPr txBox="1"/>
          <p:nvPr/>
        </p:nvSpPr>
        <p:spPr>
          <a:xfrm>
            <a:off x="11378564" y="8907779"/>
            <a:ext cx="251459" cy="2381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599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9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3" name="number-1" descr="Editable text; source id number-1"/>
          <p:cNvSpPr txBox="1"/>
          <p:nvPr/>
        </p:nvSpPr>
        <p:spPr>
          <a:xfrm>
            <a:off x="1722119" y="1489709"/>
            <a:ext cx="27622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4" name="goal-1" descr="Editable text; source id goal-1"/>
          <p:cNvSpPr txBox="1"/>
          <p:nvPr/>
        </p:nvSpPr>
        <p:spPr>
          <a:xfrm>
            <a:off x="2265044" y="1483994"/>
            <a:ext cx="7227569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Reduce time to deploy high quality flight software</a:t>
            </a:r>
          </a:p>
        </p:txBody>
      </p:sp>
      <p:sp>
        <p:nvSpPr>
          <p:cNvPr id="15" name="number-2" descr="Editable text; source id number-2"/>
          <p:cNvSpPr txBox="1"/>
          <p:nvPr/>
        </p:nvSpPr>
        <p:spPr>
          <a:xfrm>
            <a:off x="1722119" y="2266949"/>
            <a:ext cx="27622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6" name="goal-2" descr="Editable text; source id goal-2"/>
          <p:cNvSpPr txBox="1"/>
          <p:nvPr/>
        </p:nvSpPr>
        <p:spPr>
          <a:xfrm>
            <a:off x="2265044" y="2265044"/>
            <a:ext cx="6694169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Reduce project schedule and cost uncertainty</a:t>
            </a:r>
          </a:p>
        </p:txBody>
      </p:sp>
      <p:sp>
        <p:nvSpPr>
          <p:cNvPr id="17" name="number-3" descr="Editable text; source id number-3"/>
          <p:cNvSpPr txBox="1"/>
          <p:nvPr/>
        </p:nvSpPr>
        <p:spPr>
          <a:xfrm>
            <a:off x="1718309" y="3044189"/>
            <a:ext cx="27622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8" name="goal-3" descr="Editable text; source id goal-3"/>
          <p:cNvSpPr txBox="1"/>
          <p:nvPr/>
        </p:nvSpPr>
        <p:spPr>
          <a:xfrm>
            <a:off x="2265044" y="3038474"/>
            <a:ext cx="6294119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Directly facilitate formalized software reuse</a:t>
            </a:r>
          </a:p>
        </p:txBody>
      </p:sp>
      <p:sp>
        <p:nvSpPr>
          <p:cNvPr id="19" name="number-4" descr="Editable text; source id number-4"/>
          <p:cNvSpPr txBox="1"/>
          <p:nvPr/>
        </p:nvSpPr>
        <p:spPr>
          <a:xfrm>
            <a:off x="1725929" y="3817619"/>
            <a:ext cx="27622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20" name="goal-4" descr="Editable text; source id goal-4"/>
          <p:cNvSpPr txBox="1"/>
          <p:nvPr/>
        </p:nvSpPr>
        <p:spPr>
          <a:xfrm>
            <a:off x="2265044" y="3811904"/>
            <a:ext cx="615124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Enable collaboration across organizations</a:t>
            </a:r>
          </a:p>
        </p:txBody>
      </p:sp>
      <p:sp>
        <p:nvSpPr>
          <p:cNvPr id="21" name="number-5" descr="Editable text; source id number-5"/>
          <p:cNvSpPr txBox="1"/>
          <p:nvPr/>
        </p:nvSpPr>
        <p:spPr>
          <a:xfrm>
            <a:off x="1724024" y="4594859"/>
            <a:ext cx="27622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22" name="goal-5" descr="Editable text; source id goal-5"/>
          <p:cNvSpPr txBox="1"/>
          <p:nvPr/>
        </p:nvSpPr>
        <p:spPr>
          <a:xfrm>
            <a:off x="2268854" y="4585334"/>
            <a:ext cx="9357359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Simplify sustaining engineering (i.e. On Orbit FSW maintenance)</a:t>
            </a:r>
          </a:p>
        </p:txBody>
      </p:sp>
      <p:sp>
        <p:nvSpPr>
          <p:cNvPr id="23" name="number-6" descr="Editable text; source id number-6"/>
          <p:cNvSpPr txBox="1"/>
          <p:nvPr/>
        </p:nvSpPr>
        <p:spPr>
          <a:xfrm>
            <a:off x="1718309" y="5802629"/>
            <a:ext cx="27622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24" name="goal-6" descr="Editable text; source id goal-6"/>
          <p:cNvSpPr txBox="1"/>
          <p:nvPr/>
        </p:nvSpPr>
        <p:spPr>
          <a:xfrm>
            <a:off x="2268854" y="5796914"/>
            <a:ext cx="800671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 from small instruments to Hubble class missions</a:t>
            </a:r>
          </a:p>
        </p:txBody>
      </p:sp>
      <p:sp>
        <p:nvSpPr>
          <p:cNvPr id="25" name="number-7" descr="Editable text; source id number-7"/>
          <p:cNvSpPr txBox="1"/>
          <p:nvPr/>
        </p:nvSpPr>
        <p:spPr>
          <a:xfrm>
            <a:off x="1718309" y="6583679"/>
            <a:ext cx="27622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6" name="goal-7" descr="Editable text; source id goal-7"/>
          <p:cNvSpPr txBox="1"/>
          <p:nvPr/>
        </p:nvSpPr>
        <p:spPr>
          <a:xfrm>
            <a:off x="2265044" y="6574154"/>
            <a:ext cx="8147684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a platform for advanced concepts and prototyping</a:t>
            </a:r>
          </a:p>
        </p:txBody>
      </p:sp>
      <p:sp>
        <p:nvSpPr>
          <p:cNvPr id="27" name="goal-5-continuation" descr="Editable text; source id goal-5-continuation"/>
          <p:cNvSpPr txBox="1"/>
          <p:nvPr/>
        </p:nvSpPr>
        <p:spPr>
          <a:xfrm>
            <a:off x="2181224" y="5025389"/>
            <a:ext cx="4453889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Missions last 10 years or more</a:t>
            </a:r>
          </a:p>
        </p:txBody>
      </p:sp>
      <p:sp>
        <p:nvSpPr>
          <p:cNvPr id="28" name="callout-1" descr="Editable text; source id callout-1"/>
          <p:cNvSpPr txBox="1"/>
          <p:nvPr/>
        </p:nvSpPr>
        <p:spPr>
          <a:xfrm>
            <a:off x="1480184" y="7372349"/>
            <a:ext cx="9243059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These goals were written in 2006 and have remained essentially</a:t>
            </a:r>
          </a:p>
        </p:txBody>
      </p:sp>
      <p:sp>
        <p:nvSpPr>
          <p:cNvPr id="29" name="callout-2" descr="Editable text; source id callout-2"/>
          <p:cNvSpPr txBox="1"/>
          <p:nvPr/>
        </p:nvSpPr>
        <p:spPr>
          <a:xfrm>
            <a:off x="4154804" y="7713344"/>
            <a:ext cx="3901439" cy="3591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68"/>
              </a:lnSpc>
              <a:spcBef>
                <a:spcPts val="0"/>
              </a:spcBef>
              <a:spcAft>
                <a:spcPts val="0"/>
              </a:spcAft>
              <a:def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unchanged over the years!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 cFS real-image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