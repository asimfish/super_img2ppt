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4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David McComas / NASA GSFC, NTRS 20180007319. Reconstructed from the rendered page image and OCR; source speaker notes were not supplied. Logos remain independent raster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nasa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4419" cy="1021079"/>
          </a:xfrm>
          <a:prstGeom prst="rect">
            <a:avLst/>
          </a:prstGeom>
          <a:effectLst/>
        </p:spPr>
      </p:pic>
      <p:pic>
        <p:nvPicPr>
          <p:cNvPr id="3" name="stars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19" y="0"/>
            <a:ext cx="9677399" cy="1021079"/>
          </a:xfrm>
          <a:prstGeom prst="rect">
            <a:avLst/>
          </a:prstGeom>
          <a:effectLst/>
        </p:spPr>
      </p:pic>
      <p:pic>
        <p:nvPicPr>
          <p:cNvPr id="4" name="cfs-logo" descr="NASA NTRS 20180007319 page 11, title-free common header crop; source image coordinates recorded in box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1819" y="0"/>
            <a:ext cx="1440179" cy="1021079"/>
          </a:xfrm>
          <a:prstGeom prst="rect">
            <a:avLst/>
          </a:prstGeom>
          <a:effectLst/>
        </p:spPr>
      </p:pic>
      <p:cxnSp>
        <p:nvCxnSpPr>
          <p:cNvPr id="5" name="footer" descr="Editable line; source id footer"/>
          <p:cNvCxnSpPr/>
          <p:nvPr/>
        </p:nvCxnSpPr>
        <p:spPr>
          <a:xfrm>
            <a:off x="0" y="8854439"/>
            <a:ext cx="12191999" cy="0"/>
          </a:xfrm>
          <a:prstGeom prst="line">
            <a:avLst/>
          </a:prstGeom>
          <a:ln w="15239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bullet-00" descr="Editable shape; source id bullet-00"/>
          <p:cNvSpPr/>
          <p:nvPr/>
        </p:nvSpPr>
        <p:spPr>
          <a:xfrm>
            <a:off x="1150619" y="15468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ullet-01" descr="Editable shape; source id bullet-01"/>
          <p:cNvSpPr/>
          <p:nvPr/>
        </p:nvSpPr>
        <p:spPr>
          <a:xfrm>
            <a:off x="1150619" y="17449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ullet-02" descr="Editable shape; source id bullet-02"/>
          <p:cNvSpPr/>
          <p:nvPr/>
        </p:nvSpPr>
        <p:spPr>
          <a:xfrm>
            <a:off x="1150619" y="19354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ullet-03" descr="Editable shape; source id bullet-03"/>
          <p:cNvSpPr/>
          <p:nvPr/>
        </p:nvSpPr>
        <p:spPr>
          <a:xfrm>
            <a:off x="1150619" y="21335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ullet-04" descr="Editable shape; source id bullet-04"/>
          <p:cNvSpPr/>
          <p:nvPr/>
        </p:nvSpPr>
        <p:spPr>
          <a:xfrm>
            <a:off x="1150619" y="23240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ullet-05" descr="Editable shape; source id bullet-05"/>
          <p:cNvSpPr/>
          <p:nvPr/>
        </p:nvSpPr>
        <p:spPr>
          <a:xfrm>
            <a:off x="1150619" y="25222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ullet-06" descr="Editable shape; source id bullet-06"/>
          <p:cNvSpPr/>
          <p:nvPr/>
        </p:nvSpPr>
        <p:spPr>
          <a:xfrm>
            <a:off x="1150619" y="27203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ullet-07" descr="Editable shape; source id bullet-07"/>
          <p:cNvSpPr/>
          <p:nvPr/>
        </p:nvSpPr>
        <p:spPr>
          <a:xfrm>
            <a:off x="1150619" y="29108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ullet-08" descr="Editable shape; source id bullet-08"/>
          <p:cNvSpPr/>
          <p:nvPr/>
        </p:nvSpPr>
        <p:spPr>
          <a:xfrm>
            <a:off x="1150619" y="31089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ullet-09" descr="Editable shape; source id bullet-09"/>
          <p:cNvSpPr/>
          <p:nvPr/>
        </p:nvSpPr>
        <p:spPr>
          <a:xfrm>
            <a:off x="1150619" y="32994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ullet-10" descr="Editable shape; source id bullet-10"/>
          <p:cNvSpPr/>
          <p:nvPr/>
        </p:nvSpPr>
        <p:spPr>
          <a:xfrm>
            <a:off x="1150619" y="34975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ullet-11" descr="Editable shape; source id bullet-11"/>
          <p:cNvSpPr/>
          <p:nvPr/>
        </p:nvSpPr>
        <p:spPr>
          <a:xfrm>
            <a:off x="1150619" y="36956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ullet-12" descr="Editable shape; source id bullet-12"/>
          <p:cNvSpPr/>
          <p:nvPr/>
        </p:nvSpPr>
        <p:spPr>
          <a:xfrm>
            <a:off x="1150619" y="38861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ullet-13" descr="Editable shape; source id bullet-13"/>
          <p:cNvSpPr/>
          <p:nvPr/>
        </p:nvSpPr>
        <p:spPr>
          <a:xfrm>
            <a:off x="1150619" y="40843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ullet-14" descr="Editable shape; source id bullet-14"/>
          <p:cNvSpPr/>
          <p:nvPr/>
        </p:nvSpPr>
        <p:spPr>
          <a:xfrm>
            <a:off x="1150619" y="42748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ullet-15" descr="Editable shape; source id bullet-15"/>
          <p:cNvSpPr/>
          <p:nvPr/>
        </p:nvSpPr>
        <p:spPr>
          <a:xfrm>
            <a:off x="1150619" y="44729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ullet-16" descr="Editable shape; source id bullet-16"/>
          <p:cNvSpPr/>
          <p:nvPr/>
        </p:nvSpPr>
        <p:spPr>
          <a:xfrm>
            <a:off x="1150619" y="46710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ullet-17" descr="Editable shape; source id bullet-17"/>
          <p:cNvSpPr/>
          <p:nvPr/>
        </p:nvSpPr>
        <p:spPr>
          <a:xfrm>
            <a:off x="1150619" y="48615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ullet-18" descr="Editable shape; source id bullet-18"/>
          <p:cNvSpPr/>
          <p:nvPr/>
        </p:nvSpPr>
        <p:spPr>
          <a:xfrm>
            <a:off x="1150619" y="50596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ullet-19" descr="Editable shape; source id bullet-19"/>
          <p:cNvSpPr/>
          <p:nvPr/>
        </p:nvSpPr>
        <p:spPr>
          <a:xfrm>
            <a:off x="1150619" y="52501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ullet-20" descr="Editable shape; source id bullet-20"/>
          <p:cNvSpPr/>
          <p:nvPr/>
        </p:nvSpPr>
        <p:spPr>
          <a:xfrm>
            <a:off x="1150619" y="54482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ullet-21" descr="Editable shape; source id bullet-21"/>
          <p:cNvSpPr/>
          <p:nvPr/>
        </p:nvSpPr>
        <p:spPr>
          <a:xfrm>
            <a:off x="1150619" y="56464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ullet-22" descr="Editable shape; source id bullet-22"/>
          <p:cNvSpPr/>
          <p:nvPr/>
        </p:nvSpPr>
        <p:spPr>
          <a:xfrm>
            <a:off x="1150619" y="58369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ullet-23" descr="Editable shape; source id bullet-23"/>
          <p:cNvSpPr/>
          <p:nvPr/>
        </p:nvSpPr>
        <p:spPr>
          <a:xfrm>
            <a:off x="1150619" y="60350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ullet-24" descr="Editable shape; source id bullet-24"/>
          <p:cNvSpPr/>
          <p:nvPr/>
        </p:nvSpPr>
        <p:spPr>
          <a:xfrm>
            <a:off x="1150619" y="62255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ullet-25" descr="Editable shape; source id bullet-25"/>
          <p:cNvSpPr/>
          <p:nvPr/>
        </p:nvSpPr>
        <p:spPr>
          <a:xfrm>
            <a:off x="1150619" y="64236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ullet-26" descr="Editable shape; source id bullet-26"/>
          <p:cNvSpPr/>
          <p:nvPr/>
        </p:nvSpPr>
        <p:spPr>
          <a:xfrm>
            <a:off x="1150619" y="66217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ullet-27" descr="Editable shape; source id bullet-27"/>
          <p:cNvSpPr/>
          <p:nvPr/>
        </p:nvSpPr>
        <p:spPr>
          <a:xfrm>
            <a:off x="1150619" y="68122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ullet-28" descr="Editable shape; source id bullet-28"/>
          <p:cNvSpPr/>
          <p:nvPr/>
        </p:nvSpPr>
        <p:spPr>
          <a:xfrm>
            <a:off x="1150619" y="70103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llet-29" descr="Editable shape; source id bullet-29"/>
          <p:cNvSpPr/>
          <p:nvPr/>
        </p:nvSpPr>
        <p:spPr>
          <a:xfrm>
            <a:off x="1150619" y="720089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ullet-30" descr="Editable shape; source id bullet-30"/>
          <p:cNvSpPr/>
          <p:nvPr/>
        </p:nvSpPr>
        <p:spPr>
          <a:xfrm>
            <a:off x="1150619" y="739901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ullet-31" descr="Editable shape; source id bullet-31"/>
          <p:cNvSpPr/>
          <p:nvPr/>
        </p:nvSpPr>
        <p:spPr>
          <a:xfrm>
            <a:off x="1150619" y="75971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ullet-32" descr="Editable shape; source id bullet-32"/>
          <p:cNvSpPr/>
          <p:nvPr/>
        </p:nvSpPr>
        <p:spPr>
          <a:xfrm>
            <a:off x="1150619" y="778763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ullet-33" descr="Editable shape; source id bullet-33"/>
          <p:cNvSpPr/>
          <p:nvPr/>
        </p:nvSpPr>
        <p:spPr>
          <a:xfrm>
            <a:off x="1150619" y="798575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bullet-34" descr="Editable shape; source id bullet-34"/>
          <p:cNvSpPr/>
          <p:nvPr/>
        </p:nvSpPr>
        <p:spPr>
          <a:xfrm>
            <a:off x="1150619" y="8183879"/>
            <a:ext cx="60959" cy="60959"/>
          </a:xfrm>
          <a:prstGeom prst="ellipse">
            <a:avLst/>
          </a:prstGeom>
          <a:solidFill>
            <a:srgbClr val="66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itle" descr="Editable text; source id title"/>
          <p:cNvSpPr txBox="1"/>
          <p:nvPr/>
        </p:nvSpPr>
        <p:spPr>
          <a:xfrm>
            <a:off x="4945379" y="289559"/>
            <a:ext cx="2339339" cy="55287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293"/>
              </a:lnSpc>
              <a:spcBef>
                <a:spcPts val="0"/>
              </a:spcBef>
              <a:spcAft>
                <a:spcPts val="0"/>
              </a:spcAft>
              <a:def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33" b="1" i="0" lang="zh-CN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Acronyms</a:t>
            </a:r>
          </a:p>
        </p:txBody>
      </p:sp>
      <p:sp>
        <p:nvSpPr>
          <p:cNvPr id="42" name="page-number" descr="Editable text; source id page-number"/>
          <p:cNvSpPr txBox="1"/>
          <p:nvPr/>
        </p:nvSpPr>
        <p:spPr>
          <a:xfrm>
            <a:off x="11378564" y="8907779"/>
            <a:ext cx="251459" cy="2381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3" name="acronym-00" descr="Editable text; source id acronym-00"/>
          <p:cNvSpPr txBox="1"/>
          <p:nvPr/>
        </p:nvSpPr>
        <p:spPr>
          <a:xfrm>
            <a:off x="1602104" y="1504949"/>
            <a:ext cx="24193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44" name="expansion-00" descr="Editable text; source id expansion-00"/>
          <p:cNvSpPr txBox="1"/>
          <p:nvPr/>
        </p:nvSpPr>
        <p:spPr>
          <a:xfrm>
            <a:off x="3575684" y="1506854"/>
            <a:ext cx="203453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Application Programmer Interface</a:t>
            </a:r>
          </a:p>
        </p:txBody>
      </p:sp>
      <p:sp>
        <p:nvSpPr>
          <p:cNvPr id="45" name="acronym-01" descr="Editable text; source id acronym-01"/>
          <p:cNvSpPr txBox="1"/>
          <p:nvPr/>
        </p:nvSpPr>
        <p:spPr>
          <a:xfrm>
            <a:off x="1602104" y="1704974"/>
            <a:ext cx="30860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ARC</a:t>
            </a:r>
          </a:p>
        </p:txBody>
      </p:sp>
      <p:sp>
        <p:nvSpPr>
          <p:cNvPr id="46" name="expansion-01" descr="Editable text; source id expansion-01"/>
          <p:cNvSpPr txBox="1"/>
          <p:nvPr/>
        </p:nvSpPr>
        <p:spPr>
          <a:xfrm>
            <a:off x="3575684" y="1704974"/>
            <a:ext cx="142874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Ames Research Center</a:t>
            </a:r>
          </a:p>
        </p:txBody>
      </p:sp>
      <p:sp>
        <p:nvSpPr>
          <p:cNvPr id="47" name="acronym-02" descr="Editable text; source id acronym-02"/>
          <p:cNvSpPr txBox="1"/>
          <p:nvPr/>
        </p:nvSpPr>
        <p:spPr>
          <a:xfrm>
            <a:off x="1605914" y="1893569"/>
            <a:ext cx="28384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BAT</a:t>
            </a:r>
          </a:p>
        </p:txBody>
      </p:sp>
      <p:sp>
        <p:nvSpPr>
          <p:cNvPr id="48" name="expansion-02" descr="Editable text; source id expansion-02"/>
          <p:cNvSpPr txBox="1"/>
          <p:nvPr/>
        </p:nvSpPr>
        <p:spPr>
          <a:xfrm>
            <a:off x="3579494" y="1893569"/>
            <a:ext cx="131444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Burst Alert Telescope</a:t>
            </a:r>
          </a:p>
        </p:txBody>
      </p:sp>
      <p:sp>
        <p:nvSpPr>
          <p:cNvPr id="49" name="acronym-03" descr="Editable text; source id acronym-03"/>
          <p:cNvSpPr txBox="1"/>
          <p:nvPr/>
        </p:nvSpPr>
        <p:spPr>
          <a:xfrm>
            <a:off x="1602104" y="2093594"/>
            <a:ext cx="49339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CCSDS</a:t>
            </a:r>
          </a:p>
        </p:txBody>
      </p:sp>
      <p:sp>
        <p:nvSpPr>
          <p:cNvPr id="50" name="expansion-03" descr="Editable text; source id expansion-03"/>
          <p:cNvSpPr txBox="1"/>
          <p:nvPr/>
        </p:nvSpPr>
        <p:spPr>
          <a:xfrm>
            <a:off x="3575684" y="2093594"/>
            <a:ext cx="295084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Consultative Committee for Space Data Systems</a:t>
            </a:r>
          </a:p>
        </p:txBody>
      </p:sp>
      <p:sp>
        <p:nvSpPr>
          <p:cNvPr id="51" name="acronym-04" descr="Editable text; source id acronym-04"/>
          <p:cNvSpPr txBox="1"/>
          <p:nvPr/>
        </p:nvSpPr>
        <p:spPr>
          <a:xfrm>
            <a:off x="1602104" y="2284094"/>
            <a:ext cx="31432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CDH</a:t>
            </a:r>
          </a:p>
        </p:txBody>
      </p:sp>
      <p:sp>
        <p:nvSpPr>
          <p:cNvPr id="52" name="expansion-04" descr="Editable text; source id expansion-04"/>
          <p:cNvSpPr txBox="1"/>
          <p:nvPr/>
        </p:nvSpPr>
        <p:spPr>
          <a:xfrm>
            <a:off x="3575684" y="2284094"/>
            <a:ext cx="15316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Command Data Handling</a:t>
            </a:r>
          </a:p>
        </p:txBody>
      </p:sp>
      <p:sp>
        <p:nvSpPr>
          <p:cNvPr id="53" name="acronym-05" descr="Editable text; source id acronym-05"/>
          <p:cNvSpPr txBox="1"/>
          <p:nvPr/>
        </p:nvSpPr>
        <p:spPr>
          <a:xfrm>
            <a:off x="1602104" y="2482214"/>
            <a:ext cx="3886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CFDP</a:t>
            </a:r>
          </a:p>
        </p:txBody>
      </p:sp>
      <p:sp>
        <p:nvSpPr>
          <p:cNvPr id="54" name="expansion-05" descr="Editable text; source id expansion-05"/>
          <p:cNvSpPr txBox="1"/>
          <p:nvPr/>
        </p:nvSpPr>
        <p:spPr>
          <a:xfrm>
            <a:off x="3575684" y="2482214"/>
            <a:ext cx="180974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CCSDS File Delivery Protocol</a:t>
            </a:r>
          </a:p>
        </p:txBody>
      </p:sp>
      <p:sp>
        <p:nvSpPr>
          <p:cNvPr id="55" name="acronym-06" descr="Editable text; source id acronym-06"/>
          <p:cNvSpPr txBox="1"/>
          <p:nvPr/>
        </p:nvSpPr>
        <p:spPr>
          <a:xfrm>
            <a:off x="1604009" y="2678429"/>
            <a:ext cx="26288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cFE</a:t>
            </a:r>
          </a:p>
        </p:txBody>
      </p:sp>
      <p:sp>
        <p:nvSpPr>
          <p:cNvPr id="56" name="expansion-06" descr="Editable text; source id expansion-06"/>
          <p:cNvSpPr txBox="1"/>
          <p:nvPr/>
        </p:nvSpPr>
        <p:spPr>
          <a:xfrm>
            <a:off x="3577589" y="2678429"/>
            <a:ext cx="127825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core Flight Executive</a:t>
            </a:r>
          </a:p>
        </p:txBody>
      </p:sp>
      <p:sp>
        <p:nvSpPr>
          <p:cNvPr id="57" name="acronym-07" descr="Editable text; source id acronym-07"/>
          <p:cNvSpPr txBox="1"/>
          <p:nvPr/>
        </p:nvSpPr>
        <p:spPr>
          <a:xfrm>
            <a:off x="1604009" y="2870834"/>
            <a:ext cx="26288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cFS</a:t>
            </a:r>
          </a:p>
        </p:txBody>
      </p:sp>
      <p:sp>
        <p:nvSpPr>
          <p:cNvPr id="58" name="expansion-07" descr="Editable text; source id expansion-07"/>
          <p:cNvSpPr txBox="1"/>
          <p:nvPr/>
        </p:nvSpPr>
        <p:spPr>
          <a:xfrm>
            <a:off x="3575684" y="2870834"/>
            <a:ext cx="117157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Core Flight System</a:t>
            </a:r>
          </a:p>
        </p:txBody>
      </p:sp>
      <p:sp>
        <p:nvSpPr>
          <p:cNvPr id="59" name="acronym-08" descr="Editable text; source id acronym-08"/>
          <p:cNvSpPr txBox="1"/>
          <p:nvPr/>
        </p:nvSpPr>
        <p:spPr>
          <a:xfrm>
            <a:off x="1602104" y="3068954"/>
            <a:ext cx="38290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CMMI</a:t>
            </a:r>
          </a:p>
        </p:txBody>
      </p:sp>
      <p:sp>
        <p:nvSpPr>
          <p:cNvPr id="60" name="expansion-08" descr="Editable text; source id expansion-08"/>
          <p:cNvSpPr txBox="1"/>
          <p:nvPr/>
        </p:nvSpPr>
        <p:spPr>
          <a:xfrm>
            <a:off x="3575684" y="3068954"/>
            <a:ext cx="218312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Capability Maturity Model Integrated</a:t>
            </a:r>
          </a:p>
        </p:txBody>
      </p:sp>
      <p:sp>
        <p:nvSpPr>
          <p:cNvPr id="61" name="acronym-09" descr="Editable text; source id acronym-09"/>
          <p:cNvSpPr txBox="1"/>
          <p:nvPr/>
        </p:nvSpPr>
        <p:spPr>
          <a:xfrm>
            <a:off x="1605914" y="3259454"/>
            <a:ext cx="3886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ELOC</a:t>
            </a:r>
          </a:p>
        </p:txBody>
      </p:sp>
      <p:sp>
        <p:nvSpPr>
          <p:cNvPr id="62" name="expansion-09" descr="Editable text; source id expansion-09"/>
          <p:cNvSpPr txBox="1"/>
          <p:nvPr/>
        </p:nvSpPr>
        <p:spPr>
          <a:xfrm>
            <a:off x="3571874" y="3259454"/>
            <a:ext cx="149161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Estimated Lines of Code</a:t>
            </a:r>
          </a:p>
        </p:txBody>
      </p:sp>
      <p:sp>
        <p:nvSpPr>
          <p:cNvPr id="63" name="acronym-10" descr="Editable text; source id acronym-10"/>
          <p:cNvSpPr txBox="1"/>
          <p:nvPr/>
        </p:nvSpPr>
        <p:spPr>
          <a:xfrm>
            <a:off x="1605914" y="3457574"/>
            <a:ext cx="32194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FSW</a:t>
            </a:r>
          </a:p>
        </p:txBody>
      </p:sp>
      <p:sp>
        <p:nvSpPr>
          <p:cNvPr id="64" name="expansion-10" descr="Editable text; source id expansion-10"/>
          <p:cNvSpPr txBox="1"/>
          <p:nvPr/>
        </p:nvSpPr>
        <p:spPr>
          <a:xfrm>
            <a:off x="3579494" y="3457574"/>
            <a:ext cx="9220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Flight Software</a:t>
            </a:r>
          </a:p>
        </p:txBody>
      </p:sp>
      <p:sp>
        <p:nvSpPr>
          <p:cNvPr id="65" name="acronym-11" descr="Editable text; source id acronym-11"/>
          <p:cNvSpPr txBox="1"/>
          <p:nvPr/>
        </p:nvSpPr>
        <p:spPr>
          <a:xfrm>
            <a:off x="1602104" y="3655694"/>
            <a:ext cx="38099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GLAS</a:t>
            </a:r>
          </a:p>
        </p:txBody>
      </p:sp>
      <p:sp>
        <p:nvSpPr>
          <p:cNvPr id="66" name="expansion-11" descr="Editable text; source id expansion-11"/>
          <p:cNvSpPr txBox="1"/>
          <p:nvPr/>
        </p:nvSpPr>
        <p:spPr>
          <a:xfrm>
            <a:off x="3575684" y="3655694"/>
            <a:ext cx="217169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Geoscience Laser Altimeter System</a:t>
            </a:r>
          </a:p>
        </p:txBody>
      </p:sp>
      <p:sp>
        <p:nvSpPr>
          <p:cNvPr id="67" name="acronym-12" descr="Editable text; source id acronym-12"/>
          <p:cNvSpPr txBox="1"/>
          <p:nvPr/>
        </p:nvSpPr>
        <p:spPr>
          <a:xfrm>
            <a:off x="1602104" y="3846194"/>
            <a:ext cx="41147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GN&amp;C</a:t>
            </a:r>
          </a:p>
        </p:txBody>
      </p:sp>
      <p:sp>
        <p:nvSpPr>
          <p:cNvPr id="68" name="expansion-12" descr="Editable text; source id expansion-12"/>
          <p:cNvSpPr txBox="1"/>
          <p:nvPr/>
        </p:nvSpPr>
        <p:spPr>
          <a:xfrm>
            <a:off x="3575684" y="3846194"/>
            <a:ext cx="208216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Guidance, Navigation, and Control</a:t>
            </a:r>
          </a:p>
        </p:txBody>
      </p:sp>
      <p:sp>
        <p:nvSpPr>
          <p:cNvPr id="69" name="acronym-13" descr="Editable text; source id acronym-13"/>
          <p:cNvSpPr txBox="1"/>
          <p:nvPr/>
        </p:nvSpPr>
        <p:spPr>
          <a:xfrm>
            <a:off x="1602104" y="4044314"/>
            <a:ext cx="32956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GPM</a:t>
            </a:r>
          </a:p>
        </p:txBody>
      </p:sp>
      <p:sp>
        <p:nvSpPr>
          <p:cNvPr id="70" name="expansion-13" descr="Editable text; source id expansion-13"/>
          <p:cNvSpPr txBox="1"/>
          <p:nvPr/>
        </p:nvSpPr>
        <p:spPr>
          <a:xfrm>
            <a:off x="3575684" y="4044314"/>
            <a:ext cx="205358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Global Precipitation Measurement</a:t>
            </a:r>
          </a:p>
        </p:txBody>
      </p:sp>
      <p:sp>
        <p:nvSpPr>
          <p:cNvPr id="71" name="acronym-14" descr="Editable text; source id acronym-14"/>
          <p:cNvSpPr txBox="1"/>
          <p:nvPr/>
        </p:nvSpPr>
        <p:spPr>
          <a:xfrm>
            <a:off x="1602104" y="4234814"/>
            <a:ext cx="39623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GSFC</a:t>
            </a:r>
          </a:p>
        </p:txBody>
      </p:sp>
      <p:sp>
        <p:nvSpPr>
          <p:cNvPr id="72" name="expansion-14" descr="Editable text; source id expansion-14"/>
          <p:cNvSpPr txBox="1"/>
          <p:nvPr/>
        </p:nvSpPr>
        <p:spPr>
          <a:xfrm>
            <a:off x="3575684" y="4234814"/>
            <a:ext cx="177545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Goddard Space Flight Center</a:t>
            </a:r>
          </a:p>
        </p:txBody>
      </p:sp>
      <p:sp>
        <p:nvSpPr>
          <p:cNvPr id="73" name="acronym-15" descr="Editable text; source id acronym-15"/>
          <p:cNvSpPr txBox="1"/>
          <p:nvPr/>
        </p:nvSpPr>
        <p:spPr>
          <a:xfrm>
            <a:off x="1604009" y="4432934"/>
            <a:ext cx="27812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JSC</a:t>
            </a:r>
          </a:p>
        </p:txBody>
      </p:sp>
      <p:sp>
        <p:nvSpPr>
          <p:cNvPr id="74" name="expansion-15" descr="Editable text; source id expansion-15"/>
          <p:cNvSpPr txBox="1"/>
          <p:nvPr/>
        </p:nvSpPr>
        <p:spPr>
          <a:xfrm>
            <a:off x="3577589" y="4432934"/>
            <a:ext cx="139445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Johnson Space Center</a:t>
            </a:r>
          </a:p>
        </p:txBody>
      </p:sp>
      <p:sp>
        <p:nvSpPr>
          <p:cNvPr id="75" name="acronym-16" descr="Editable text; source id acronym-16"/>
          <p:cNvSpPr txBox="1"/>
          <p:nvPr/>
        </p:nvSpPr>
        <p:spPr>
          <a:xfrm>
            <a:off x="1605914" y="4629149"/>
            <a:ext cx="46291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LADEE</a:t>
            </a:r>
          </a:p>
        </p:txBody>
      </p:sp>
      <p:sp>
        <p:nvSpPr>
          <p:cNvPr id="76" name="expansion-16" descr="Editable text; source id expansion-16"/>
          <p:cNvSpPr txBox="1"/>
          <p:nvPr/>
        </p:nvSpPr>
        <p:spPr>
          <a:xfrm>
            <a:off x="3579494" y="4629149"/>
            <a:ext cx="304418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Lunar Atmosphere and Dust Environment Explorer</a:t>
            </a:r>
          </a:p>
        </p:txBody>
      </p:sp>
      <p:sp>
        <p:nvSpPr>
          <p:cNvPr id="77" name="acronym-17" descr="Editable text; source id acronym-17"/>
          <p:cNvSpPr txBox="1"/>
          <p:nvPr/>
        </p:nvSpPr>
        <p:spPr>
          <a:xfrm>
            <a:off x="1605914" y="4819649"/>
            <a:ext cx="29146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LRD</a:t>
            </a:r>
          </a:p>
        </p:txBody>
      </p:sp>
      <p:sp>
        <p:nvSpPr>
          <p:cNvPr id="78" name="expansion-17" descr="Editable text; source id expansion-17"/>
          <p:cNvSpPr txBox="1"/>
          <p:nvPr/>
        </p:nvSpPr>
        <p:spPr>
          <a:xfrm>
            <a:off x="3579494" y="4819649"/>
            <a:ext cx="145922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Launch Readiness Date</a:t>
            </a:r>
          </a:p>
        </p:txBody>
      </p:sp>
      <p:sp>
        <p:nvSpPr>
          <p:cNvPr id="79" name="acronym-18" descr="Editable text; source id acronym-18"/>
          <p:cNvSpPr txBox="1"/>
          <p:nvPr/>
        </p:nvSpPr>
        <p:spPr>
          <a:xfrm>
            <a:off x="1605914" y="5019674"/>
            <a:ext cx="29908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LRO</a:t>
            </a:r>
          </a:p>
        </p:txBody>
      </p:sp>
      <p:sp>
        <p:nvSpPr>
          <p:cNvPr id="80" name="expansion-18" descr="Editable text; source id expansion-18"/>
          <p:cNvSpPr txBox="1"/>
          <p:nvPr/>
        </p:nvSpPr>
        <p:spPr>
          <a:xfrm>
            <a:off x="3579494" y="5019674"/>
            <a:ext cx="131444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Lunar Robotic Orbiter</a:t>
            </a:r>
          </a:p>
        </p:txBody>
      </p:sp>
      <p:sp>
        <p:nvSpPr>
          <p:cNvPr id="81" name="acronym-19" descr="Editable text; source id acronym-19"/>
          <p:cNvSpPr txBox="1"/>
          <p:nvPr/>
        </p:nvSpPr>
        <p:spPr>
          <a:xfrm>
            <a:off x="1605914" y="5208269"/>
            <a:ext cx="31432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82" name="expansion-19" descr="Editable text; source id expansion-19"/>
          <p:cNvSpPr txBox="1"/>
          <p:nvPr/>
        </p:nvSpPr>
        <p:spPr>
          <a:xfrm>
            <a:off x="3579494" y="5208269"/>
            <a:ext cx="174116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Microwave Anisotropy Probe</a:t>
            </a:r>
          </a:p>
        </p:txBody>
      </p:sp>
      <p:sp>
        <p:nvSpPr>
          <p:cNvPr id="83" name="acronym-20" descr="Editable text; source id acronym-20"/>
          <p:cNvSpPr txBox="1"/>
          <p:nvPr/>
        </p:nvSpPr>
        <p:spPr>
          <a:xfrm>
            <a:off x="1605914" y="5408294"/>
            <a:ext cx="33718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MMS</a:t>
            </a:r>
          </a:p>
        </p:txBody>
      </p:sp>
      <p:sp>
        <p:nvSpPr>
          <p:cNvPr id="84" name="expansion-20" descr="Editable text; source id expansion-20"/>
          <p:cNvSpPr txBox="1"/>
          <p:nvPr/>
        </p:nvSpPr>
        <p:spPr>
          <a:xfrm>
            <a:off x="3579494" y="5406389"/>
            <a:ext cx="170687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Magnetic Multiscale Mission</a:t>
            </a:r>
          </a:p>
        </p:txBody>
      </p:sp>
      <p:sp>
        <p:nvSpPr>
          <p:cNvPr id="85" name="acronym-21" descr="Editable text; source id acronym-21"/>
          <p:cNvSpPr txBox="1"/>
          <p:nvPr/>
        </p:nvSpPr>
        <p:spPr>
          <a:xfrm>
            <a:off x="1602104" y="5606414"/>
            <a:ext cx="38099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OSAL</a:t>
            </a:r>
          </a:p>
        </p:txBody>
      </p:sp>
      <p:sp>
        <p:nvSpPr>
          <p:cNvPr id="86" name="expansion-21" descr="Editable text; source id expansion-21"/>
          <p:cNvSpPr txBox="1"/>
          <p:nvPr/>
        </p:nvSpPr>
        <p:spPr>
          <a:xfrm>
            <a:off x="3575684" y="5606414"/>
            <a:ext cx="219455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Operating System Abstraction Layer</a:t>
            </a:r>
          </a:p>
        </p:txBody>
      </p:sp>
      <p:sp>
        <p:nvSpPr>
          <p:cNvPr id="87" name="acronym-22" descr="Editable text; source id acronym-22"/>
          <p:cNvSpPr txBox="1"/>
          <p:nvPr/>
        </p:nvSpPr>
        <p:spPr>
          <a:xfrm>
            <a:off x="1605914" y="5796914"/>
            <a:ext cx="3886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RBSP</a:t>
            </a:r>
          </a:p>
        </p:txBody>
      </p:sp>
      <p:sp>
        <p:nvSpPr>
          <p:cNvPr id="88" name="expansion-22" descr="Editable text; source id expansion-22"/>
          <p:cNvSpPr txBox="1"/>
          <p:nvPr/>
        </p:nvSpPr>
        <p:spPr>
          <a:xfrm>
            <a:off x="3579494" y="5796914"/>
            <a:ext cx="165544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Radiation Belt Storm Probe</a:t>
            </a:r>
          </a:p>
        </p:txBody>
      </p:sp>
      <p:sp>
        <p:nvSpPr>
          <p:cNvPr id="89" name="acronym-23" descr="Editable text; source id acronym-23"/>
          <p:cNvSpPr txBox="1"/>
          <p:nvPr/>
        </p:nvSpPr>
        <p:spPr>
          <a:xfrm>
            <a:off x="1605914" y="5995034"/>
            <a:ext cx="49339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RTEMS</a:t>
            </a:r>
          </a:p>
        </p:txBody>
      </p:sp>
      <p:sp>
        <p:nvSpPr>
          <p:cNvPr id="90" name="expansion-23" descr="Editable text; source id expansion-23"/>
          <p:cNvSpPr txBox="1"/>
          <p:nvPr/>
        </p:nvSpPr>
        <p:spPr>
          <a:xfrm>
            <a:off x="3579494" y="5995034"/>
            <a:ext cx="29413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Real-Time Executive for Multiprocessor Systems</a:t>
            </a:r>
          </a:p>
        </p:txBody>
      </p:sp>
      <p:sp>
        <p:nvSpPr>
          <p:cNvPr id="91" name="acronym-24" descr="Editable text; source id acronym-24"/>
          <p:cNvSpPr txBox="1"/>
          <p:nvPr/>
        </p:nvSpPr>
        <p:spPr>
          <a:xfrm>
            <a:off x="1602104" y="6185534"/>
            <a:ext cx="58292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SAMPEX</a:t>
            </a:r>
          </a:p>
        </p:txBody>
      </p:sp>
      <p:sp>
        <p:nvSpPr>
          <p:cNvPr id="92" name="expansion-24" descr="Editable text; source id expansion-24"/>
          <p:cNvSpPr txBox="1"/>
          <p:nvPr/>
        </p:nvSpPr>
        <p:spPr>
          <a:xfrm>
            <a:off x="3575684" y="6185534"/>
            <a:ext cx="333755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Solar Anomalous and Magnetospheric Particle Explorer</a:t>
            </a:r>
          </a:p>
        </p:txBody>
      </p:sp>
      <p:sp>
        <p:nvSpPr>
          <p:cNvPr id="93" name="acronym-25" descr="Editable text; source id acronym-25"/>
          <p:cNvSpPr txBox="1"/>
          <p:nvPr/>
        </p:nvSpPr>
        <p:spPr>
          <a:xfrm>
            <a:off x="1602104" y="6383654"/>
            <a:ext cx="3886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SARB</a:t>
            </a:r>
          </a:p>
        </p:txBody>
      </p:sp>
      <p:sp>
        <p:nvSpPr>
          <p:cNvPr id="94" name="expansion-25" descr="Editable text; source id expansion-25"/>
          <p:cNvSpPr txBox="1"/>
          <p:nvPr/>
        </p:nvSpPr>
        <p:spPr>
          <a:xfrm>
            <a:off x="3575684" y="6383654"/>
            <a:ext cx="456437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Software Architecture Review Board (NASA Engineering and Safety Center)</a:t>
            </a:r>
          </a:p>
        </p:txBody>
      </p:sp>
      <p:sp>
        <p:nvSpPr>
          <p:cNvPr id="95" name="acronym-26" descr="Editable text; source id acronym-26"/>
          <p:cNvSpPr txBox="1"/>
          <p:nvPr/>
        </p:nvSpPr>
        <p:spPr>
          <a:xfrm>
            <a:off x="1602104" y="6581774"/>
            <a:ext cx="31432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SDO</a:t>
            </a:r>
          </a:p>
        </p:txBody>
      </p:sp>
      <p:sp>
        <p:nvSpPr>
          <p:cNvPr id="96" name="expansion-26" descr="Editable text; source id expansion-26"/>
          <p:cNvSpPr txBox="1"/>
          <p:nvPr/>
        </p:nvSpPr>
        <p:spPr>
          <a:xfrm>
            <a:off x="3575684" y="6581774"/>
            <a:ext cx="174497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Solar Dynamics Observatory</a:t>
            </a:r>
          </a:p>
        </p:txBody>
      </p:sp>
      <p:sp>
        <p:nvSpPr>
          <p:cNvPr id="97" name="acronym-27" descr="Editable text; source id acronym-27"/>
          <p:cNvSpPr txBox="1"/>
          <p:nvPr/>
        </p:nvSpPr>
        <p:spPr>
          <a:xfrm>
            <a:off x="1602104" y="6772274"/>
            <a:ext cx="40385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SMEX</a:t>
            </a:r>
          </a:p>
        </p:txBody>
      </p:sp>
      <p:sp>
        <p:nvSpPr>
          <p:cNvPr id="98" name="expansion-27" descr="Editable text; source id expansion-27"/>
          <p:cNvSpPr txBox="1"/>
          <p:nvPr/>
        </p:nvSpPr>
        <p:spPr>
          <a:xfrm>
            <a:off x="3575684" y="6772274"/>
            <a:ext cx="90296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Small Explorer</a:t>
            </a:r>
          </a:p>
        </p:txBody>
      </p:sp>
      <p:sp>
        <p:nvSpPr>
          <p:cNvPr id="99" name="acronym-28" descr="Editable text; source id acronym-28"/>
          <p:cNvSpPr txBox="1"/>
          <p:nvPr/>
        </p:nvSpPr>
        <p:spPr>
          <a:xfrm>
            <a:off x="1602104" y="6970394"/>
            <a:ext cx="31432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ST-5</a:t>
            </a:r>
          </a:p>
        </p:txBody>
      </p:sp>
      <p:sp>
        <p:nvSpPr>
          <p:cNvPr id="100" name="expansion-28" descr="Editable text; source id expansion-28"/>
          <p:cNvSpPr txBox="1"/>
          <p:nvPr/>
        </p:nvSpPr>
        <p:spPr>
          <a:xfrm>
            <a:off x="3575684" y="6970394"/>
            <a:ext cx="124967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Space Technology 5</a:t>
            </a:r>
          </a:p>
        </p:txBody>
      </p:sp>
      <p:sp>
        <p:nvSpPr>
          <p:cNvPr id="101" name="acronym-29" descr="Editable text; source id acronym-29"/>
          <p:cNvSpPr txBox="1"/>
          <p:nvPr/>
        </p:nvSpPr>
        <p:spPr>
          <a:xfrm>
            <a:off x="1602104" y="7160894"/>
            <a:ext cx="41909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SWAS</a:t>
            </a:r>
          </a:p>
        </p:txBody>
      </p:sp>
      <p:sp>
        <p:nvSpPr>
          <p:cNvPr id="102" name="expansion-29" descr="Editable text; source id expansion-29"/>
          <p:cNvSpPr txBox="1"/>
          <p:nvPr/>
        </p:nvSpPr>
        <p:spPr>
          <a:xfrm>
            <a:off x="3575684" y="7160894"/>
            <a:ext cx="242506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Submillimeter Wave Astronomy Satellite</a:t>
            </a:r>
          </a:p>
        </p:txBody>
      </p:sp>
      <p:sp>
        <p:nvSpPr>
          <p:cNvPr id="103" name="acronym-30" descr="Editable text; source id acronym-30"/>
          <p:cNvSpPr txBox="1"/>
          <p:nvPr/>
        </p:nvSpPr>
        <p:spPr>
          <a:xfrm>
            <a:off x="1605914" y="7359014"/>
            <a:ext cx="47815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04" name="expansion-30" descr="Editable text; source id expansion-30"/>
          <p:cNvSpPr txBox="1"/>
          <p:nvPr/>
        </p:nvSpPr>
        <p:spPr>
          <a:xfrm>
            <a:off x="3579494" y="7359014"/>
            <a:ext cx="239077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Transition Region and Coronal Explorer</a:t>
            </a:r>
          </a:p>
        </p:txBody>
      </p:sp>
      <p:sp>
        <p:nvSpPr>
          <p:cNvPr id="105" name="acronym-31" descr="Editable text; source id acronym-31"/>
          <p:cNvSpPr txBox="1"/>
          <p:nvPr/>
        </p:nvSpPr>
        <p:spPr>
          <a:xfrm>
            <a:off x="1605914" y="7555229"/>
            <a:ext cx="27622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TRL</a:t>
            </a:r>
          </a:p>
        </p:txBody>
      </p:sp>
      <p:sp>
        <p:nvSpPr>
          <p:cNvPr id="106" name="expansion-31" descr="Editable text; source id expansion-31"/>
          <p:cNvSpPr txBox="1"/>
          <p:nvPr/>
        </p:nvSpPr>
        <p:spPr>
          <a:xfrm>
            <a:off x="3579494" y="7555229"/>
            <a:ext cx="175259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Technology Readiness Level</a:t>
            </a:r>
          </a:p>
        </p:txBody>
      </p:sp>
      <p:sp>
        <p:nvSpPr>
          <p:cNvPr id="107" name="acronym-32" descr="Editable text; source id acronym-32"/>
          <p:cNvSpPr txBox="1"/>
          <p:nvPr/>
        </p:nvSpPr>
        <p:spPr>
          <a:xfrm>
            <a:off x="1605914" y="7745729"/>
            <a:ext cx="42671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TRMM</a:t>
            </a:r>
          </a:p>
        </p:txBody>
      </p:sp>
      <p:sp>
        <p:nvSpPr>
          <p:cNvPr id="108" name="expansion-32" descr="Editable text; source id expansion-32"/>
          <p:cNvSpPr txBox="1"/>
          <p:nvPr/>
        </p:nvSpPr>
        <p:spPr>
          <a:xfrm>
            <a:off x="3579494" y="7747634"/>
            <a:ext cx="215455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Tropical Rainfall Measuring Mission</a:t>
            </a:r>
          </a:p>
        </p:txBody>
      </p:sp>
      <p:sp>
        <p:nvSpPr>
          <p:cNvPr id="109" name="acronym-33" descr="Editable text; source id acronym-33"/>
          <p:cNvSpPr txBox="1"/>
          <p:nvPr/>
        </p:nvSpPr>
        <p:spPr>
          <a:xfrm>
            <a:off x="1607819" y="7943849"/>
            <a:ext cx="37528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WIRE</a:t>
            </a:r>
          </a:p>
        </p:txBody>
      </p:sp>
      <p:sp>
        <p:nvSpPr>
          <p:cNvPr id="110" name="expansion-33" descr="Editable text; source id expansion-33"/>
          <p:cNvSpPr txBox="1"/>
          <p:nvPr/>
        </p:nvSpPr>
        <p:spPr>
          <a:xfrm>
            <a:off x="3581399" y="7945754"/>
            <a:ext cx="164401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Widearea Infrared Explorer</a:t>
            </a:r>
          </a:p>
        </p:txBody>
      </p:sp>
      <p:sp>
        <p:nvSpPr>
          <p:cNvPr id="111" name="acronym-34" descr="Editable text; source id acronym-34"/>
          <p:cNvSpPr txBox="1"/>
          <p:nvPr/>
        </p:nvSpPr>
        <p:spPr>
          <a:xfrm>
            <a:off x="1607819" y="8141969"/>
            <a:ext cx="283844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XTE</a:t>
            </a:r>
          </a:p>
        </p:txBody>
      </p:sp>
      <p:sp>
        <p:nvSpPr>
          <p:cNvPr id="112" name="expansion-34" descr="Editable text; source id expansion-34"/>
          <p:cNvSpPr txBox="1"/>
          <p:nvPr/>
        </p:nvSpPr>
        <p:spPr>
          <a:xfrm>
            <a:off x="3581399" y="8141969"/>
            <a:ext cx="1383029" cy="16340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226"/>
              </a:lnSpc>
              <a:spcBef>
                <a:spcPts val="0"/>
              </a:spcBef>
              <a:spcAft>
                <a:spcPts val="0"/>
              </a:spcAft>
              <a:def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66" b="0" i="0" lang="zh-CN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X-Ray Timing 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cFS real-image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