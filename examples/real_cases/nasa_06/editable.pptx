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143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David McComas / NASA GSFC, NTRS 20180007319. Reconstructed from the rendered page image and OCR; source speaker notes were not supplied. Logos remain independent raster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nasa-logo" descr="NASA NTRS 20180007319 page 11, title-free common header crop; source image coordinates recorded in box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4419" cy="1021079"/>
          </a:xfrm>
          <a:prstGeom prst="rect">
            <a:avLst/>
          </a:prstGeom>
          <a:effectLst/>
        </p:spPr>
      </p:pic>
      <p:pic>
        <p:nvPicPr>
          <p:cNvPr id="3" name="stars" descr="NASA NTRS 20180007319 page 11, title-free common header crop; source image coordinates recorded in box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19" y="0"/>
            <a:ext cx="9677399" cy="1021079"/>
          </a:xfrm>
          <a:prstGeom prst="rect">
            <a:avLst/>
          </a:prstGeom>
          <a:effectLst/>
        </p:spPr>
      </p:pic>
      <p:pic>
        <p:nvPicPr>
          <p:cNvPr id="4" name="cfs-logo" descr="NASA NTRS 20180007319 page 11, title-free common header crop; source image coordinates recorded in box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1819" y="0"/>
            <a:ext cx="1440179" cy="1021079"/>
          </a:xfrm>
          <a:prstGeom prst="rect">
            <a:avLst/>
          </a:prstGeom>
          <a:effectLst/>
        </p:spPr>
      </p:pic>
      <p:cxnSp>
        <p:nvCxnSpPr>
          <p:cNvPr id="5" name="footer" descr="Editable line; source id footer"/>
          <p:cNvCxnSpPr/>
          <p:nvPr/>
        </p:nvCxnSpPr>
        <p:spPr>
          <a:xfrm>
            <a:off x="0" y="8854439"/>
            <a:ext cx="12191999" cy="0"/>
          </a:xfrm>
          <a:prstGeom prst="line">
            <a:avLst/>
          </a:prstGeom>
          <a:ln w="15239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bullet-0" descr="Editable shape; source id bullet-0"/>
          <p:cNvSpPr/>
          <p:nvPr/>
        </p:nvSpPr>
        <p:spPr>
          <a:xfrm>
            <a:off x="327659" y="1341119"/>
            <a:ext cx="99059" cy="10667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llet-1" descr="Editable shape; source id bullet-1"/>
          <p:cNvSpPr/>
          <p:nvPr/>
        </p:nvSpPr>
        <p:spPr>
          <a:xfrm>
            <a:off x="327659" y="2362199"/>
            <a:ext cx="99059" cy="9905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ullet-2" descr="Editable shape; source id bullet-2"/>
          <p:cNvSpPr/>
          <p:nvPr/>
        </p:nvSpPr>
        <p:spPr>
          <a:xfrm>
            <a:off x="327659" y="7353299"/>
            <a:ext cx="99059" cy="10667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llet-3" descr="Editable shape; source id bullet-3"/>
          <p:cNvSpPr/>
          <p:nvPr/>
        </p:nvSpPr>
        <p:spPr>
          <a:xfrm>
            <a:off x="1539239" y="5539739"/>
            <a:ext cx="91439" cy="9143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llet-4" descr="Editable shape; source id bullet-4"/>
          <p:cNvSpPr/>
          <p:nvPr/>
        </p:nvSpPr>
        <p:spPr>
          <a:xfrm>
            <a:off x="1539239" y="6339839"/>
            <a:ext cx="91439" cy="9143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 descr="Editable text; source id title"/>
          <p:cNvSpPr txBox="1"/>
          <p:nvPr/>
        </p:nvSpPr>
        <p:spPr>
          <a:xfrm>
            <a:off x="3531869" y="295274"/>
            <a:ext cx="4945379" cy="5528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293"/>
              </a:lnSpc>
              <a:spcBef>
                <a:spcPts val="0"/>
              </a:spcBef>
              <a:spcAft>
                <a:spcPts val="0"/>
              </a:spcAft>
              <a:defRPr sz="3733" b="1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33" b="1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Centric Reuse</a:t>
            </a:r>
          </a:p>
        </p:txBody>
      </p:sp>
      <p:sp>
        <p:nvSpPr>
          <p:cNvPr id="12" name="page-number" descr="Editable text; source id page-number"/>
          <p:cNvSpPr txBox="1"/>
          <p:nvPr/>
        </p:nvSpPr>
        <p:spPr>
          <a:xfrm>
            <a:off x="11376659" y="8907779"/>
            <a:ext cx="137159" cy="2381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599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9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p1a" descr="Editable text; source id p1a"/>
          <p:cNvSpPr txBox="1"/>
          <p:nvPr/>
        </p:nvSpPr>
        <p:spPr>
          <a:xfrm>
            <a:off x="761999" y="1167764"/>
            <a:ext cx="10574654" cy="47687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694"/>
              </a:lnSpc>
              <a:spcBef>
                <a:spcPts val="0"/>
              </a:spcBef>
              <a:spcAft>
                <a:spcPts val="0"/>
              </a:spcAft>
              <a:def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“Clone &amp; Own” - Used similar heritage missions as starting</a:t>
            </a:r>
          </a:p>
        </p:txBody>
      </p:sp>
      <p:sp>
        <p:nvSpPr>
          <p:cNvPr id="14" name="p1b" descr="Editable text; source id p1b"/>
          <p:cNvSpPr txBox="1"/>
          <p:nvPr/>
        </p:nvSpPr>
        <p:spPr>
          <a:xfrm>
            <a:off x="758189" y="1560194"/>
            <a:ext cx="906779" cy="47687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694"/>
              </a:lnSpc>
              <a:spcBef>
                <a:spcPts val="0"/>
              </a:spcBef>
              <a:spcAft>
                <a:spcPts val="0"/>
              </a:spcAft>
              <a:def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point</a:t>
            </a:r>
          </a:p>
        </p:txBody>
      </p:sp>
      <p:sp>
        <p:nvSpPr>
          <p:cNvPr id="15" name="p2a" descr="Editable text; source id p2a"/>
          <p:cNvSpPr txBox="1"/>
          <p:nvPr/>
        </p:nvSpPr>
        <p:spPr>
          <a:xfrm>
            <a:off x="765809" y="2181224"/>
            <a:ext cx="10774679" cy="47687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694"/>
              </a:lnSpc>
              <a:spcBef>
                <a:spcPts val="0"/>
              </a:spcBef>
              <a:spcAft>
                <a:spcPts val="0"/>
              </a:spcAft>
              <a:def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Changes made to the heritage software for the new mission</a:t>
            </a:r>
          </a:p>
        </p:txBody>
      </p:sp>
      <p:sp>
        <p:nvSpPr>
          <p:cNvPr id="16" name="p2b" descr="Editable text; source id p2b"/>
          <p:cNvSpPr txBox="1"/>
          <p:nvPr/>
        </p:nvSpPr>
        <p:spPr>
          <a:xfrm>
            <a:off x="761999" y="2573654"/>
            <a:ext cx="6046469" cy="47687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694"/>
              </a:lnSpc>
              <a:spcBef>
                <a:spcPts val="0"/>
              </a:spcBef>
              <a:spcAft>
                <a:spcPts val="0"/>
              </a:spcAft>
              <a:def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were not systematically managed</a:t>
            </a:r>
          </a:p>
        </p:txBody>
      </p:sp>
      <p:sp>
        <p:nvSpPr>
          <p:cNvPr id="17" name="p3a" descr="Editable text; source id p3a"/>
          <p:cNvSpPr txBox="1"/>
          <p:nvPr/>
        </p:nvSpPr>
        <p:spPr>
          <a:xfrm>
            <a:off x="763904" y="7181849"/>
            <a:ext cx="10412729" cy="47687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694"/>
              </a:lnSpc>
              <a:spcBef>
                <a:spcPts val="0"/>
              </a:spcBef>
              <a:spcAft>
                <a:spcPts val="0"/>
              </a:spcAft>
              <a:def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Inconsistent and minimal flight software (FSW) reuse cost</a:t>
            </a:r>
          </a:p>
        </p:txBody>
      </p:sp>
      <p:sp>
        <p:nvSpPr>
          <p:cNvPr id="18" name="p3b" descr="Editable text; source id p3b"/>
          <p:cNvSpPr txBox="1"/>
          <p:nvPr/>
        </p:nvSpPr>
        <p:spPr>
          <a:xfrm>
            <a:off x="765809" y="7572374"/>
            <a:ext cx="1405889" cy="47687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694"/>
              </a:lnSpc>
              <a:spcBef>
                <a:spcPts val="0"/>
              </a:spcBef>
              <a:spcAft>
                <a:spcPts val="0"/>
              </a:spcAft>
              <a:def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1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savings</a:t>
            </a:r>
          </a:p>
        </p:txBody>
      </p:sp>
      <p:sp>
        <p:nvSpPr>
          <p:cNvPr id="19" name="s1a" descr="Editable text; source id s1a"/>
          <p:cNvSpPr txBox="1"/>
          <p:nvPr/>
        </p:nvSpPr>
        <p:spPr>
          <a:xfrm>
            <a:off x="1293494" y="3208019"/>
            <a:ext cx="9559289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flight hardware and/or operating system required changes</a:t>
            </a:r>
          </a:p>
        </p:txBody>
      </p:sp>
      <p:sp>
        <p:nvSpPr>
          <p:cNvPr id="20" name="s1b" descr="Editable text; source id s1b"/>
          <p:cNvSpPr txBox="1"/>
          <p:nvPr/>
        </p:nvSpPr>
        <p:spPr>
          <a:xfrm>
            <a:off x="1297304" y="3543299"/>
            <a:ext cx="2512694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throughout FSW</a:t>
            </a:r>
          </a:p>
        </p:txBody>
      </p:sp>
      <p:sp>
        <p:nvSpPr>
          <p:cNvPr id="21" name="s2a" descr="Editable text; source id s2a"/>
          <p:cNvSpPr txBox="1"/>
          <p:nvPr/>
        </p:nvSpPr>
        <p:spPr>
          <a:xfrm>
            <a:off x="1295399" y="4046219"/>
            <a:ext cx="9517379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Small FSW requirement changes could have significant testing</a:t>
            </a:r>
          </a:p>
        </p:txBody>
      </p:sp>
      <p:sp>
        <p:nvSpPr>
          <p:cNvPr id="22" name="s2b" descr="Editable text; source id s2b"/>
          <p:cNvSpPr txBox="1"/>
          <p:nvPr/>
        </p:nvSpPr>
        <p:spPr>
          <a:xfrm>
            <a:off x="1297304" y="4385309"/>
            <a:ext cx="1202054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impacts</a:t>
            </a:r>
          </a:p>
        </p:txBody>
      </p:sp>
      <p:sp>
        <p:nvSpPr>
          <p:cNvPr id="23" name="s3" descr="Editable text; source id s3"/>
          <p:cNvSpPr txBox="1"/>
          <p:nvPr/>
        </p:nvSpPr>
        <p:spPr>
          <a:xfrm>
            <a:off x="1291589" y="4884419"/>
            <a:ext cx="8458199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FSW changes were made at the discretion of developer</a:t>
            </a:r>
          </a:p>
        </p:txBody>
      </p:sp>
      <p:sp>
        <p:nvSpPr>
          <p:cNvPr id="24" name="t1a" descr="Editable text; source id t1a"/>
          <p:cNvSpPr txBox="1"/>
          <p:nvPr/>
        </p:nvSpPr>
        <p:spPr>
          <a:xfrm>
            <a:off x="1901189" y="5394959"/>
            <a:ext cx="9709784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FSW test procedure changes were made at the discretion of the</a:t>
            </a:r>
          </a:p>
        </p:txBody>
      </p:sp>
      <p:sp>
        <p:nvSpPr>
          <p:cNvPr id="25" name="t1b" descr="Editable text; source id t1b"/>
          <p:cNvSpPr txBox="1"/>
          <p:nvPr/>
        </p:nvSpPr>
        <p:spPr>
          <a:xfrm>
            <a:off x="1906904" y="5722619"/>
            <a:ext cx="885824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tester</a:t>
            </a:r>
          </a:p>
        </p:txBody>
      </p:sp>
      <p:sp>
        <p:nvSpPr>
          <p:cNvPr id="26" name="t2" descr="Editable text; source id t2"/>
          <p:cNvSpPr txBox="1"/>
          <p:nvPr/>
        </p:nvSpPr>
        <p:spPr>
          <a:xfrm>
            <a:off x="1901189" y="6195059"/>
            <a:ext cx="8321039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Extensive documentation changes were made for style</a:t>
            </a:r>
          </a:p>
        </p:txBody>
      </p:sp>
      <p:sp>
        <p:nvSpPr>
          <p:cNvPr id="27" name="s4" descr="Editable text; source id s4"/>
          <p:cNvSpPr txBox="1"/>
          <p:nvPr/>
        </p:nvSpPr>
        <p:spPr>
          <a:xfrm>
            <a:off x="1293494" y="6675119"/>
            <a:ext cx="8111489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all artifacts from heritage missions were available</a:t>
            </a:r>
          </a:p>
        </p:txBody>
      </p:sp>
      <p:sp>
        <p:nvSpPr>
          <p:cNvPr id="28" name="dash-0" descr="Editable text; source id dash-0"/>
          <p:cNvSpPr txBox="1"/>
          <p:nvPr/>
        </p:nvSpPr>
        <p:spPr>
          <a:xfrm>
            <a:off x="912494" y="3213734"/>
            <a:ext cx="137159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9" name="dash-1" descr="Editable text; source id dash-1"/>
          <p:cNvSpPr txBox="1"/>
          <p:nvPr/>
        </p:nvSpPr>
        <p:spPr>
          <a:xfrm>
            <a:off x="912494" y="4051934"/>
            <a:ext cx="137159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0" name="dash-2" descr="Editable text; source id dash-2"/>
          <p:cNvSpPr txBox="1"/>
          <p:nvPr/>
        </p:nvSpPr>
        <p:spPr>
          <a:xfrm>
            <a:off x="912494" y="4890134"/>
            <a:ext cx="137159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1" name="dash-3" descr="Editable text; source id dash-3"/>
          <p:cNvSpPr txBox="1"/>
          <p:nvPr/>
        </p:nvSpPr>
        <p:spPr>
          <a:xfrm>
            <a:off x="912494" y="6680834"/>
            <a:ext cx="137159" cy="3987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 cFS real-image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