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5819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working-tree reconstruction from the provided ViT bitmap. All text, panels and lines editable; ten text-free photographic crops remain raster. Explicit arrow_head dimensions reconstruct horizontal heads as native editable freeforms. The separator uses source-pixel native dashes. Residual paths still use square joins because schema lacks rounded polylines. Only actual LibreOffice PPTX rendering is tested, not native PowerPoint/WPS.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coder_panel" descr="Editable shape; source id encoder_panel"/>
          <p:cNvSpPr/>
          <p:nvPr/>
        </p:nvSpPr>
        <p:spPr>
          <a:xfrm>
            <a:off x="9058786" y="858683"/>
            <a:ext cx="2471174" cy="4457290"/>
          </a:xfrm>
          <a:prstGeom prst="roundRect">
            <a:avLst>
              <a:gd name="adj" fmla="val 2652"/>
            </a:avLst>
          </a:prstGeom>
          <a:solidFill>
            <a:srgbClr val="E1E1E1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separator_dash_0" descr="Editable line; source id separator_dash_0"/>
          <p:cNvCxnSpPr/>
          <p:nvPr/>
        </p:nvCxnSpPr>
        <p:spPr>
          <a:xfrm>
            <a:off x="8390193" y="399845"/>
            <a:ext cx="0" cy="111432"/>
          </a:xfrm>
          <a:prstGeom prst="line">
            <a:avLst/>
          </a:prstGeom>
          <a:ln w="41950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eparator_dash_16" descr="Editable line; source id separator_dash_16"/>
          <p:cNvCxnSpPr/>
          <p:nvPr/>
        </p:nvCxnSpPr>
        <p:spPr>
          <a:xfrm>
            <a:off x="8390193" y="5964903"/>
            <a:ext cx="0" cy="117987"/>
          </a:xfrm>
          <a:prstGeom prst="line">
            <a:avLst/>
          </a:prstGeom>
          <a:ln w="41950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eparator_middle" descr="Editable line; source id separator_middle"/>
          <p:cNvCxnSpPr/>
          <p:nvPr/>
        </p:nvCxnSpPr>
        <p:spPr>
          <a:xfrm>
            <a:off x="8390193" y="684325"/>
            <a:ext cx="0" cy="5112774"/>
          </a:xfrm>
          <a:prstGeom prst="line">
            <a:avLst/>
          </a:prstGeom>
          <a:ln w="41950">
            <a:solidFill>
              <a:srgbClr val="606060"/>
            </a:solidFill>
            <a:custDash>
              <a:ds d="418750" sp="41875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lass_output" descr="Editable line; source id class_output"/>
          <p:cNvSpPr/>
          <p:nvPr/>
        </p:nvSpPr>
        <p:spPr>
          <a:xfrm>
            <a:off x="1324077" y="1415845"/>
            <a:ext cx="596490" cy="131097"/>
          </a:xfrm>
          <a:custGeom>
            <a:avLst/>
            <a:gdLst/>
            <a:ahLst/>
            <a:cxnLst/>
            <a:rect l="l" t="t" r="r" b="b"/>
            <a:pathLst>
              <a:path w="45500" h="10000">
                <a:moveTo>
                  <a:pt x="45500" y="5800"/>
                </a:moveTo>
                <a:lnTo>
                  <a:pt x="14500" y="5800"/>
                </a:lnTo>
                <a:lnTo>
                  <a:pt x="14500" y="10000"/>
                </a:lnTo>
                <a:lnTo>
                  <a:pt x="0" y="5000"/>
                </a:lnTo>
                <a:lnTo>
                  <a:pt x="14500" y="0"/>
                </a:lnTo>
                <a:lnTo>
                  <a:pt x="14500" y="4200"/>
                </a:lnTo>
                <a:lnTo>
                  <a:pt x="45500" y="4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encoder_to_head" descr="Editable line; source id encoder_to_head"/>
          <p:cNvCxnSpPr/>
          <p:nvPr/>
        </p:nvCxnSpPr>
        <p:spPr>
          <a:xfrm flipV="1">
            <a:off x="2405625" y="1848464"/>
            <a:ext cx="0" cy="353961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ken_shaft_0" descr="Editable line; source id token_shaft_0"/>
          <p:cNvCxnSpPr/>
          <p:nvPr/>
        </p:nvCxnSpPr>
        <p:spPr>
          <a:xfrm flipV="1">
            <a:off x="2405625" y="3428180"/>
            <a:ext cx="0" cy="22286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ken_shaft_1" descr="Editable line; source id token_shaft_1"/>
          <p:cNvCxnSpPr/>
          <p:nvPr/>
        </p:nvCxnSpPr>
        <p:spPr>
          <a:xfrm flipV="1">
            <a:off x="2995561" y="3428180"/>
            <a:ext cx="0" cy="20975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projection_to_token_1" descr="Editable line; source id projection_to_token_1"/>
          <p:cNvCxnSpPr/>
          <p:nvPr/>
        </p:nvCxnSpPr>
        <p:spPr>
          <a:xfrm flipV="1">
            <a:off x="2995561" y="3998451"/>
            <a:ext cx="0" cy="18353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tch_to_projection_1" descr="Editable line; source id patch_to_projection_1"/>
          <p:cNvCxnSpPr/>
          <p:nvPr/>
        </p:nvCxnSpPr>
        <p:spPr>
          <a:xfrm flipV="1">
            <a:off x="2995561" y="4640825"/>
            <a:ext cx="0" cy="340852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ken_shaft_2" descr="Editable line; source id token_shaft_2"/>
          <p:cNvCxnSpPr/>
          <p:nvPr/>
        </p:nvCxnSpPr>
        <p:spPr>
          <a:xfrm flipV="1">
            <a:off x="3559277" y="3428180"/>
            <a:ext cx="0" cy="20975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projection_to_token_2" descr="Editable line; source id projection_to_token_2"/>
          <p:cNvCxnSpPr/>
          <p:nvPr/>
        </p:nvCxnSpPr>
        <p:spPr>
          <a:xfrm flipV="1">
            <a:off x="3559277" y="3998451"/>
            <a:ext cx="0" cy="18353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atch_to_projection_2" descr="Editable line; source id patch_to_projection_2"/>
          <p:cNvCxnSpPr/>
          <p:nvPr/>
        </p:nvCxnSpPr>
        <p:spPr>
          <a:xfrm flipV="1">
            <a:off x="3559277" y="4640825"/>
            <a:ext cx="0" cy="340852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ken_shaft_3" descr="Editable line; source id token_shaft_3"/>
          <p:cNvCxnSpPr/>
          <p:nvPr/>
        </p:nvCxnSpPr>
        <p:spPr>
          <a:xfrm flipV="1">
            <a:off x="4096774" y="3428180"/>
            <a:ext cx="0" cy="20975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rojection_to_token_3" descr="Editable line; source id projection_to_token_3"/>
          <p:cNvCxnSpPr/>
          <p:nvPr/>
        </p:nvCxnSpPr>
        <p:spPr>
          <a:xfrm flipV="1">
            <a:off x="4096774" y="3998451"/>
            <a:ext cx="0" cy="18353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tch_to_projection_3" descr="Editable line; source id patch_to_projection_3"/>
          <p:cNvCxnSpPr/>
          <p:nvPr/>
        </p:nvCxnSpPr>
        <p:spPr>
          <a:xfrm flipV="1">
            <a:off x="4096774" y="4640825"/>
            <a:ext cx="0" cy="340852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token_shaft_4" descr="Editable line; source id token_shaft_4"/>
          <p:cNvCxnSpPr/>
          <p:nvPr/>
        </p:nvCxnSpPr>
        <p:spPr>
          <a:xfrm flipV="1">
            <a:off x="4673599" y="3428180"/>
            <a:ext cx="0" cy="20975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projection_to_token_4" descr="Editable line; source id projection_to_token_4"/>
          <p:cNvCxnSpPr/>
          <p:nvPr/>
        </p:nvCxnSpPr>
        <p:spPr>
          <a:xfrm flipV="1">
            <a:off x="4673599" y="3998451"/>
            <a:ext cx="0" cy="18353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atch_to_projection_4" descr="Editable line; source id patch_to_projection_4"/>
          <p:cNvCxnSpPr/>
          <p:nvPr/>
        </p:nvCxnSpPr>
        <p:spPr>
          <a:xfrm flipV="1">
            <a:off x="4673599" y="4640825"/>
            <a:ext cx="0" cy="340852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token_shaft_5" descr="Editable line; source id token_shaft_5"/>
          <p:cNvCxnSpPr/>
          <p:nvPr/>
        </p:nvCxnSpPr>
        <p:spPr>
          <a:xfrm flipV="1">
            <a:off x="5204541" y="3428180"/>
            <a:ext cx="0" cy="20975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rojection_to_token_5" descr="Editable line; source id projection_to_token_5"/>
          <p:cNvCxnSpPr/>
          <p:nvPr/>
        </p:nvCxnSpPr>
        <p:spPr>
          <a:xfrm flipV="1">
            <a:off x="5204541" y="3998451"/>
            <a:ext cx="0" cy="18353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atch_to_projection_5" descr="Editable line; source id patch_to_projection_5"/>
          <p:cNvCxnSpPr/>
          <p:nvPr/>
        </p:nvCxnSpPr>
        <p:spPr>
          <a:xfrm flipV="1">
            <a:off x="5204541" y="4640825"/>
            <a:ext cx="0" cy="340852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ken_shaft_6" descr="Editable line; source id token_shaft_6"/>
          <p:cNvCxnSpPr/>
          <p:nvPr/>
        </p:nvCxnSpPr>
        <p:spPr>
          <a:xfrm flipV="1">
            <a:off x="5781367" y="3428180"/>
            <a:ext cx="0" cy="20975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projection_to_token_6" descr="Editable line; source id projection_to_token_6"/>
          <p:cNvCxnSpPr/>
          <p:nvPr/>
        </p:nvCxnSpPr>
        <p:spPr>
          <a:xfrm flipV="1">
            <a:off x="5781367" y="3998451"/>
            <a:ext cx="0" cy="18353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atch_to_projection_6" descr="Editable line; source id patch_to_projection_6"/>
          <p:cNvCxnSpPr/>
          <p:nvPr/>
        </p:nvCxnSpPr>
        <p:spPr>
          <a:xfrm flipV="1">
            <a:off x="5781367" y="4640825"/>
            <a:ext cx="0" cy="340852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token_shaft_7" descr="Editable line; source id token_shaft_7"/>
          <p:cNvCxnSpPr/>
          <p:nvPr/>
        </p:nvCxnSpPr>
        <p:spPr>
          <a:xfrm flipV="1">
            <a:off x="6371303" y="3428180"/>
            <a:ext cx="0" cy="20975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projection_to_token_7" descr="Editable line; source id projection_to_token_7"/>
          <p:cNvCxnSpPr/>
          <p:nvPr/>
        </p:nvCxnSpPr>
        <p:spPr>
          <a:xfrm flipV="1">
            <a:off x="6371303" y="3998451"/>
            <a:ext cx="0" cy="18353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patch_to_projection_7" descr="Editable line; source id patch_to_projection_7"/>
          <p:cNvCxnSpPr/>
          <p:nvPr/>
        </p:nvCxnSpPr>
        <p:spPr>
          <a:xfrm flipV="1">
            <a:off x="6371303" y="4640825"/>
            <a:ext cx="0" cy="340852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token_shaft_8" descr="Editable line; source id token_shaft_8"/>
          <p:cNvCxnSpPr/>
          <p:nvPr/>
        </p:nvCxnSpPr>
        <p:spPr>
          <a:xfrm flipV="1">
            <a:off x="6895690" y="3428180"/>
            <a:ext cx="0" cy="20975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rojection_to_token_8" descr="Editable line; source id projection_to_token_8"/>
          <p:cNvCxnSpPr/>
          <p:nvPr/>
        </p:nvCxnSpPr>
        <p:spPr>
          <a:xfrm flipV="1">
            <a:off x="6895690" y="3998451"/>
            <a:ext cx="0" cy="18353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atch_to_projection_8" descr="Editable line; source id patch_to_projection_8"/>
          <p:cNvCxnSpPr/>
          <p:nvPr/>
        </p:nvCxnSpPr>
        <p:spPr>
          <a:xfrm flipV="1">
            <a:off x="6895690" y="4640825"/>
            <a:ext cx="0" cy="340852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token_shaft_9" descr="Editable line; source id token_shaft_9"/>
          <p:cNvCxnSpPr/>
          <p:nvPr/>
        </p:nvCxnSpPr>
        <p:spPr>
          <a:xfrm flipV="1">
            <a:off x="7479070" y="3428180"/>
            <a:ext cx="0" cy="20975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rojection_to_token_9" descr="Editable line; source id projection_to_token_9"/>
          <p:cNvCxnSpPr/>
          <p:nvPr/>
        </p:nvCxnSpPr>
        <p:spPr>
          <a:xfrm flipV="1">
            <a:off x="7479070" y="3998451"/>
            <a:ext cx="0" cy="183535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atch_to_projection_9" descr="Editable line; source id patch_to_projection_9"/>
          <p:cNvCxnSpPr/>
          <p:nvPr/>
        </p:nvCxnSpPr>
        <p:spPr>
          <a:xfrm flipV="1">
            <a:off x="7479070" y="4640825"/>
            <a:ext cx="0" cy="340852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mbedding_arrow" descr="Editable line; source id embedding_arrow"/>
          <p:cNvSpPr/>
          <p:nvPr/>
        </p:nvSpPr>
        <p:spPr>
          <a:xfrm>
            <a:off x="1664929" y="3782142"/>
            <a:ext cx="294968" cy="131097"/>
          </a:xfrm>
          <a:custGeom>
            <a:avLst/>
            <a:gdLst/>
            <a:ahLst/>
            <a:cxnLst/>
            <a:rect l="l" t="t" r="r" b="b"/>
            <a:pathLst>
              <a:path w="22500" h="10000">
                <a:moveTo>
                  <a:pt x="0" y="4200"/>
                </a:moveTo>
                <a:lnTo>
                  <a:pt x="8000" y="4200"/>
                </a:lnTo>
                <a:lnTo>
                  <a:pt x="8000" y="0"/>
                </a:lnTo>
                <a:lnTo>
                  <a:pt x="22500" y="5000"/>
                </a:lnTo>
                <a:lnTo>
                  <a:pt x="8000" y="10000"/>
                </a:lnTo>
                <a:lnTo>
                  <a:pt x="8000" y="5800"/>
                </a:lnTo>
                <a:lnTo>
                  <a:pt x="0" y="58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atches_arrow" descr="Editable line; source id patches_arrow"/>
          <p:cNvSpPr/>
          <p:nvPr/>
        </p:nvSpPr>
        <p:spPr>
          <a:xfrm>
            <a:off x="1592826" y="5184877"/>
            <a:ext cx="1107768" cy="131097"/>
          </a:xfrm>
          <a:custGeom>
            <a:avLst/>
            <a:gdLst/>
            <a:ahLst/>
            <a:cxnLst/>
            <a:rect l="l" t="t" r="r" b="b"/>
            <a:pathLst>
              <a:path w="84500" h="10000">
                <a:moveTo>
                  <a:pt x="0" y="4200"/>
                </a:moveTo>
                <a:lnTo>
                  <a:pt x="70000" y="4200"/>
                </a:lnTo>
                <a:lnTo>
                  <a:pt x="70000" y="0"/>
                </a:lnTo>
                <a:lnTo>
                  <a:pt x="84500" y="5000"/>
                </a:lnTo>
                <a:lnTo>
                  <a:pt x="70000" y="10000"/>
                </a:lnTo>
                <a:lnTo>
                  <a:pt x="70000" y="5800"/>
                </a:lnTo>
                <a:lnTo>
                  <a:pt x="0" y="580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embedded_to_norm" descr="Editable line; source id embedded_to_norm"/>
          <p:cNvCxnSpPr/>
          <p:nvPr/>
        </p:nvCxnSpPr>
        <p:spPr>
          <a:xfrm flipV="1">
            <a:off x="10212438" y="5093109"/>
            <a:ext cx="0" cy="406400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norm_bottom_stem" descr="Editable line; source id norm_bottom_stem"/>
          <p:cNvCxnSpPr/>
          <p:nvPr/>
        </p:nvCxnSpPr>
        <p:spPr>
          <a:xfrm flipV="1">
            <a:off x="10212438" y="4431070"/>
            <a:ext cx="0" cy="203200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attention_bus" descr="Editable line; source id attention_bus"/>
          <p:cNvCxnSpPr/>
          <p:nvPr/>
        </p:nvCxnSpPr>
        <p:spPr>
          <a:xfrm>
            <a:off x="9747044" y="4516283"/>
            <a:ext cx="976671" cy="0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attention_left" descr="Editable line; source id attention_left"/>
          <p:cNvCxnSpPr/>
          <p:nvPr/>
        </p:nvCxnSpPr>
        <p:spPr>
          <a:xfrm flipV="1">
            <a:off x="9747044" y="4411406"/>
            <a:ext cx="0" cy="104877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attention_right" descr="Editable line; source id attention_right"/>
          <p:cNvCxnSpPr/>
          <p:nvPr/>
        </p:nvCxnSpPr>
        <p:spPr>
          <a:xfrm flipV="1">
            <a:off x="10723715" y="4411406"/>
            <a:ext cx="0" cy="104877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attention_to_add" descr="Editable line; source id attention_to_add"/>
          <p:cNvCxnSpPr/>
          <p:nvPr/>
        </p:nvCxnSpPr>
        <p:spPr>
          <a:xfrm flipV="1">
            <a:off x="10225548" y="3415070"/>
            <a:ext cx="0" cy="163871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add_to_norm" descr="Editable line; source id add_to_norm"/>
          <p:cNvCxnSpPr/>
          <p:nvPr/>
        </p:nvCxnSpPr>
        <p:spPr>
          <a:xfrm flipV="1">
            <a:off x="10225548" y="2805470"/>
            <a:ext cx="0" cy="176981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orm_top_shaft" descr="Editable line; source id norm_top_shaft"/>
          <p:cNvCxnSpPr/>
          <p:nvPr/>
        </p:nvCxnSpPr>
        <p:spPr>
          <a:xfrm flipV="1">
            <a:off x="10225548" y="2215535"/>
            <a:ext cx="0" cy="131097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mlp_to_add" descr="Editable line; source id mlp_to_add"/>
          <p:cNvCxnSpPr/>
          <p:nvPr/>
        </p:nvCxnSpPr>
        <p:spPr>
          <a:xfrm flipV="1">
            <a:off x="10225548" y="1402735"/>
            <a:ext cx="0" cy="163871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ncoder_out" descr="Editable line; source id encoder_out"/>
          <p:cNvCxnSpPr/>
          <p:nvPr/>
        </p:nvCxnSpPr>
        <p:spPr>
          <a:xfrm flipV="1">
            <a:off x="10225548" y="799690"/>
            <a:ext cx="0" cy="170426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esidual_top_1" descr="Editable line; source id residual_top_1"/>
          <p:cNvCxnSpPr/>
          <p:nvPr/>
        </p:nvCxnSpPr>
        <p:spPr>
          <a:xfrm>
            <a:off x="10225548" y="2897238"/>
            <a:ext cx="1002890" cy="0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residual_top_2" descr="Editable line; source id residual_top_2"/>
          <p:cNvCxnSpPr/>
          <p:nvPr/>
        </p:nvCxnSpPr>
        <p:spPr>
          <a:xfrm flipV="1">
            <a:off x="11228438" y="1186425"/>
            <a:ext cx="0" cy="1710813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sidual_top_3" descr="Editable line; source id residual_top_3"/>
          <p:cNvSpPr/>
          <p:nvPr/>
        </p:nvSpPr>
        <p:spPr>
          <a:xfrm>
            <a:off x="10461522" y="1120877"/>
            <a:ext cx="766916" cy="131097"/>
          </a:xfrm>
          <a:custGeom>
            <a:avLst/>
            <a:gdLst/>
            <a:ahLst/>
            <a:cxnLst/>
            <a:rect l="l" t="t" r="r" b="b"/>
            <a:pathLst>
              <a:path w="58500" h="10000">
                <a:moveTo>
                  <a:pt x="58500" y="5800"/>
                </a:moveTo>
                <a:lnTo>
                  <a:pt x="15000" y="5800"/>
                </a:lnTo>
                <a:lnTo>
                  <a:pt x="15000" y="10000"/>
                </a:lnTo>
                <a:lnTo>
                  <a:pt x="0" y="5000"/>
                </a:lnTo>
                <a:lnTo>
                  <a:pt x="15000" y="0"/>
                </a:lnTo>
                <a:lnTo>
                  <a:pt x="15000" y="4200"/>
                </a:lnTo>
                <a:lnTo>
                  <a:pt x="58500" y="4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residual_bottom_1" descr="Editable line; source id residual_bottom_1"/>
          <p:cNvCxnSpPr/>
          <p:nvPr/>
        </p:nvCxnSpPr>
        <p:spPr>
          <a:xfrm>
            <a:off x="10212438" y="5204541"/>
            <a:ext cx="1016000" cy="0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esidual_bottom_2" descr="Editable line; source id residual_bottom_2"/>
          <p:cNvCxnSpPr/>
          <p:nvPr/>
        </p:nvCxnSpPr>
        <p:spPr>
          <a:xfrm flipV="1">
            <a:off x="11228438" y="3198761"/>
            <a:ext cx="0" cy="2005780"/>
          </a:xfrm>
          <a:prstGeom prst="line">
            <a:avLst/>
          </a:prstGeom>
          <a:ln w="209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sidual_bottom_3" descr="Editable line; source id residual_bottom_3"/>
          <p:cNvSpPr/>
          <p:nvPr/>
        </p:nvSpPr>
        <p:spPr>
          <a:xfrm>
            <a:off x="10461522" y="3133213"/>
            <a:ext cx="766916" cy="131097"/>
          </a:xfrm>
          <a:custGeom>
            <a:avLst/>
            <a:gdLst/>
            <a:ahLst/>
            <a:cxnLst/>
            <a:rect l="l" t="t" r="r" b="b"/>
            <a:pathLst>
              <a:path w="58500" h="10000">
                <a:moveTo>
                  <a:pt x="58500" y="5800"/>
                </a:moveTo>
                <a:lnTo>
                  <a:pt x="15000" y="5800"/>
                </a:lnTo>
                <a:lnTo>
                  <a:pt x="15000" y="10000"/>
                </a:lnTo>
                <a:lnTo>
                  <a:pt x="0" y="5000"/>
                </a:lnTo>
                <a:lnTo>
                  <a:pt x="15000" y="0"/>
                </a:lnTo>
                <a:lnTo>
                  <a:pt x="15000" y="4200"/>
                </a:lnTo>
                <a:lnTo>
                  <a:pt x="58500" y="4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oken_arrow_0" descr="Editable shape; source id token_arrow_0"/>
          <p:cNvSpPr/>
          <p:nvPr/>
        </p:nvSpPr>
        <p:spPr>
          <a:xfrm>
            <a:off x="2347943" y="3268242"/>
            <a:ext cx="115365" cy="17829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oken_arrow_1" descr="Editable shape; source id token_arrow_1"/>
          <p:cNvSpPr/>
          <p:nvPr/>
        </p:nvSpPr>
        <p:spPr>
          <a:xfrm>
            <a:off x="2937878" y="3268242"/>
            <a:ext cx="115365" cy="17829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oken_arrow_2" descr="Editable shape; source id token_arrow_2"/>
          <p:cNvSpPr/>
          <p:nvPr/>
        </p:nvSpPr>
        <p:spPr>
          <a:xfrm>
            <a:off x="3501594" y="3268242"/>
            <a:ext cx="115365" cy="17829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oken_arrow_3" descr="Editable shape; source id token_arrow_3"/>
          <p:cNvSpPr/>
          <p:nvPr/>
        </p:nvSpPr>
        <p:spPr>
          <a:xfrm>
            <a:off x="4039091" y="3268242"/>
            <a:ext cx="115365" cy="17829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oken_arrow_4" descr="Editable shape; source id token_arrow_4"/>
          <p:cNvSpPr/>
          <p:nvPr/>
        </p:nvSpPr>
        <p:spPr>
          <a:xfrm>
            <a:off x="4615917" y="3268242"/>
            <a:ext cx="115365" cy="17829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oken_arrow_5" descr="Editable shape; source id token_arrow_5"/>
          <p:cNvSpPr/>
          <p:nvPr/>
        </p:nvSpPr>
        <p:spPr>
          <a:xfrm>
            <a:off x="5146859" y="3268242"/>
            <a:ext cx="115365" cy="17829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oken_arrow_6" descr="Editable shape; source id token_arrow_6"/>
          <p:cNvSpPr/>
          <p:nvPr/>
        </p:nvSpPr>
        <p:spPr>
          <a:xfrm>
            <a:off x="5723685" y="3268242"/>
            <a:ext cx="115365" cy="17829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oken_arrow_7" descr="Editable shape; source id token_arrow_7"/>
          <p:cNvSpPr/>
          <p:nvPr/>
        </p:nvSpPr>
        <p:spPr>
          <a:xfrm>
            <a:off x="6313620" y="3268242"/>
            <a:ext cx="115365" cy="17829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oken_arrow_8" descr="Editable shape; source id token_arrow_8"/>
          <p:cNvSpPr/>
          <p:nvPr/>
        </p:nvSpPr>
        <p:spPr>
          <a:xfrm>
            <a:off x="6838007" y="3268242"/>
            <a:ext cx="115365" cy="17829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oken_arrow_9" descr="Editable shape; source id token_arrow_9"/>
          <p:cNvSpPr/>
          <p:nvPr/>
        </p:nvSpPr>
        <p:spPr>
          <a:xfrm>
            <a:off x="7421388" y="3268242"/>
            <a:ext cx="115365" cy="178291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ttention_arrow_left" descr="Editable shape; source id attention_arrow_left"/>
          <p:cNvSpPr/>
          <p:nvPr/>
        </p:nvSpPr>
        <p:spPr>
          <a:xfrm>
            <a:off x="9688051" y="4247535"/>
            <a:ext cx="117987" cy="183535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attention_arrow_mid" descr="Editable shape; source id attention_arrow_mid"/>
          <p:cNvSpPr/>
          <p:nvPr/>
        </p:nvSpPr>
        <p:spPr>
          <a:xfrm>
            <a:off x="10153444" y="4247535"/>
            <a:ext cx="117987" cy="183535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attention_arrow_right" descr="Editable shape; source id attention_arrow_right"/>
          <p:cNvSpPr/>
          <p:nvPr/>
        </p:nvSpPr>
        <p:spPr>
          <a:xfrm>
            <a:off x="10664722" y="4247535"/>
            <a:ext cx="117987" cy="183535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orm_top_arrow" descr="Editable shape; source id norm_top_arrow"/>
          <p:cNvSpPr/>
          <p:nvPr/>
        </p:nvSpPr>
        <p:spPr>
          <a:xfrm>
            <a:off x="10166554" y="2045109"/>
            <a:ext cx="117987" cy="183535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ncoder_out_arrow" descr="Editable shape; source id encoder_out_arrow"/>
          <p:cNvSpPr/>
          <p:nvPr/>
        </p:nvSpPr>
        <p:spPr>
          <a:xfrm>
            <a:off x="10166554" y="635819"/>
            <a:ext cx="117987" cy="17698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lass_capsule" descr="Editable shape; source id class_capsule"/>
          <p:cNvSpPr/>
          <p:nvPr/>
        </p:nvSpPr>
        <p:spPr>
          <a:xfrm>
            <a:off x="530941" y="694812"/>
            <a:ext cx="773470" cy="1573161"/>
          </a:xfrm>
          <a:prstGeom prst="roundRect">
            <a:avLst>
              <a:gd name="adj" fmla="val 50000"/>
            </a:avLst>
          </a:prstGeom>
          <a:solidFill>
            <a:srgbClr val="FECD9D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mlp_head" descr="Editable shape; source id mlp_head"/>
          <p:cNvSpPr/>
          <p:nvPr/>
        </p:nvSpPr>
        <p:spPr>
          <a:xfrm>
            <a:off x="1920567" y="1127432"/>
            <a:ext cx="970116" cy="721032"/>
          </a:xfrm>
          <a:prstGeom prst="roundRect">
            <a:avLst>
              <a:gd name="adj" fmla="val 9090"/>
            </a:avLst>
          </a:prstGeom>
          <a:solidFill>
            <a:srgbClr val="FECD9D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main_encoder" descr="Editable shape; source id main_encoder"/>
          <p:cNvSpPr/>
          <p:nvPr/>
        </p:nvSpPr>
        <p:spPr>
          <a:xfrm>
            <a:off x="1923189" y="2202425"/>
            <a:ext cx="5828562" cy="1042219"/>
          </a:xfrm>
          <a:prstGeom prst="roundRect">
            <a:avLst>
              <a:gd name="adj" fmla="val 6289"/>
            </a:avLst>
          </a:prstGeom>
          <a:solidFill>
            <a:srgbClr val="E1E1E1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rojection" descr="Editable shape; source id projection"/>
          <p:cNvSpPr/>
          <p:nvPr/>
        </p:nvSpPr>
        <p:spPr>
          <a:xfrm>
            <a:off x="2772696" y="4181986"/>
            <a:ext cx="4981677" cy="458838"/>
          </a:xfrm>
          <a:prstGeom prst="roundRect">
            <a:avLst>
              <a:gd name="adj" fmla="val 1428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osition_0" descr="Editable shape; source id position_0"/>
          <p:cNvSpPr/>
          <p:nvPr/>
        </p:nvSpPr>
        <p:spPr>
          <a:xfrm>
            <a:off x="2117212" y="3651045"/>
            <a:ext cx="196645" cy="360516"/>
          </a:xfrm>
          <a:prstGeom prst="roundRect">
            <a:avLst>
              <a:gd name="adj" fmla="val 46666"/>
            </a:avLst>
          </a:prstGeom>
          <a:solidFill>
            <a:srgbClr val="CAB4CB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oken_0" descr="Editable shape; source id token_0"/>
          <p:cNvSpPr/>
          <p:nvPr/>
        </p:nvSpPr>
        <p:spPr>
          <a:xfrm>
            <a:off x="2320412" y="3651045"/>
            <a:ext cx="190090" cy="360516"/>
          </a:xfrm>
          <a:prstGeom prst="roundRect">
            <a:avLst>
              <a:gd name="adj" fmla="val 4827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position_1" descr="Editable shape; source id position_1"/>
          <p:cNvSpPr/>
          <p:nvPr/>
        </p:nvSpPr>
        <p:spPr>
          <a:xfrm>
            <a:off x="2700593" y="3637935"/>
            <a:ext cx="196645" cy="360516"/>
          </a:xfrm>
          <a:prstGeom prst="roundRect">
            <a:avLst>
              <a:gd name="adj" fmla="val 46666"/>
            </a:avLst>
          </a:prstGeom>
          <a:solidFill>
            <a:srgbClr val="CAB4CB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oken_1" descr="Editable shape; source id token_1"/>
          <p:cNvSpPr/>
          <p:nvPr/>
        </p:nvSpPr>
        <p:spPr>
          <a:xfrm>
            <a:off x="2897238" y="3637935"/>
            <a:ext cx="190090" cy="360516"/>
          </a:xfrm>
          <a:prstGeom prst="roundRect">
            <a:avLst>
              <a:gd name="adj" fmla="val 4827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position_2" descr="Editable shape; source id position_2"/>
          <p:cNvSpPr/>
          <p:nvPr/>
        </p:nvSpPr>
        <p:spPr>
          <a:xfrm>
            <a:off x="3270864" y="3637935"/>
            <a:ext cx="196645" cy="360516"/>
          </a:xfrm>
          <a:prstGeom prst="roundRect">
            <a:avLst>
              <a:gd name="adj" fmla="val 46666"/>
            </a:avLst>
          </a:prstGeom>
          <a:solidFill>
            <a:srgbClr val="CAB4CB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oken_2" descr="Editable shape; source id token_2"/>
          <p:cNvSpPr/>
          <p:nvPr/>
        </p:nvSpPr>
        <p:spPr>
          <a:xfrm>
            <a:off x="3467509" y="3637935"/>
            <a:ext cx="190090" cy="360516"/>
          </a:xfrm>
          <a:prstGeom prst="roundRect">
            <a:avLst>
              <a:gd name="adj" fmla="val 4827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position_3" descr="Editable shape; source id position_3"/>
          <p:cNvSpPr/>
          <p:nvPr/>
        </p:nvSpPr>
        <p:spPr>
          <a:xfrm>
            <a:off x="3808361" y="3637935"/>
            <a:ext cx="196645" cy="360516"/>
          </a:xfrm>
          <a:prstGeom prst="roundRect">
            <a:avLst>
              <a:gd name="adj" fmla="val 46666"/>
            </a:avLst>
          </a:prstGeom>
          <a:solidFill>
            <a:srgbClr val="CAB4CB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oken_3" descr="Editable shape; source id token_3"/>
          <p:cNvSpPr/>
          <p:nvPr/>
        </p:nvSpPr>
        <p:spPr>
          <a:xfrm>
            <a:off x="4005006" y="3637935"/>
            <a:ext cx="190090" cy="360516"/>
          </a:xfrm>
          <a:prstGeom prst="roundRect">
            <a:avLst>
              <a:gd name="adj" fmla="val 4827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position_4" descr="Editable shape; source id position_4"/>
          <p:cNvSpPr/>
          <p:nvPr/>
        </p:nvSpPr>
        <p:spPr>
          <a:xfrm>
            <a:off x="4385186" y="3637935"/>
            <a:ext cx="196645" cy="360516"/>
          </a:xfrm>
          <a:prstGeom prst="roundRect">
            <a:avLst>
              <a:gd name="adj" fmla="val 46666"/>
            </a:avLst>
          </a:prstGeom>
          <a:solidFill>
            <a:srgbClr val="CAB4CB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oken_4" descr="Editable shape; source id token_4"/>
          <p:cNvSpPr/>
          <p:nvPr/>
        </p:nvSpPr>
        <p:spPr>
          <a:xfrm>
            <a:off x="4581832" y="3637935"/>
            <a:ext cx="190090" cy="360516"/>
          </a:xfrm>
          <a:prstGeom prst="roundRect">
            <a:avLst>
              <a:gd name="adj" fmla="val 4827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position_5" descr="Editable shape; source id position_5"/>
          <p:cNvSpPr/>
          <p:nvPr/>
        </p:nvSpPr>
        <p:spPr>
          <a:xfrm>
            <a:off x="4916128" y="3637935"/>
            <a:ext cx="196645" cy="360516"/>
          </a:xfrm>
          <a:prstGeom prst="roundRect">
            <a:avLst>
              <a:gd name="adj" fmla="val 46666"/>
            </a:avLst>
          </a:prstGeom>
          <a:solidFill>
            <a:srgbClr val="CAB4CB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oken_5" descr="Editable shape; source id token_5"/>
          <p:cNvSpPr/>
          <p:nvPr/>
        </p:nvSpPr>
        <p:spPr>
          <a:xfrm>
            <a:off x="5112774" y="3637935"/>
            <a:ext cx="190090" cy="360516"/>
          </a:xfrm>
          <a:prstGeom prst="roundRect">
            <a:avLst>
              <a:gd name="adj" fmla="val 4827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position_6" descr="Editable shape; source id position_6"/>
          <p:cNvSpPr/>
          <p:nvPr/>
        </p:nvSpPr>
        <p:spPr>
          <a:xfrm>
            <a:off x="5492954" y="3637935"/>
            <a:ext cx="196645" cy="360516"/>
          </a:xfrm>
          <a:prstGeom prst="roundRect">
            <a:avLst>
              <a:gd name="adj" fmla="val 46666"/>
            </a:avLst>
          </a:prstGeom>
          <a:solidFill>
            <a:srgbClr val="CAB4CB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ken_6" descr="Editable shape; source id token_6"/>
          <p:cNvSpPr/>
          <p:nvPr/>
        </p:nvSpPr>
        <p:spPr>
          <a:xfrm>
            <a:off x="5689599" y="3637935"/>
            <a:ext cx="190090" cy="360516"/>
          </a:xfrm>
          <a:prstGeom prst="roundRect">
            <a:avLst>
              <a:gd name="adj" fmla="val 4827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osition_7" descr="Editable shape; source id position_7"/>
          <p:cNvSpPr/>
          <p:nvPr/>
        </p:nvSpPr>
        <p:spPr>
          <a:xfrm>
            <a:off x="6082890" y="3637935"/>
            <a:ext cx="196645" cy="360516"/>
          </a:xfrm>
          <a:prstGeom prst="roundRect">
            <a:avLst>
              <a:gd name="adj" fmla="val 46666"/>
            </a:avLst>
          </a:prstGeom>
          <a:solidFill>
            <a:srgbClr val="CAB4CB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oken_7" descr="Editable shape; source id token_7"/>
          <p:cNvSpPr/>
          <p:nvPr/>
        </p:nvSpPr>
        <p:spPr>
          <a:xfrm>
            <a:off x="6279535" y="3637935"/>
            <a:ext cx="190090" cy="360516"/>
          </a:xfrm>
          <a:prstGeom prst="roundRect">
            <a:avLst>
              <a:gd name="adj" fmla="val 4827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osition_8" descr="Editable shape; source id position_8"/>
          <p:cNvSpPr/>
          <p:nvPr/>
        </p:nvSpPr>
        <p:spPr>
          <a:xfrm>
            <a:off x="6607277" y="3637935"/>
            <a:ext cx="196645" cy="360516"/>
          </a:xfrm>
          <a:prstGeom prst="roundRect">
            <a:avLst>
              <a:gd name="adj" fmla="val 46666"/>
            </a:avLst>
          </a:prstGeom>
          <a:solidFill>
            <a:srgbClr val="CAB4CB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oken_8" descr="Editable shape; source id token_8"/>
          <p:cNvSpPr/>
          <p:nvPr/>
        </p:nvSpPr>
        <p:spPr>
          <a:xfrm>
            <a:off x="6803922" y="3637935"/>
            <a:ext cx="190090" cy="360516"/>
          </a:xfrm>
          <a:prstGeom prst="roundRect">
            <a:avLst>
              <a:gd name="adj" fmla="val 4827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position_9" descr="Editable shape; source id position_9"/>
          <p:cNvSpPr/>
          <p:nvPr/>
        </p:nvSpPr>
        <p:spPr>
          <a:xfrm>
            <a:off x="7184103" y="3637935"/>
            <a:ext cx="196645" cy="360516"/>
          </a:xfrm>
          <a:prstGeom prst="roundRect">
            <a:avLst>
              <a:gd name="adj" fmla="val 46666"/>
            </a:avLst>
          </a:prstGeom>
          <a:solidFill>
            <a:srgbClr val="CAB4CB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oken_9" descr="Editable shape; source id token_9"/>
          <p:cNvSpPr/>
          <p:nvPr/>
        </p:nvSpPr>
        <p:spPr>
          <a:xfrm>
            <a:off x="7380748" y="3637935"/>
            <a:ext cx="190090" cy="360516"/>
          </a:xfrm>
          <a:prstGeom prst="roundRect">
            <a:avLst>
              <a:gd name="adj" fmla="val 48275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hoto_grid" descr="Exact photograph-only crop from provided ViT figure bitmap; source rectangle [23, 358, 93, 91]. No text or diagram border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22" y="4693264"/>
            <a:ext cx="1219199" cy="1192980"/>
          </a:xfrm>
          <a:prstGeom prst="rect">
            <a:avLst/>
          </a:prstGeom>
          <a:effectLst/>
        </p:spPr>
      </p:pic>
      <p:pic>
        <p:nvPicPr>
          <p:cNvPr id="94" name="patch_photo_1" descr="Exact photograph-only crop from provided ViT figure bitmap; source rectangle [211, 382, 36, 36]. No text or diagram border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141" y="5007896"/>
            <a:ext cx="471948" cy="471948"/>
          </a:xfrm>
          <a:prstGeom prst="rect">
            <a:avLst/>
          </a:prstGeom>
          <a:effectLst/>
        </p:spPr>
      </p:pic>
      <p:pic>
        <p:nvPicPr>
          <p:cNvPr id="95" name="patch_photo_2" descr="Exact photograph-only crop from provided ViT figure bitmap; source rectangle [253, 382, 36, 36]. No text or diagram border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6748" y="5007896"/>
            <a:ext cx="471948" cy="471948"/>
          </a:xfrm>
          <a:prstGeom prst="rect">
            <a:avLst/>
          </a:prstGeom>
          <a:effectLst/>
        </p:spPr>
      </p:pic>
      <p:pic>
        <p:nvPicPr>
          <p:cNvPr id="96" name="patch_photo_3" descr="Exact photograph-only crop from provided ViT figure bitmap; source rectangle [295, 382, 36, 36]. No text or diagram border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354" y="5007896"/>
            <a:ext cx="471948" cy="471948"/>
          </a:xfrm>
          <a:prstGeom prst="rect">
            <a:avLst/>
          </a:prstGeom>
          <a:effectLst/>
        </p:spPr>
      </p:pic>
      <p:pic>
        <p:nvPicPr>
          <p:cNvPr id="97" name="patch_photo_4" descr="Exact photograph-only crop from provided ViT figure bitmap; source rectangle [338, 382, 36, 36]. No text or diagram borders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1070" y="5007896"/>
            <a:ext cx="471948" cy="471948"/>
          </a:xfrm>
          <a:prstGeom prst="rect">
            <a:avLst/>
          </a:prstGeom>
          <a:effectLst/>
        </p:spPr>
      </p:pic>
      <p:pic>
        <p:nvPicPr>
          <p:cNvPr id="98" name="patch_photo_5" descr="Exact photograph-only crop from provided ViT figure bitmap; source rectangle [380, 382, 36, 36]. No text or diagram borders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1677" y="5007896"/>
            <a:ext cx="471948" cy="471948"/>
          </a:xfrm>
          <a:prstGeom prst="rect">
            <a:avLst/>
          </a:prstGeom>
          <a:effectLst/>
        </p:spPr>
      </p:pic>
      <p:pic>
        <p:nvPicPr>
          <p:cNvPr id="99" name="patch_photo_6" descr="Exact photograph-only crop from provided ViT figure bitmap; source rectangle [423, 382, 36, 36]. No text or diagram borders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5393" y="5007896"/>
            <a:ext cx="471948" cy="471948"/>
          </a:xfrm>
          <a:prstGeom prst="rect">
            <a:avLst/>
          </a:prstGeom>
          <a:effectLst/>
        </p:spPr>
      </p:pic>
      <p:pic>
        <p:nvPicPr>
          <p:cNvPr id="100" name="patch_photo_7" descr="Exact photograph-only crop from provided ViT figure bitmap; source rectangle [465, 382, 36, 36]. No text or diagram borders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999" y="5007896"/>
            <a:ext cx="471948" cy="471948"/>
          </a:xfrm>
          <a:prstGeom prst="rect">
            <a:avLst/>
          </a:prstGeom>
          <a:effectLst/>
        </p:spPr>
      </p:pic>
      <p:pic>
        <p:nvPicPr>
          <p:cNvPr id="101" name="patch_photo_8" descr="Exact photograph-only crop from provided ViT figure bitmap; source rectangle [508, 382, 36, 36]. No text or diagram borders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9715" y="5007896"/>
            <a:ext cx="471948" cy="471948"/>
          </a:xfrm>
          <a:prstGeom prst="rect">
            <a:avLst/>
          </a:prstGeom>
          <a:effectLst/>
        </p:spPr>
      </p:pic>
      <p:pic>
        <p:nvPicPr>
          <p:cNvPr id="102" name="patch_photo_9" descr="Exact photograph-only crop from provided ViT figure bitmap; source rectangle [550, 382, 36, 36]. No text or diagram borders.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0322" y="5007896"/>
            <a:ext cx="471948" cy="471948"/>
          </a:xfrm>
          <a:prstGeom prst="rect">
            <a:avLst/>
          </a:prstGeom>
          <a:effectLst/>
        </p:spPr>
      </p:pic>
      <p:sp>
        <p:nvSpPr>
          <p:cNvPr id="103" name="encoder_mlp" descr="Editable shape; source id encoder_mlp"/>
          <p:cNvSpPr/>
          <p:nvPr/>
        </p:nvSpPr>
        <p:spPr>
          <a:xfrm>
            <a:off x="9353754" y="1566606"/>
            <a:ext cx="1743587" cy="458838"/>
          </a:xfrm>
          <a:prstGeom prst="roundRect">
            <a:avLst>
              <a:gd name="adj" fmla="val 14285"/>
            </a:avLst>
          </a:prstGeom>
          <a:solidFill>
            <a:srgbClr val="BAE0F5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ncoder_norm_top" descr="Editable shape; source id encoder_norm_top"/>
          <p:cNvSpPr/>
          <p:nvPr/>
        </p:nvSpPr>
        <p:spPr>
          <a:xfrm>
            <a:off x="9353754" y="2346632"/>
            <a:ext cx="1743587" cy="458838"/>
          </a:xfrm>
          <a:prstGeom prst="roundRect">
            <a:avLst>
              <a:gd name="adj" fmla="val 14285"/>
            </a:avLst>
          </a:prstGeom>
          <a:solidFill>
            <a:srgbClr val="FFEAA3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ncoder_attention" descr="Editable shape; source id encoder_attention"/>
          <p:cNvSpPr/>
          <p:nvPr/>
        </p:nvSpPr>
        <p:spPr>
          <a:xfrm>
            <a:off x="9353754" y="3578941"/>
            <a:ext cx="1743587" cy="648929"/>
          </a:xfrm>
          <a:prstGeom prst="roundRect">
            <a:avLst>
              <a:gd name="adj" fmla="val 10101"/>
            </a:avLst>
          </a:prstGeom>
          <a:solidFill>
            <a:srgbClr val="C0E5A4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ncoder_norm_bottom" descr="Editable shape; source id encoder_norm_bottom"/>
          <p:cNvSpPr/>
          <p:nvPr/>
        </p:nvSpPr>
        <p:spPr>
          <a:xfrm>
            <a:off x="9353754" y="4634270"/>
            <a:ext cx="1743587" cy="458838"/>
          </a:xfrm>
          <a:prstGeom prst="roundRect">
            <a:avLst>
              <a:gd name="adj" fmla="val 14285"/>
            </a:avLst>
          </a:prstGeom>
          <a:solidFill>
            <a:srgbClr val="FFEAA3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ncoder_embedded" descr="Editable shape; source id encoder_embedded"/>
          <p:cNvSpPr/>
          <p:nvPr/>
        </p:nvSpPr>
        <p:spPr>
          <a:xfrm>
            <a:off x="9353754" y="5499509"/>
            <a:ext cx="1710812" cy="655483"/>
          </a:xfrm>
          <a:prstGeom prst="roundRect">
            <a:avLst>
              <a:gd name="adj" fmla="val 10000"/>
            </a:avLst>
          </a:prstGeom>
          <a:solidFill>
            <a:srgbClr val="FBDDDC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add_top" descr="Editable shape; source id add_top"/>
          <p:cNvSpPr/>
          <p:nvPr/>
        </p:nvSpPr>
        <p:spPr>
          <a:xfrm>
            <a:off x="10009238" y="970116"/>
            <a:ext cx="432619" cy="432619"/>
          </a:xfrm>
          <a:prstGeom prst="ellipse">
            <a:avLst/>
          </a:prstGeom>
          <a:solidFill>
            <a:srgbClr val="FFFFFF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add_bottom" descr="Editable shape; source id add_bottom"/>
          <p:cNvSpPr/>
          <p:nvPr/>
        </p:nvSpPr>
        <p:spPr>
          <a:xfrm>
            <a:off x="10009238" y="2982451"/>
            <a:ext cx="432619" cy="432619"/>
          </a:xfrm>
          <a:prstGeom prst="ellipse">
            <a:avLst/>
          </a:prstGeom>
          <a:solidFill>
            <a:srgbClr val="FFFFFF"/>
          </a:solidFill>
          <a:ln w="216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itle_vit" descr="Editable text; source id title_vit"/>
          <p:cNvSpPr txBox="1"/>
          <p:nvPr/>
        </p:nvSpPr>
        <p:spPr>
          <a:xfrm>
            <a:off x="2341716" y="270059"/>
            <a:ext cx="3148787" cy="34281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40"/>
              </a:lnSpc>
              <a:spcBef>
                <a:spcPts val="0"/>
              </a:spcBef>
              <a:spcAft>
                <a:spcPts val="0"/>
              </a:spcAft>
              <a:defRPr sz="220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 Transformer (ViT)</a:t>
            </a:r>
          </a:p>
        </p:txBody>
      </p:sp>
      <p:sp>
        <p:nvSpPr>
          <p:cNvPr id="111" name="title_encoder" descr="Editable text; source id title_encoder"/>
          <p:cNvSpPr txBox="1"/>
          <p:nvPr/>
        </p:nvSpPr>
        <p:spPr>
          <a:xfrm>
            <a:off x="8980128" y="270059"/>
            <a:ext cx="2667412" cy="34281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40"/>
              </a:lnSpc>
              <a:spcBef>
                <a:spcPts val="0"/>
              </a:spcBef>
              <a:spcAft>
                <a:spcPts val="0"/>
              </a:spcAft>
              <a:defRPr sz="220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Transformer Encoder</a:t>
            </a:r>
          </a:p>
        </p:txBody>
      </p:sp>
      <p:sp>
        <p:nvSpPr>
          <p:cNvPr id="112" name="class" descr="Editable text; source id class"/>
          <p:cNvSpPr txBox="1"/>
          <p:nvPr/>
        </p:nvSpPr>
        <p:spPr>
          <a:xfrm>
            <a:off x="647290" y="922265"/>
            <a:ext cx="566993" cy="29201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90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</a:t>
            </a:r>
          </a:p>
        </p:txBody>
      </p:sp>
      <p:sp>
        <p:nvSpPr>
          <p:cNvPr id="113" name="bird" descr="Editable text; source id bird"/>
          <p:cNvSpPr txBox="1"/>
          <p:nvPr/>
        </p:nvSpPr>
        <p:spPr>
          <a:xfrm>
            <a:off x="732503" y="1164794"/>
            <a:ext cx="383458" cy="2505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62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Bird</a:t>
            </a:r>
          </a:p>
        </p:txBody>
      </p:sp>
      <p:sp>
        <p:nvSpPr>
          <p:cNvPr id="114" name="ball" descr="Editable text; source id ball"/>
          <p:cNvSpPr txBox="1"/>
          <p:nvPr/>
        </p:nvSpPr>
        <p:spPr>
          <a:xfrm>
            <a:off x="745612" y="1387659"/>
            <a:ext cx="360516" cy="2505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62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Ball</a:t>
            </a:r>
          </a:p>
        </p:txBody>
      </p:sp>
      <p:sp>
        <p:nvSpPr>
          <p:cNvPr id="115" name="car" descr="Editable text; source id car"/>
          <p:cNvSpPr txBox="1"/>
          <p:nvPr/>
        </p:nvSpPr>
        <p:spPr>
          <a:xfrm>
            <a:off x="765277" y="1594136"/>
            <a:ext cx="311354" cy="2505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defRPr sz="162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</a:t>
            </a:r>
          </a:p>
        </p:txBody>
      </p:sp>
      <p:sp>
        <p:nvSpPr>
          <p:cNvPr id="116" name="ellipsis" descr="Editable text; source id ellipsis"/>
          <p:cNvSpPr txBox="1"/>
          <p:nvPr/>
        </p:nvSpPr>
        <p:spPr>
          <a:xfrm>
            <a:off x="853767" y="1823556"/>
            <a:ext cx="140929" cy="2090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43"/>
              </a:lnSpc>
              <a:spcBef>
                <a:spcPts val="0"/>
              </a:spcBef>
              <a:spcAft>
                <a:spcPts val="0"/>
              </a:spcAft>
              <a:defRPr sz="134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17" name="head_mlp" descr="Editable text; source id head_mlp"/>
          <p:cNvSpPr txBox="1"/>
          <p:nvPr/>
        </p:nvSpPr>
        <p:spPr>
          <a:xfrm>
            <a:off x="2149987" y="1184459"/>
            <a:ext cx="544051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118" name="head_head" descr="Editable text; source id head_head"/>
          <p:cNvSpPr txBox="1"/>
          <p:nvPr/>
        </p:nvSpPr>
        <p:spPr>
          <a:xfrm>
            <a:off x="2131961" y="1443375"/>
            <a:ext cx="560438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119" name="main_encoder_label" descr="Editable text; source id main_encoder_label"/>
          <p:cNvSpPr txBox="1"/>
          <p:nvPr/>
        </p:nvSpPr>
        <p:spPr>
          <a:xfrm>
            <a:off x="3732980" y="2557698"/>
            <a:ext cx="2235042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Transformer Encoder</a:t>
            </a:r>
          </a:p>
        </p:txBody>
      </p:sp>
      <p:sp>
        <p:nvSpPr>
          <p:cNvPr id="120" name="projection_label" descr="Editable text; source id projection_label"/>
          <p:cNvSpPr txBox="1"/>
          <p:nvPr/>
        </p:nvSpPr>
        <p:spPr>
          <a:xfrm>
            <a:off x="3280696" y="4235736"/>
            <a:ext cx="3995174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 Projection of Flattened Patches</a:t>
            </a:r>
          </a:p>
        </p:txBody>
      </p:sp>
      <p:sp>
        <p:nvSpPr>
          <p:cNvPr id="121" name="position_label_0" descr="Editable text; source id position_label_0"/>
          <p:cNvSpPr txBox="1"/>
          <p:nvPr/>
        </p:nvSpPr>
        <p:spPr>
          <a:xfrm>
            <a:off x="2149987" y="3678575"/>
            <a:ext cx="144206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22" name="class_star" descr="Editable text; source id class_star"/>
          <p:cNvSpPr txBox="1"/>
          <p:nvPr/>
        </p:nvSpPr>
        <p:spPr>
          <a:xfrm>
            <a:off x="2356464" y="3714627"/>
            <a:ext cx="131096" cy="28447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36"/>
              </a:lnSpc>
              <a:spcBef>
                <a:spcPts val="0"/>
              </a:spcBef>
              <a:spcAft>
                <a:spcPts val="0"/>
              </a:spcAft>
              <a:defRPr sz="185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*</a:t>
            </a:r>
          </a:p>
        </p:txBody>
      </p:sp>
      <p:sp>
        <p:nvSpPr>
          <p:cNvPr id="123" name="position_label_1" descr="Editable text; source id position_label_1"/>
          <p:cNvSpPr txBox="1"/>
          <p:nvPr/>
        </p:nvSpPr>
        <p:spPr>
          <a:xfrm>
            <a:off x="2733367" y="3665465"/>
            <a:ext cx="144206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4" name="position_label_2" descr="Editable text; source id position_label_2"/>
          <p:cNvSpPr txBox="1"/>
          <p:nvPr/>
        </p:nvSpPr>
        <p:spPr>
          <a:xfrm>
            <a:off x="3306916" y="3665465"/>
            <a:ext cx="144206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25" name="position_label_3" descr="Editable text; source id position_label_3"/>
          <p:cNvSpPr txBox="1"/>
          <p:nvPr/>
        </p:nvSpPr>
        <p:spPr>
          <a:xfrm>
            <a:off x="3847690" y="3665465"/>
            <a:ext cx="144206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26" name="position_label_4" descr="Editable text; source id position_label_4"/>
          <p:cNvSpPr txBox="1"/>
          <p:nvPr/>
        </p:nvSpPr>
        <p:spPr>
          <a:xfrm>
            <a:off x="4421238" y="3665465"/>
            <a:ext cx="144206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27" name="position_label_5" descr="Editable text; source id position_label_5"/>
          <p:cNvSpPr txBox="1"/>
          <p:nvPr/>
        </p:nvSpPr>
        <p:spPr>
          <a:xfrm>
            <a:off x="4952180" y="3662188"/>
            <a:ext cx="144206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28" name="position_label_6" descr="Editable text; source id position_label_6"/>
          <p:cNvSpPr txBox="1"/>
          <p:nvPr/>
        </p:nvSpPr>
        <p:spPr>
          <a:xfrm>
            <a:off x="5525728" y="3665465"/>
            <a:ext cx="144206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129" name="position_label_7" descr="Editable text; source id position_label_7"/>
          <p:cNvSpPr txBox="1"/>
          <p:nvPr/>
        </p:nvSpPr>
        <p:spPr>
          <a:xfrm>
            <a:off x="6117303" y="3662188"/>
            <a:ext cx="144206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130" name="position_label_8" descr="Editable text; source id position_label_8"/>
          <p:cNvSpPr txBox="1"/>
          <p:nvPr/>
        </p:nvSpPr>
        <p:spPr>
          <a:xfrm>
            <a:off x="6640051" y="3665465"/>
            <a:ext cx="144206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131" name="position_label_9" descr="Editable text; source id position_label_9"/>
          <p:cNvSpPr txBox="1"/>
          <p:nvPr/>
        </p:nvSpPr>
        <p:spPr>
          <a:xfrm>
            <a:off x="7218515" y="3665465"/>
            <a:ext cx="144206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132" name="embedding_line_1" descr="Editable text; source id embedding_line_1"/>
          <p:cNvSpPr txBox="1"/>
          <p:nvPr/>
        </p:nvSpPr>
        <p:spPr>
          <a:xfrm>
            <a:off x="162232" y="3599917"/>
            <a:ext cx="1428954" cy="2467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59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Patch + Position</a:t>
            </a:r>
          </a:p>
        </p:txBody>
      </p:sp>
      <p:sp>
        <p:nvSpPr>
          <p:cNvPr id="133" name="embedding_line_2" descr="Editable text; source id embedding_line_2"/>
          <p:cNvSpPr txBox="1"/>
          <p:nvPr/>
        </p:nvSpPr>
        <p:spPr>
          <a:xfrm>
            <a:off x="378541" y="3809672"/>
            <a:ext cx="1012722" cy="2467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59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134" name="note_extra" descr="Editable text; source id note_extra"/>
          <p:cNvSpPr txBox="1"/>
          <p:nvPr/>
        </p:nvSpPr>
        <p:spPr>
          <a:xfrm>
            <a:off x="237612" y="4121026"/>
            <a:ext cx="1235587" cy="22220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02"/>
              </a:lnSpc>
              <a:spcBef>
                <a:spcPts val="0"/>
              </a:spcBef>
              <a:spcAft>
                <a:spcPts val="0"/>
              </a:spcAft>
              <a:defRPr sz="1393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93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* Extra learnable</a:t>
            </a:r>
          </a:p>
        </p:txBody>
      </p:sp>
      <p:sp>
        <p:nvSpPr>
          <p:cNvPr id="135" name="note_class" descr="Editable text; source id note_class"/>
          <p:cNvSpPr txBox="1"/>
          <p:nvPr/>
        </p:nvSpPr>
        <p:spPr>
          <a:xfrm>
            <a:off x="239251" y="4339303"/>
            <a:ext cx="635819" cy="1920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35" b="0" i="0" lang="zh-CN" dirty="0">
                <a:solidFill>
                  <a:srgbClr val="00000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35" b="0" i="0" lang="zh-CN" dirty="0">
                <a:solidFill>
                  <a:srgbClr val="000000"/>
                </a:solidFill>
                <a:latin typeface="Liberation Mono"/>
                <a:ea typeface="Liberation Mono"/>
                <a:cs typeface="Liberation Mono"/>
              </a:rPr>
              <a:t>[class]</a:t>
            </a:r>
          </a:p>
        </p:txBody>
      </p:sp>
      <p:sp>
        <p:nvSpPr>
          <p:cNvPr id="136" name="note_embedding" descr="Editable text; source id note_embedding"/>
          <p:cNvSpPr txBox="1"/>
          <p:nvPr/>
        </p:nvSpPr>
        <p:spPr>
          <a:xfrm>
            <a:off x="886541" y="4304562"/>
            <a:ext cx="806245" cy="22220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02"/>
              </a:lnSpc>
              <a:spcBef>
                <a:spcPts val="0"/>
              </a:spcBef>
              <a:spcAft>
                <a:spcPts val="0"/>
              </a:spcAft>
              <a:defRPr sz="1393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93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137" name="repeat" descr="Editable text; source id repeat"/>
          <p:cNvSpPr txBox="1"/>
          <p:nvPr/>
        </p:nvSpPr>
        <p:spPr>
          <a:xfrm>
            <a:off x="9239044" y="902601"/>
            <a:ext cx="350526" cy="28447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36"/>
              </a:lnSpc>
              <a:spcBef>
                <a:spcPts val="0"/>
              </a:spcBef>
              <a:spcAft>
                <a:spcPts val="0"/>
              </a:spcAft>
              <a:defRPr sz="185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 ×</a:t>
            </a:r>
          </a:p>
        </p:txBody>
      </p:sp>
      <p:sp>
        <p:nvSpPr>
          <p:cNvPr id="138" name="encoder_mlp_label" descr="Editable text; source id encoder_mlp_label"/>
          <p:cNvSpPr txBox="1"/>
          <p:nvPr/>
        </p:nvSpPr>
        <p:spPr>
          <a:xfrm>
            <a:off x="9963354" y="1630188"/>
            <a:ext cx="544051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139" name="encoder_norm_top_label" descr="Editable text; source id encoder_norm_top_label"/>
          <p:cNvSpPr txBox="1"/>
          <p:nvPr/>
        </p:nvSpPr>
        <p:spPr>
          <a:xfrm>
            <a:off x="9925664" y="2403659"/>
            <a:ext cx="622709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</a:t>
            </a:r>
          </a:p>
        </p:txBody>
      </p:sp>
      <p:sp>
        <p:nvSpPr>
          <p:cNvPr id="140" name="encoder_attention_line_1" descr="Editable text; source id encoder_attention_line_1"/>
          <p:cNvSpPr txBox="1"/>
          <p:nvPr/>
        </p:nvSpPr>
        <p:spPr>
          <a:xfrm>
            <a:off x="9620864" y="3606472"/>
            <a:ext cx="1222477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Multi-Head</a:t>
            </a:r>
          </a:p>
        </p:txBody>
      </p:sp>
      <p:sp>
        <p:nvSpPr>
          <p:cNvPr id="141" name="encoder_attention_line_2" descr="Editable text; source id encoder_attention_line_2"/>
          <p:cNvSpPr txBox="1"/>
          <p:nvPr/>
        </p:nvSpPr>
        <p:spPr>
          <a:xfrm>
            <a:off x="9733935" y="3868665"/>
            <a:ext cx="996335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Attention</a:t>
            </a:r>
          </a:p>
        </p:txBody>
      </p:sp>
      <p:sp>
        <p:nvSpPr>
          <p:cNvPr id="142" name="encoder_norm_bottom_label" descr="Editable text; source id encoder_norm_bottom_label"/>
          <p:cNvSpPr txBox="1"/>
          <p:nvPr/>
        </p:nvSpPr>
        <p:spPr>
          <a:xfrm>
            <a:off x="9925664" y="4684743"/>
            <a:ext cx="622709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</a:t>
            </a:r>
          </a:p>
        </p:txBody>
      </p:sp>
      <p:sp>
        <p:nvSpPr>
          <p:cNvPr id="143" name="encoder_embedded_line_1" descr="Editable text; source id encoder_embedded_line_1"/>
          <p:cNvSpPr txBox="1"/>
          <p:nvPr/>
        </p:nvSpPr>
        <p:spPr>
          <a:xfrm>
            <a:off x="9655277" y="5559814"/>
            <a:ext cx="1124154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Embedded</a:t>
            </a:r>
          </a:p>
        </p:txBody>
      </p:sp>
      <p:sp>
        <p:nvSpPr>
          <p:cNvPr id="144" name="encoder_embedded_line_2" descr="Editable text; source id encoder_embedded_line_2"/>
          <p:cNvSpPr txBox="1"/>
          <p:nvPr/>
        </p:nvSpPr>
        <p:spPr>
          <a:xfrm>
            <a:off x="9819148" y="5822007"/>
            <a:ext cx="806245" cy="3108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44"/>
              </a:lnSpc>
              <a:spcBef>
                <a:spcPts val="0"/>
              </a:spcBef>
              <a:spcAft>
                <a:spcPts val="0"/>
              </a:spcAft>
              <a:def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Patches</a:t>
            </a:r>
          </a:p>
        </p:txBody>
      </p:sp>
      <p:cxnSp>
        <p:nvCxnSpPr>
          <p:cNvPr id="145" name="plus_h_top" descr="Editable line; source id plus_h_top"/>
          <p:cNvCxnSpPr/>
          <p:nvPr/>
        </p:nvCxnSpPr>
        <p:spPr>
          <a:xfrm>
            <a:off x="10140335" y="1186425"/>
            <a:ext cx="170426" cy="0"/>
          </a:xfrm>
          <a:prstGeom prst="line">
            <a:avLst/>
          </a:prstGeom>
          <a:ln w="2294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plus_v_top" descr="Editable line; source id plus_v_top"/>
          <p:cNvCxnSpPr/>
          <p:nvPr/>
        </p:nvCxnSpPr>
        <p:spPr>
          <a:xfrm>
            <a:off x="10225548" y="1101212"/>
            <a:ext cx="0" cy="170426"/>
          </a:xfrm>
          <a:prstGeom prst="line">
            <a:avLst/>
          </a:prstGeom>
          <a:ln w="2294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plus_h_bottom" descr="Editable line; source id plus_h_bottom"/>
          <p:cNvCxnSpPr/>
          <p:nvPr/>
        </p:nvCxnSpPr>
        <p:spPr>
          <a:xfrm>
            <a:off x="10140335" y="3198761"/>
            <a:ext cx="170426" cy="0"/>
          </a:xfrm>
          <a:prstGeom prst="line">
            <a:avLst/>
          </a:prstGeom>
          <a:ln w="2294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plus_v_bottom" descr="Editable line; source id plus_v_bottom"/>
          <p:cNvCxnSpPr/>
          <p:nvPr/>
        </p:nvCxnSpPr>
        <p:spPr>
          <a:xfrm>
            <a:off x="10225548" y="3113548"/>
            <a:ext cx="0" cy="170426"/>
          </a:xfrm>
          <a:prstGeom prst="line">
            <a:avLst/>
          </a:prstGeom>
          <a:ln w="2294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 Figure 1 editable reconstruction from author bitmap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