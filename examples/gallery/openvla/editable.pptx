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55766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Reconstruction of Figure 2, OpenVLA, PMLR270 (2025). Full architecture figure; two photo-only crops; all diagram labels editable. See ATTRIBUTION.md.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uter" descr="Editable shape; source id outer"/>
          <p:cNvSpPr/>
          <p:nvPr/>
        </p:nvSpPr>
        <p:spPr>
          <a:xfrm>
            <a:off x="2035184" y="85993"/>
            <a:ext cx="8417830" cy="4395234"/>
          </a:xfrm>
          <a:prstGeom prst="roundRect">
            <a:avLst>
              <a:gd name="adj" fmla="val 3478"/>
            </a:avLst>
          </a:prstGeom>
          <a:noFill/>
          <a:ln w="28664">
            <a:solidFill>
              <a:srgbClr val="D7D7D7"/>
            </a:solidFill>
            <a:custDash>
              <a:ds d="200000" sp="2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penvla" descr="Editable text; source id openvla"/>
          <p:cNvSpPr txBox="1"/>
          <p:nvPr/>
        </p:nvSpPr>
        <p:spPr>
          <a:xfrm>
            <a:off x="2178507" y="171987"/>
            <a:ext cx="2149843" cy="5255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374"/>
              </a:lnSpc>
              <a:spcBef>
                <a:spcPts val="0"/>
              </a:spcBef>
              <a:spcAft>
                <a:spcPts val="0"/>
              </a:spcAft>
              <a:defRPr sz="2934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934" b="1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OpenVLA</a:t>
            </a:r>
          </a:p>
        </p:txBody>
      </p:sp>
      <p:pic>
        <p:nvPicPr>
          <p:cNvPr id="4" name="input_photo" descr="Exact source-pixel crop of input camera photograph, no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1" y="783498"/>
            <a:ext cx="1461893" cy="1452338"/>
          </a:xfrm>
          <a:prstGeom prst="rect">
            <a:avLst/>
          </a:prstGeom>
          <a:effectLst/>
        </p:spPr>
      </p:pic>
      <p:sp>
        <p:nvSpPr>
          <p:cNvPr id="5" name="photo_border" descr="Editable shape; source id photo_border"/>
          <p:cNvSpPr/>
          <p:nvPr/>
        </p:nvSpPr>
        <p:spPr>
          <a:xfrm>
            <a:off x="238871" y="783498"/>
            <a:ext cx="1461893" cy="1452338"/>
          </a:xfrm>
          <a:prstGeom prst="rect">
            <a:avLst/>
          </a:prstGeom>
          <a:noFill/>
          <a:ln w="19109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nput_label" descr="Editable text; source id input_label"/>
          <p:cNvSpPr txBox="1"/>
          <p:nvPr/>
        </p:nvSpPr>
        <p:spPr>
          <a:xfrm>
            <a:off x="334420" y="2293166"/>
            <a:ext cx="1289905" cy="28664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def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Input Image</a:t>
            </a:r>
          </a:p>
        </p:txBody>
      </p:sp>
      <p:sp>
        <p:nvSpPr>
          <p:cNvPr id="7" name="instruction" descr="Editable shape; source id instruction"/>
          <p:cNvSpPr/>
          <p:nvPr/>
        </p:nvSpPr>
        <p:spPr>
          <a:xfrm>
            <a:off x="152877" y="3095774"/>
            <a:ext cx="1633880" cy="80260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54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nstruction_1" descr="Editable text; source id instruction_1"/>
          <p:cNvSpPr txBox="1"/>
          <p:nvPr/>
        </p:nvSpPr>
        <p:spPr>
          <a:xfrm>
            <a:off x="238871" y="3191322"/>
            <a:ext cx="1519222" cy="3630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249"/>
              </a:lnSpc>
              <a:spcBef>
                <a:spcPts val="0"/>
              </a:spcBef>
              <a:spcAft>
                <a:spcPts val="0"/>
              </a:spcAft>
              <a:defRPr sz="1956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956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“Put eggplant</a:t>
            </a:r>
          </a:p>
        </p:txBody>
      </p:sp>
      <p:sp>
        <p:nvSpPr>
          <p:cNvPr id="9" name="instruction_2" descr="Editable text; source id instruction_2"/>
          <p:cNvSpPr txBox="1"/>
          <p:nvPr/>
        </p:nvSpPr>
        <p:spPr>
          <a:xfrm>
            <a:off x="515962" y="3516187"/>
            <a:ext cx="1041479" cy="3439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249"/>
              </a:lnSpc>
              <a:spcBef>
                <a:spcPts val="0"/>
              </a:spcBef>
              <a:spcAft>
                <a:spcPts val="0"/>
              </a:spcAft>
              <a:defRPr sz="1956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956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in bowl”</a:t>
            </a:r>
          </a:p>
        </p:txBody>
      </p:sp>
      <p:sp>
        <p:nvSpPr>
          <p:cNvPr id="10" name="instruction_label" descr="Editable text; source id instruction_label"/>
          <p:cNvSpPr txBox="1"/>
          <p:nvPr/>
        </p:nvSpPr>
        <p:spPr>
          <a:xfrm>
            <a:off x="47774" y="3974821"/>
            <a:ext cx="1939636" cy="2962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def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Language Instruction</a:t>
            </a:r>
          </a:p>
        </p:txBody>
      </p:sp>
      <p:sp>
        <p:nvSpPr>
          <p:cNvPr id="11" name="llama" descr="Editable shape; source id llama"/>
          <p:cNvSpPr/>
          <p:nvPr/>
        </p:nvSpPr>
        <p:spPr>
          <a:xfrm>
            <a:off x="2876012" y="1356789"/>
            <a:ext cx="7299912" cy="802608"/>
          </a:xfrm>
          <a:prstGeom prst="roundRect">
            <a:avLst>
              <a:gd name="adj" fmla="val 15476"/>
            </a:avLst>
          </a:prstGeom>
          <a:solidFill>
            <a:srgbClr val="F4F4F4"/>
          </a:solidFill>
          <a:ln w="19109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lama_label" descr="Editable text; source id llama_label"/>
          <p:cNvSpPr txBox="1"/>
          <p:nvPr/>
        </p:nvSpPr>
        <p:spPr>
          <a:xfrm>
            <a:off x="5541818" y="1528777"/>
            <a:ext cx="2188062" cy="5350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504"/>
              </a:lnSpc>
              <a:spcBef>
                <a:spcPts val="0"/>
              </a:spcBef>
              <a:spcAft>
                <a:spcPts val="0"/>
              </a:spcAft>
              <a:defRPr sz="3047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3047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Llama 2 7B</a:t>
            </a:r>
          </a:p>
        </p:txBody>
      </p:sp>
      <p:sp>
        <p:nvSpPr>
          <p:cNvPr id="13" name="detok" descr="Editable shape; source id detok"/>
          <p:cNvSpPr/>
          <p:nvPr/>
        </p:nvSpPr>
        <p:spPr>
          <a:xfrm>
            <a:off x="7280802" y="219761"/>
            <a:ext cx="2885567" cy="477742"/>
          </a:xfrm>
          <a:prstGeom prst="roundRect">
            <a:avLst>
              <a:gd name="adj" fmla="val 26000"/>
            </a:avLst>
          </a:prstGeom>
          <a:solidFill>
            <a:srgbClr val="DDCCF4"/>
          </a:solidFill>
          <a:ln w="19109">
            <a:solidFill>
              <a:srgbClr val="806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tok_label" descr="Editable text; source id detok_label"/>
          <p:cNvSpPr txBox="1"/>
          <p:nvPr/>
        </p:nvSpPr>
        <p:spPr>
          <a:xfrm>
            <a:off x="7452789" y="286645"/>
            <a:ext cx="2675360" cy="4013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1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21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Action De-Tokenizer</a:t>
            </a:r>
          </a:p>
        </p:txBody>
      </p:sp>
      <p:sp>
        <p:nvSpPr>
          <p:cNvPr id="15" name="projector" descr="Editable shape; source id projector"/>
          <p:cNvSpPr/>
          <p:nvPr/>
        </p:nvSpPr>
        <p:spPr>
          <a:xfrm>
            <a:off x="2895122" y="2933341"/>
            <a:ext cx="2618031" cy="34397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2CC"/>
              </a:gs>
              <a:gs pos="100000">
                <a:srgbClr val="ABC7F0"/>
              </a:gs>
            </a:gsLst>
            <a:lin ang="0" scaled="1"/>
          </a:gradFill>
          <a:ln w="19109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jector_label" descr="Editable text; source id projector_label"/>
          <p:cNvSpPr txBox="1"/>
          <p:nvPr/>
        </p:nvSpPr>
        <p:spPr>
          <a:xfrm>
            <a:off x="3573517" y="2971561"/>
            <a:ext cx="1633880" cy="31531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def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MLP Projector</a:t>
            </a:r>
          </a:p>
        </p:txBody>
      </p:sp>
      <p:sp>
        <p:nvSpPr>
          <p:cNvPr id="17" name="visual_group" descr="Editable shape; source id visual_group"/>
          <p:cNvSpPr/>
          <p:nvPr/>
        </p:nvSpPr>
        <p:spPr>
          <a:xfrm>
            <a:off x="2847347" y="3315535"/>
            <a:ext cx="2732689" cy="544626"/>
          </a:xfrm>
          <a:prstGeom prst="roundRect">
            <a:avLst>
              <a:gd name="adj" fmla="val 14035"/>
            </a:avLst>
          </a:prstGeom>
          <a:noFill/>
          <a:ln w="19109">
            <a:solidFill>
              <a:srgbClr val="D7D7D7"/>
            </a:solidFill>
            <a:custDash>
              <a:ds d="200000" sp="2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nov2" descr="Editable shape; source id dinov2"/>
          <p:cNvSpPr/>
          <p:nvPr/>
        </p:nvSpPr>
        <p:spPr>
          <a:xfrm>
            <a:off x="2895122" y="3344200"/>
            <a:ext cx="1289905" cy="468188"/>
          </a:xfrm>
          <a:prstGeom prst="roundRect">
            <a:avLst>
              <a:gd name="adj" fmla="val 24489"/>
            </a:avLst>
          </a:prstGeom>
          <a:solidFill>
            <a:srgbClr val="FFF2CC"/>
          </a:solidFill>
          <a:ln w="19109">
            <a:solidFill>
              <a:srgbClr val="F1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nov2_label" descr="Editable text; source id dinov2_label"/>
          <p:cNvSpPr txBox="1"/>
          <p:nvPr/>
        </p:nvSpPr>
        <p:spPr>
          <a:xfrm>
            <a:off x="3076664" y="3411084"/>
            <a:ext cx="1098808" cy="3726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09"/>
              </a:lnSpc>
              <a:spcBef>
                <a:spcPts val="0"/>
              </a:spcBef>
              <a:spcAft>
                <a:spcPts val="0"/>
              </a:spcAft>
              <a:defRPr sz="2181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181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DinoV2</a:t>
            </a:r>
          </a:p>
        </p:txBody>
      </p:sp>
      <p:sp>
        <p:nvSpPr>
          <p:cNvPr id="20" name="siglip" descr="Editable shape; source id siglip"/>
          <p:cNvSpPr/>
          <p:nvPr/>
        </p:nvSpPr>
        <p:spPr>
          <a:xfrm>
            <a:off x="4242357" y="3344200"/>
            <a:ext cx="1299460" cy="477742"/>
          </a:xfrm>
          <a:prstGeom prst="roundRect">
            <a:avLst>
              <a:gd name="adj" fmla="val 24000"/>
            </a:avLst>
          </a:prstGeom>
          <a:solidFill>
            <a:srgbClr val="A9C5EF"/>
          </a:solidFill>
          <a:ln w="19109">
            <a:solidFill>
              <a:srgbClr val="397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glip_label" descr="Editable text; source id siglip_label"/>
          <p:cNvSpPr txBox="1"/>
          <p:nvPr/>
        </p:nvSpPr>
        <p:spPr>
          <a:xfrm>
            <a:off x="4471673" y="3411084"/>
            <a:ext cx="1003260" cy="3726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1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21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SigLIP</a:t>
            </a:r>
          </a:p>
        </p:txBody>
      </p:sp>
      <p:sp>
        <p:nvSpPr>
          <p:cNvPr id="22" name="tokenizer" descr="Editable shape; source id tokenizer"/>
          <p:cNvSpPr/>
          <p:nvPr/>
        </p:nvSpPr>
        <p:spPr>
          <a:xfrm>
            <a:off x="5780689" y="2942896"/>
            <a:ext cx="2684915" cy="477742"/>
          </a:xfrm>
          <a:prstGeom prst="roundRect">
            <a:avLst>
              <a:gd name="adj" fmla="val 24000"/>
            </a:avLst>
          </a:prstGeom>
          <a:solidFill>
            <a:srgbClr val="D9EAD3"/>
          </a:solidFill>
          <a:ln w="19109">
            <a:solidFill>
              <a:srgbClr val="6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kenizer_label" descr="Editable text; source id tokenizer_label"/>
          <p:cNvSpPr txBox="1"/>
          <p:nvPr/>
        </p:nvSpPr>
        <p:spPr>
          <a:xfrm>
            <a:off x="6105554" y="3009780"/>
            <a:ext cx="2340940" cy="41085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1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21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Llama Tokenizer</a:t>
            </a:r>
          </a:p>
        </p:txBody>
      </p:sp>
      <p:sp>
        <p:nvSpPr>
          <p:cNvPr id="24" name="vision_token_0" descr="Editable shape; source id vision_token_0"/>
          <p:cNvSpPr/>
          <p:nvPr/>
        </p:nvSpPr>
        <p:spPr>
          <a:xfrm>
            <a:off x="2895122" y="2312275"/>
            <a:ext cx="391749" cy="200652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FF2CC"/>
              </a:gs>
              <a:gs pos="100000">
                <a:srgbClr val="ABC7F0"/>
              </a:gs>
            </a:gsLst>
            <a:lin ang="0" scaled="1"/>
          </a:gradFill>
          <a:ln w="9554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sion_arrow_0" descr="Editable line; source id vision_arrow_0"/>
          <p:cNvSpPr/>
          <p:nvPr/>
        </p:nvSpPr>
        <p:spPr>
          <a:xfrm>
            <a:off x="3048000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sion_token_1" descr="Editable shape; source id vision_token_1"/>
          <p:cNvSpPr/>
          <p:nvPr/>
        </p:nvSpPr>
        <p:spPr>
          <a:xfrm>
            <a:off x="3449303" y="2312275"/>
            <a:ext cx="391749" cy="200652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FF2CC"/>
              </a:gs>
              <a:gs pos="100000">
                <a:srgbClr val="ABC7F0"/>
              </a:gs>
            </a:gsLst>
            <a:lin ang="0" scaled="1"/>
          </a:gradFill>
          <a:ln w="9554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sion_arrow_1" descr="Editable line; source id vision_arrow_1"/>
          <p:cNvSpPr/>
          <p:nvPr/>
        </p:nvSpPr>
        <p:spPr>
          <a:xfrm>
            <a:off x="3602182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sion_token_2" descr="Editable shape; source id vision_token_2"/>
          <p:cNvSpPr/>
          <p:nvPr/>
        </p:nvSpPr>
        <p:spPr>
          <a:xfrm>
            <a:off x="4003485" y="2312275"/>
            <a:ext cx="391749" cy="200652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FF2CC"/>
              </a:gs>
              <a:gs pos="100000">
                <a:srgbClr val="ABC7F0"/>
              </a:gs>
            </a:gsLst>
            <a:lin ang="0" scaled="1"/>
          </a:gradFill>
          <a:ln w="9554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sion_arrow_2" descr="Editable line; source id vision_arrow_2"/>
          <p:cNvSpPr/>
          <p:nvPr/>
        </p:nvSpPr>
        <p:spPr>
          <a:xfrm>
            <a:off x="4156364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sion_token_3" descr="Editable shape; source id vision_token_3"/>
          <p:cNvSpPr/>
          <p:nvPr/>
        </p:nvSpPr>
        <p:spPr>
          <a:xfrm>
            <a:off x="4557667" y="2312275"/>
            <a:ext cx="391749" cy="200652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FF2CC"/>
              </a:gs>
              <a:gs pos="100000">
                <a:srgbClr val="ABC7F0"/>
              </a:gs>
            </a:gsLst>
            <a:lin ang="0" scaled="1"/>
          </a:gradFill>
          <a:ln w="9554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sion_arrow_3" descr="Editable line; source id vision_arrow_3"/>
          <p:cNvSpPr/>
          <p:nvPr/>
        </p:nvSpPr>
        <p:spPr>
          <a:xfrm>
            <a:off x="4710545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sion_token_4" descr="Editable shape; source id vision_token_4"/>
          <p:cNvSpPr/>
          <p:nvPr/>
        </p:nvSpPr>
        <p:spPr>
          <a:xfrm>
            <a:off x="5121404" y="2312275"/>
            <a:ext cx="391749" cy="200652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FF2CC"/>
              </a:gs>
              <a:gs pos="100000">
                <a:srgbClr val="ABC7F0"/>
              </a:gs>
            </a:gsLst>
            <a:lin ang="0" scaled="1"/>
          </a:gradFill>
          <a:ln w="9554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sion_arrow_4" descr="Editable line; source id vision_arrow_4"/>
          <p:cNvSpPr/>
          <p:nvPr/>
        </p:nvSpPr>
        <p:spPr>
          <a:xfrm>
            <a:off x="5274282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anguage_token_0" descr="Editable shape; source id language_token_0"/>
          <p:cNvSpPr/>
          <p:nvPr/>
        </p:nvSpPr>
        <p:spPr>
          <a:xfrm>
            <a:off x="5818908" y="231227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9EAD3"/>
          </a:solidFill>
          <a:ln w="9554">
            <a:solidFill>
              <a:srgbClr val="6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anguage_arrow_0" descr="Editable line; source id language_arrow_0"/>
          <p:cNvSpPr/>
          <p:nvPr/>
        </p:nvSpPr>
        <p:spPr>
          <a:xfrm>
            <a:off x="5971787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anguage_token_1" descr="Editable shape; source id language_token_1"/>
          <p:cNvSpPr/>
          <p:nvPr/>
        </p:nvSpPr>
        <p:spPr>
          <a:xfrm>
            <a:off x="6373090" y="231227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9EAD3"/>
          </a:solidFill>
          <a:ln w="9554">
            <a:solidFill>
              <a:srgbClr val="6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anguage_arrow_1" descr="Editable line; source id language_arrow_1"/>
          <p:cNvSpPr/>
          <p:nvPr/>
        </p:nvSpPr>
        <p:spPr>
          <a:xfrm>
            <a:off x="6525968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nguage_token_2" descr="Editable shape; source id language_token_2"/>
          <p:cNvSpPr/>
          <p:nvPr/>
        </p:nvSpPr>
        <p:spPr>
          <a:xfrm>
            <a:off x="6927272" y="231227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9EAD3"/>
          </a:solidFill>
          <a:ln w="9554">
            <a:solidFill>
              <a:srgbClr val="6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anguage_arrow_2" descr="Editable line; source id language_arrow_2"/>
          <p:cNvSpPr/>
          <p:nvPr/>
        </p:nvSpPr>
        <p:spPr>
          <a:xfrm>
            <a:off x="7080150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anguage_token_3" descr="Editable shape; source id language_token_3"/>
          <p:cNvSpPr/>
          <p:nvPr/>
        </p:nvSpPr>
        <p:spPr>
          <a:xfrm>
            <a:off x="7481454" y="231227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9EAD3"/>
          </a:solidFill>
          <a:ln w="9554">
            <a:solidFill>
              <a:srgbClr val="6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anguage_arrow_3" descr="Editable line; source id language_arrow_3"/>
          <p:cNvSpPr/>
          <p:nvPr/>
        </p:nvSpPr>
        <p:spPr>
          <a:xfrm>
            <a:off x="7634332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anguage_token_4" descr="Editable shape; source id language_token_4"/>
          <p:cNvSpPr/>
          <p:nvPr/>
        </p:nvSpPr>
        <p:spPr>
          <a:xfrm>
            <a:off x="8045191" y="231227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9EAD3"/>
          </a:solidFill>
          <a:ln w="9554">
            <a:solidFill>
              <a:srgbClr val="6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anguage_arrow_4" descr="Editable line; source id language_arrow_4"/>
          <p:cNvSpPr/>
          <p:nvPr/>
        </p:nvSpPr>
        <p:spPr>
          <a:xfrm>
            <a:off x="8198069" y="2618031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ction_token_0" descr="Editable shape; source id action_token_0"/>
          <p:cNvSpPr/>
          <p:nvPr/>
        </p:nvSpPr>
        <p:spPr>
          <a:xfrm>
            <a:off x="8580263" y="101281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DCCF4"/>
          </a:solidFill>
          <a:ln w="9554">
            <a:solidFill>
              <a:srgbClr val="806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ction_arrow_0" descr="Editable line; source id action_arrow_0"/>
          <p:cNvSpPr/>
          <p:nvPr/>
        </p:nvSpPr>
        <p:spPr>
          <a:xfrm>
            <a:off x="8733141" y="754834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ction_token_1" descr="Editable shape; source id action_token_1"/>
          <p:cNvSpPr/>
          <p:nvPr/>
        </p:nvSpPr>
        <p:spPr>
          <a:xfrm>
            <a:off x="9134444" y="101281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DCCF4"/>
          </a:solidFill>
          <a:ln w="9554">
            <a:solidFill>
              <a:srgbClr val="806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ction_arrow_1" descr="Editable line; source id action_arrow_1"/>
          <p:cNvSpPr/>
          <p:nvPr/>
        </p:nvSpPr>
        <p:spPr>
          <a:xfrm>
            <a:off x="9287323" y="754834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ction_token_2" descr="Editable shape; source id action_token_2"/>
          <p:cNvSpPr/>
          <p:nvPr/>
        </p:nvSpPr>
        <p:spPr>
          <a:xfrm>
            <a:off x="9688626" y="1012815"/>
            <a:ext cx="391749" cy="200652"/>
          </a:xfrm>
          <a:prstGeom prst="roundRect">
            <a:avLst>
              <a:gd name="adj" fmla="val 38095"/>
            </a:avLst>
          </a:prstGeom>
          <a:solidFill>
            <a:srgbClr val="DDCCF4"/>
          </a:solidFill>
          <a:ln w="9554">
            <a:solidFill>
              <a:srgbClr val="806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ction_arrow_2" descr="Editable line; source id action_arrow_2"/>
          <p:cNvSpPr/>
          <p:nvPr/>
        </p:nvSpPr>
        <p:spPr>
          <a:xfrm>
            <a:off x="9841504" y="754834"/>
            <a:ext cx="85994" cy="200652"/>
          </a:xfrm>
          <a:custGeom>
            <a:avLst/>
            <a:gdLst/>
            <a:ahLst/>
            <a:cxnLst/>
            <a:rect l="l" t="t" r="r" b="b"/>
            <a:pathLst>
              <a:path w="9000" h="21000">
                <a:moveTo>
                  <a:pt x="3500" y="21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1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input_path_a" descr="Editable line; source id input_path_a"/>
          <p:cNvCxnSpPr/>
          <p:nvPr/>
        </p:nvCxnSpPr>
        <p:spPr>
          <a:xfrm>
            <a:off x="1738984" y="1509667"/>
            <a:ext cx="773943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input_path_b" descr="Editable line; source id input_path_b"/>
          <p:cNvCxnSpPr/>
          <p:nvPr/>
        </p:nvCxnSpPr>
        <p:spPr>
          <a:xfrm>
            <a:off x="2512927" y="1509667"/>
            <a:ext cx="0" cy="2579812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input_path_c" descr="Editable line; source id input_path_c"/>
          <p:cNvCxnSpPr/>
          <p:nvPr/>
        </p:nvCxnSpPr>
        <p:spPr>
          <a:xfrm>
            <a:off x="2512927" y="4089479"/>
            <a:ext cx="2369605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vision_in_dino" descr="Editable line; source id vision_in_dino"/>
          <p:cNvSpPr/>
          <p:nvPr/>
        </p:nvSpPr>
        <p:spPr>
          <a:xfrm>
            <a:off x="3492301" y="3869718"/>
            <a:ext cx="85994" cy="219762"/>
          </a:xfrm>
          <a:custGeom>
            <a:avLst/>
            <a:gdLst/>
            <a:ahLst/>
            <a:cxnLst/>
            <a:rect l="l" t="t" r="r" b="b"/>
            <a:pathLst>
              <a:path w="9000" h="23000">
                <a:moveTo>
                  <a:pt x="3500" y="23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3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sion_in_siglip" descr="Editable line; source id vision_in_siglip"/>
          <p:cNvSpPr/>
          <p:nvPr/>
        </p:nvSpPr>
        <p:spPr>
          <a:xfrm>
            <a:off x="4839536" y="3869718"/>
            <a:ext cx="85994" cy="219762"/>
          </a:xfrm>
          <a:custGeom>
            <a:avLst/>
            <a:gdLst/>
            <a:ahLst/>
            <a:cxnLst/>
            <a:rect l="l" t="t" r="r" b="b"/>
            <a:pathLst>
              <a:path w="9000" h="23000">
                <a:moveTo>
                  <a:pt x="3500" y="23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23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junction" descr="Editable shape; source id junction"/>
          <p:cNvSpPr/>
          <p:nvPr/>
        </p:nvSpPr>
        <p:spPr>
          <a:xfrm>
            <a:off x="3506633" y="4051260"/>
            <a:ext cx="66884" cy="66884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instruction_path_a" descr="Editable line; source id instruction_path_a"/>
          <p:cNvCxnSpPr/>
          <p:nvPr/>
        </p:nvCxnSpPr>
        <p:spPr>
          <a:xfrm>
            <a:off x="1863197" y="3497078"/>
            <a:ext cx="449078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instruction_path_b" descr="Editable line; source id instruction_path_b"/>
          <p:cNvCxnSpPr/>
          <p:nvPr/>
        </p:nvCxnSpPr>
        <p:spPr>
          <a:xfrm>
            <a:off x="2312275" y="3497078"/>
            <a:ext cx="0" cy="773943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nstruction_path_c" descr="Editable line; source id instruction_path_c"/>
          <p:cNvSpPr/>
          <p:nvPr/>
        </p:nvSpPr>
        <p:spPr>
          <a:xfrm>
            <a:off x="2312276" y="4228025"/>
            <a:ext cx="3009780" cy="85994"/>
          </a:xfrm>
          <a:custGeom>
            <a:avLst/>
            <a:gdLst/>
            <a:ahLst/>
            <a:cxnLst/>
            <a:rect l="l" t="t" r="r" b="b"/>
            <a:pathLst>
              <a:path w="315000" h="9000">
                <a:moveTo>
                  <a:pt x="0" y="3500"/>
                </a:moveTo>
                <a:lnTo>
                  <a:pt x="306000" y="3500"/>
                </a:lnTo>
                <a:lnTo>
                  <a:pt x="306000" y="0"/>
                </a:lnTo>
                <a:lnTo>
                  <a:pt x="315000" y="4500"/>
                </a:lnTo>
                <a:lnTo>
                  <a:pt x="306000" y="9000"/>
                </a:lnTo>
                <a:lnTo>
                  <a:pt x="306000" y="5500"/>
                </a:lnTo>
                <a:lnTo>
                  <a:pt x="0" y="55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rompt" descr="Editable text; source id prompt"/>
          <p:cNvSpPr txBox="1"/>
          <p:nvPr/>
        </p:nvSpPr>
        <p:spPr>
          <a:xfrm>
            <a:off x="5379385" y="4146808"/>
            <a:ext cx="4548112" cy="3344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defRPr sz="1576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6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“What should the robot do to {task}? A:”</a:t>
            </a:r>
          </a:p>
        </p:txBody>
      </p:sp>
      <p:sp>
        <p:nvSpPr>
          <p:cNvPr id="60" name="tokenizer_input" descr="Editable line; source id tokenizer_input"/>
          <p:cNvSpPr/>
          <p:nvPr/>
        </p:nvSpPr>
        <p:spPr>
          <a:xfrm>
            <a:off x="7080150" y="3544853"/>
            <a:ext cx="85994" cy="535072"/>
          </a:xfrm>
          <a:custGeom>
            <a:avLst/>
            <a:gdLst/>
            <a:ahLst/>
            <a:cxnLst/>
            <a:rect l="l" t="t" r="r" b="b"/>
            <a:pathLst>
              <a:path w="9000" h="56000">
                <a:moveTo>
                  <a:pt x="3500" y="56000"/>
                </a:moveTo>
                <a:lnTo>
                  <a:pt x="3500" y="9000"/>
                </a:lnTo>
                <a:lnTo>
                  <a:pt x="0" y="9000"/>
                </a:lnTo>
                <a:lnTo>
                  <a:pt x="4500" y="0"/>
                </a:lnTo>
                <a:lnTo>
                  <a:pt x="9000" y="9000"/>
                </a:lnTo>
                <a:lnTo>
                  <a:pt x="5500" y="9000"/>
                </a:lnTo>
                <a:lnTo>
                  <a:pt x="5500" y="560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output_path_a" descr="Editable line; source id output_path_a"/>
          <p:cNvCxnSpPr/>
          <p:nvPr/>
        </p:nvCxnSpPr>
        <p:spPr>
          <a:xfrm>
            <a:off x="10204589" y="449078"/>
            <a:ext cx="1184802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utput_path_b" descr="Editable line; source id output_path_b"/>
          <p:cNvSpPr/>
          <p:nvPr/>
        </p:nvSpPr>
        <p:spPr>
          <a:xfrm>
            <a:off x="11346395" y="449078"/>
            <a:ext cx="85994" cy="257981"/>
          </a:xfrm>
          <a:custGeom>
            <a:avLst/>
            <a:gdLst/>
            <a:ahLst/>
            <a:cxnLst/>
            <a:rect l="l" t="t" r="r" b="b"/>
            <a:pathLst>
              <a:path w="9000" h="27000">
                <a:moveTo>
                  <a:pt x="5500" y="0"/>
                </a:moveTo>
                <a:lnTo>
                  <a:pt x="5500" y="18000"/>
                </a:lnTo>
                <a:lnTo>
                  <a:pt x="9000" y="18000"/>
                </a:lnTo>
                <a:lnTo>
                  <a:pt x="4500" y="27000"/>
                </a:lnTo>
                <a:lnTo>
                  <a:pt x="0" y="18000"/>
                </a:lnTo>
                <a:lnTo>
                  <a:pt x="3500" y="18000"/>
                </a:lnTo>
                <a:lnTo>
                  <a:pt x="3500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bracket_left" descr="Editable line; source id bracket_left"/>
          <p:cNvCxnSpPr/>
          <p:nvPr/>
        </p:nvCxnSpPr>
        <p:spPr>
          <a:xfrm>
            <a:off x="10921203" y="773943"/>
            <a:ext cx="0" cy="1156138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bracket_left_top" descr="Editable line; source id bracket_left_top"/>
          <p:cNvCxnSpPr/>
          <p:nvPr/>
        </p:nvCxnSpPr>
        <p:spPr>
          <a:xfrm>
            <a:off x="10921203" y="773943"/>
            <a:ext cx="105103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bracket_left_bottom" descr="Editable line; source id bracket_left_bottom"/>
          <p:cNvCxnSpPr/>
          <p:nvPr/>
        </p:nvCxnSpPr>
        <p:spPr>
          <a:xfrm>
            <a:off x="10921203" y="1930081"/>
            <a:ext cx="105103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bracket_right" descr="Editable line; source id bracket_right"/>
          <p:cNvCxnSpPr/>
          <p:nvPr/>
        </p:nvCxnSpPr>
        <p:spPr>
          <a:xfrm>
            <a:off x="11857579" y="773943"/>
            <a:ext cx="0" cy="1156138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bracket_right_top" descr="Editable line; source id bracket_right_top"/>
          <p:cNvCxnSpPr/>
          <p:nvPr/>
        </p:nvCxnSpPr>
        <p:spPr>
          <a:xfrm flipH="1">
            <a:off x="11742921" y="773943"/>
            <a:ext cx="114658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bracket_right_bottom" descr="Editable line; source id bracket_right_bottom"/>
          <p:cNvCxnSpPr/>
          <p:nvPr/>
        </p:nvCxnSpPr>
        <p:spPr>
          <a:xfrm flipH="1">
            <a:off x="11742921" y="1930081"/>
            <a:ext cx="114658" cy="0"/>
          </a:xfrm>
          <a:prstGeom prst="line">
            <a:avLst/>
          </a:prstGeom>
          <a:ln w="19109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elta_x" descr="Editable text; source id delta_x"/>
          <p:cNvSpPr txBox="1"/>
          <p:nvPr/>
        </p:nvSpPr>
        <p:spPr>
          <a:xfrm>
            <a:off x="11198294" y="764388"/>
            <a:ext cx="286645" cy="41085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114"/>
              </a:lnSpc>
              <a:spcBef>
                <a:spcPts val="0"/>
              </a:spcBef>
              <a:spcAft>
                <a:spcPts val="0"/>
              </a:spcAft>
              <a:defRPr sz="2708" b="0" i="0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8" b="0" i="0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70" name="x" descr="Editable text; source id x"/>
          <p:cNvSpPr txBox="1"/>
          <p:nvPr/>
        </p:nvSpPr>
        <p:spPr>
          <a:xfrm>
            <a:off x="11446720" y="821717"/>
            <a:ext cx="248426" cy="3439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09"/>
              </a:lnSpc>
              <a:spcBef>
                <a:spcPts val="0"/>
              </a:spcBef>
              <a:spcAft>
                <a:spcPts val="0"/>
              </a:spcAft>
              <a:defRPr sz="2181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181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1" name="delta_theta" descr="Editable text; source id delta_theta"/>
          <p:cNvSpPr txBox="1"/>
          <p:nvPr/>
        </p:nvSpPr>
        <p:spPr>
          <a:xfrm>
            <a:off x="11188739" y="1146583"/>
            <a:ext cx="286645" cy="41085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114"/>
              </a:lnSpc>
              <a:spcBef>
                <a:spcPts val="0"/>
              </a:spcBef>
              <a:spcAft>
                <a:spcPts val="0"/>
              </a:spcAft>
              <a:defRPr sz="2708" b="0" i="0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8" b="0" i="0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72" name="theta" descr="Editable text; source id theta"/>
          <p:cNvSpPr txBox="1"/>
          <p:nvPr/>
        </p:nvSpPr>
        <p:spPr>
          <a:xfrm>
            <a:off x="11427610" y="1165692"/>
            <a:ext cx="305755" cy="458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41"/>
              </a:lnSpc>
              <a:spcBef>
                <a:spcPts val="0"/>
              </a:spcBef>
              <a:spcAft>
                <a:spcPts val="0"/>
              </a:spcAft>
              <a:defRPr sz="2557" b="0" i="1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7" b="0" i="1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73" name="delta_grip" descr="Editable text; source id delta_grip"/>
          <p:cNvSpPr txBox="1"/>
          <p:nvPr/>
        </p:nvSpPr>
        <p:spPr>
          <a:xfrm>
            <a:off x="10997642" y="1528777"/>
            <a:ext cx="286645" cy="41085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114"/>
              </a:lnSpc>
              <a:spcBef>
                <a:spcPts val="0"/>
              </a:spcBef>
              <a:spcAft>
                <a:spcPts val="0"/>
              </a:spcAft>
              <a:defRPr sz="2708" b="0" i="0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8" b="0" i="0" lang="zh-CN" dirty="0">
                <a:solidFill>
                  <a:srgbClr val="606060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74" name="grip" descr="Editable text; source id grip"/>
          <p:cNvSpPr txBox="1"/>
          <p:nvPr/>
        </p:nvSpPr>
        <p:spPr>
          <a:xfrm>
            <a:off x="11226958" y="1576551"/>
            <a:ext cx="611510" cy="3630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57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2257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Grip</a:t>
            </a:r>
          </a:p>
        </p:txBody>
      </p:sp>
      <p:sp>
        <p:nvSpPr>
          <p:cNvPr id="75" name="action_7d" descr="Editable text; source id action_7d"/>
          <p:cNvSpPr txBox="1"/>
          <p:nvPr/>
        </p:nvSpPr>
        <p:spPr>
          <a:xfrm>
            <a:off x="10892538" y="2025630"/>
            <a:ext cx="1041479" cy="28664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def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7D Robot</a:t>
            </a:r>
          </a:p>
        </p:txBody>
      </p:sp>
      <p:sp>
        <p:nvSpPr>
          <p:cNvPr id="76" name="action_label" descr="Editable text; source id action_label"/>
          <p:cNvSpPr txBox="1"/>
          <p:nvPr/>
        </p:nvSpPr>
        <p:spPr>
          <a:xfrm>
            <a:off x="11074081" y="2254946"/>
            <a:ext cx="697504" cy="28664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816"/>
              </a:lnSpc>
              <a:spcBef>
                <a:spcPts val="0"/>
              </a:spcBef>
              <a:spcAft>
                <a:spcPts val="0"/>
              </a:spcAft>
              <a:def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579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77" name="robot_arrow" descr="Editable line; source id robot_arrow"/>
          <p:cNvSpPr/>
          <p:nvPr/>
        </p:nvSpPr>
        <p:spPr>
          <a:xfrm>
            <a:off x="11346395" y="2589367"/>
            <a:ext cx="85994" cy="238871"/>
          </a:xfrm>
          <a:custGeom>
            <a:avLst/>
            <a:gdLst/>
            <a:ahLst/>
            <a:cxnLst/>
            <a:rect l="l" t="t" r="r" b="b"/>
            <a:pathLst>
              <a:path w="9000" h="25000">
                <a:moveTo>
                  <a:pt x="5500" y="0"/>
                </a:moveTo>
                <a:lnTo>
                  <a:pt x="5500" y="16000"/>
                </a:lnTo>
                <a:lnTo>
                  <a:pt x="9000" y="16000"/>
                </a:lnTo>
                <a:lnTo>
                  <a:pt x="4500" y="25000"/>
                </a:lnTo>
                <a:lnTo>
                  <a:pt x="0" y="16000"/>
                </a:lnTo>
                <a:lnTo>
                  <a:pt x="3500" y="16000"/>
                </a:lnTo>
                <a:lnTo>
                  <a:pt x="3500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robot_photo" descr="Exact source-pixel crop of robot photograph, no diagram lab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112" y="2923786"/>
            <a:ext cx="1528777" cy="1605216"/>
          </a:xfrm>
          <a:prstGeom prst="rect">
            <a:avLst/>
          </a:prstGeom>
          <a:effectLst/>
        </p:spPr>
      </p:pic>
      <p:sp>
        <p:nvSpPr>
          <p:cNvPr id="79" name="circle_3" descr="Editable shape; source id circle_3"/>
          <p:cNvSpPr/>
          <p:nvPr/>
        </p:nvSpPr>
        <p:spPr>
          <a:xfrm>
            <a:off x="2770909" y="1251686"/>
            <a:ext cx="305755" cy="305755"/>
          </a:xfrm>
          <a:prstGeom prst="ellipse">
            <a:avLst/>
          </a:prstGeom>
          <a:solidFill>
            <a:srgbClr val="FFFFFF"/>
          </a:solidFill>
          <a:ln w="19109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umber_3" descr="Editable text; source id number_3"/>
          <p:cNvSpPr txBox="1"/>
          <p:nvPr/>
        </p:nvSpPr>
        <p:spPr>
          <a:xfrm>
            <a:off x="2847347" y="1242131"/>
            <a:ext cx="191097" cy="3439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defRPr sz="188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88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1" name="circle_2" descr="Editable shape; source id circle_2"/>
          <p:cNvSpPr/>
          <p:nvPr/>
        </p:nvSpPr>
        <p:spPr>
          <a:xfrm>
            <a:off x="2770909" y="2809128"/>
            <a:ext cx="305755" cy="305755"/>
          </a:xfrm>
          <a:prstGeom prst="ellipse">
            <a:avLst/>
          </a:prstGeom>
          <a:solidFill>
            <a:srgbClr val="FFFFFF"/>
          </a:solidFill>
          <a:ln w="19109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number_2" descr="Editable text; source id number_2"/>
          <p:cNvSpPr txBox="1"/>
          <p:nvPr/>
        </p:nvSpPr>
        <p:spPr>
          <a:xfrm>
            <a:off x="2847347" y="2799573"/>
            <a:ext cx="191097" cy="3439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defRPr sz="188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88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circle_1" descr="Editable shape; source id circle_1"/>
          <p:cNvSpPr/>
          <p:nvPr/>
        </p:nvSpPr>
        <p:spPr>
          <a:xfrm>
            <a:off x="2770909" y="3669065"/>
            <a:ext cx="305755" cy="305755"/>
          </a:xfrm>
          <a:prstGeom prst="ellipse">
            <a:avLst/>
          </a:prstGeom>
          <a:solidFill>
            <a:srgbClr val="FFFFFF"/>
          </a:solidFill>
          <a:ln w="19109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number_1" descr="Editable text; source id number_1"/>
          <p:cNvSpPr txBox="1"/>
          <p:nvPr/>
        </p:nvSpPr>
        <p:spPr>
          <a:xfrm>
            <a:off x="2847347" y="3659510"/>
            <a:ext cx="191097" cy="3439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defRPr sz="188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880" b="0" i="0" lang="zh-CN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