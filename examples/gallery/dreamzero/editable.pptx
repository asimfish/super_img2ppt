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0812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Ye et al., World Action Models are Zero-shot Policies, arXiv:2602.15922v1 (2026-02-17), Figure 4. CC BY 4.0 https://creativecommons.org/licenses/by/4.0/. Reconstructed editable labels, shapes and lines; photos, noise tiles, robot icons, trajectories and curved loop/merge remain cropped raster. Changes: manually reconstructed geometry and substitute Arial 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rain_title" descr="Editable text; source id train_title"/>
          <p:cNvSpPr txBox="1"/>
          <p:nvPr/>
        </p:nvSpPr>
        <p:spPr>
          <a:xfrm>
            <a:off x="658677" y="116237"/>
            <a:ext cx="5036949" cy="30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88"/>
              </a:lnSpc>
              <a:spcBef>
                <a:spcPts val="0"/>
              </a:spcBef>
              <a:spcAft>
                <a:spcPts val="0"/>
              </a:spcAft>
              <a:defRPr sz="1728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8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Training: Joint Video-Action Flow Matching</a:t>
            </a:r>
          </a:p>
        </p:txBody>
      </p:sp>
      <p:sp>
        <p:nvSpPr>
          <p:cNvPr id="3" name="infer_title" descr="Editable text; source id infer_title"/>
          <p:cNvSpPr txBox="1"/>
          <p:nvPr/>
        </p:nvSpPr>
        <p:spPr>
          <a:xfrm>
            <a:off x="6780508" y="116237"/>
            <a:ext cx="5269423" cy="30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88"/>
              </a:lnSpc>
              <a:spcBef>
                <a:spcPts val="0"/>
              </a:spcBef>
              <a:spcAft>
                <a:spcPts val="0"/>
              </a:spcAft>
              <a:defRPr sz="1728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8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Inference: Closed-Loop Real World Execution</a:t>
            </a:r>
          </a:p>
        </p:txBody>
      </p:sp>
      <p:cxnSp>
        <p:nvCxnSpPr>
          <p:cNvPr id="4" name="divider" descr="Editable line; source id divider"/>
          <p:cNvCxnSpPr/>
          <p:nvPr/>
        </p:nvCxnSpPr>
        <p:spPr>
          <a:xfrm>
            <a:off x="5947474" y="154983"/>
            <a:ext cx="0" cy="3790627"/>
          </a:xfrm>
          <a:prstGeom prst="line">
            <a:avLst/>
          </a:prstGeom>
          <a:ln w="17435">
            <a:solidFill>
              <a:srgbClr val="000000"/>
            </a:solidFill>
            <a:custDash>
              <a:ds d="444444" sp="296296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rain_dit_title" descr="Editable text; source id train_dit_title"/>
          <p:cNvSpPr txBox="1"/>
          <p:nvPr/>
        </p:nvSpPr>
        <p:spPr>
          <a:xfrm>
            <a:off x="2841355" y="490779"/>
            <a:ext cx="1833966" cy="2260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1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Joint Video-Action DiT</a:t>
            </a:r>
          </a:p>
        </p:txBody>
      </p:sp>
      <p:sp>
        <p:nvSpPr>
          <p:cNvPr id="6" name="infer_dit_title" descr="Editable text; source id infer_dit_title"/>
          <p:cNvSpPr txBox="1"/>
          <p:nvPr/>
        </p:nvSpPr>
        <p:spPr>
          <a:xfrm>
            <a:off x="8394915" y="497237"/>
            <a:ext cx="1853338" cy="2260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1" b="1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Joint Video-Action DiT</a:t>
            </a:r>
          </a:p>
        </p:txBody>
      </p:sp>
      <p:pic>
        <p:nvPicPr>
          <p:cNvPr id="7" name="train_video" descr="Exact independent crop of Figure 4 source raster; CC BY 4.0, Ye et al. (2026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8" y="1026762"/>
            <a:ext cx="1059050" cy="626389"/>
          </a:xfrm>
          <a:prstGeom prst="rect">
            <a:avLst/>
          </a:prstGeom>
          <a:effectLst/>
        </p:spPr>
      </p:pic>
      <p:pic>
        <p:nvPicPr>
          <p:cNvPr id="8" name="past_video" descr="Exact independent crop of Figure 4 source raster; CC BY 4.0, Ye et al. (2026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016" y="1097796"/>
            <a:ext cx="1020305" cy="574728"/>
          </a:xfrm>
          <a:prstGeom prst="rect">
            <a:avLst/>
          </a:prstGeom>
          <a:effectLst/>
        </p:spPr>
      </p:pic>
      <p:pic>
        <p:nvPicPr>
          <p:cNvPr id="9" name="future_video" descr="Exact independent crop of Figure 4 source raster; CC BY 4.0, Ye et al. (2026)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6491" y="1104254"/>
            <a:ext cx="807203" cy="471406"/>
          </a:xfrm>
          <a:prstGeom prst="rect">
            <a:avLst/>
          </a:prstGeom>
          <a:effectLst/>
        </p:spPr>
      </p:pic>
      <p:pic>
        <p:nvPicPr>
          <p:cNvPr id="10" name="train_action" descr="Exact independent crop of Figure 4 source raster; CC BY 4.0, Ye et al. (2026)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84" y="1950203"/>
            <a:ext cx="852406" cy="542440"/>
          </a:xfrm>
          <a:prstGeom prst="rect">
            <a:avLst/>
          </a:prstGeom>
          <a:effectLst/>
        </p:spPr>
      </p:pic>
      <p:pic>
        <p:nvPicPr>
          <p:cNvPr id="11" name="future_action" descr="Exact independent crop of Figure 4 source raster; CC BY 4.0, Ye et al. (2026)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0660" y="2066440"/>
            <a:ext cx="884694" cy="516610"/>
          </a:xfrm>
          <a:prstGeom prst="rect">
            <a:avLst/>
          </a:prstGeom>
          <a:effectLst/>
        </p:spPr>
      </p:pic>
      <p:sp>
        <p:nvSpPr>
          <p:cNvPr id="12" name="video" descr="Editable text; source id video"/>
          <p:cNvSpPr txBox="1"/>
          <p:nvPr/>
        </p:nvSpPr>
        <p:spPr>
          <a:xfrm>
            <a:off x="529525" y="729711"/>
            <a:ext cx="710338" cy="21955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3" name="latents" descr="Editable text; source id latents"/>
          <p:cNvSpPr txBox="1"/>
          <p:nvPr/>
        </p:nvSpPr>
        <p:spPr>
          <a:xfrm>
            <a:off x="1885627" y="729711"/>
            <a:ext cx="697423" cy="21955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Latents</a:t>
            </a:r>
          </a:p>
        </p:txBody>
      </p:sp>
      <p:sp>
        <p:nvSpPr>
          <p:cNvPr id="14" name="action" descr="Editable text; source id action"/>
          <p:cNvSpPr txBox="1"/>
          <p:nvPr/>
        </p:nvSpPr>
        <p:spPr>
          <a:xfrm>
            <a:off x="516610" y="1750016"/>
            <a:ext cx="742627" cy="21955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5" name="past" descr="Editable text; source id past"/>
          <p:cNvSpPr txBox="1"/>
          <p:nvPr/>
        </p:nvSpPr>
        <p:spPr>
          <a:xfrm>
            <a:off x="6444711" y="845949"/>
            <a:ext cx="1130084" cy="21955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Past frames</a:t>
            </a:r>
          </a:p>
        </p:txBody>
      </p:sp>
      <p:sp>
        <p:nvSpPr>
          <p:cNvPr id="16" name="future" descr="Editable text; source id future"/>
          <p:cNvSpPr txBox="1"/>
          <p:nvPr/>
        </p:nvSpPr>
        <p:spPr>
          <a:xfrm>
            <a:off x="11010253" y="845949"/>
            <a:ext cx="1168830" cy="21955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frames</a:t>
            </a:r>
          </a:p>
        </p:txBody>
      </p:sp>
      <p:sp>
        <p:nvSpPr>
          <p:cNvPr id="17" name="future_action_label" descr="Editable text; source id future_action_label"/>
          <p:cNvSpPr txBox="1"/>
          <p:nvPr/>
        </p:nvSpPr>
        <p:spPr>
          <a:xfrm>
            <a:off x="11042542" y="1704813"/>
            <a:ext cx="1104254" cy="4003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action</a:t>
            </a:r>
          </a:p>
          <a:p>
            <a:pPr algn="ctr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vae_enc" descr="Editable shape; source id vae_enc"/>
          <p:cNvSpPr/>
          <p:nvPr/>
        </p:nvSpPr>
        <p:spPr>
          <a:xfrm>
            <a:off x="1323814" y="1007390"/>
            <a:ext cx="607017" cy="690966"/>
          </a:xfrm>
          <a:custGeom>
            <a:avLst/>
            <a:gdLst/>
            <a:ahLst/>
            <a:cxnLst/>
            <a:rect l="l" t="t" r="r" b="b"/>
            <a:pathLst>
              <a:path w="94000" h="107000">
                <a:moveTo>
                  <a:pt x="0" y="0"/>
                </a:moveTo>
                <a:lnTo>
                  <a:pt x="94000" y="10700"/>
                </a:lnTo>
                <a:lnTo>
                  <a:pt x="94000" y="96300"/>
                </a:lnTo>
                <a:lnTo>
                  <a:pt x="0" y="107000"/>
                </a:lnTo>
                <a:close/>
              </a:path>
            </a:pathLst>
          </a:custGeom>
          <a:solidFill>
            <a:srgbClr val="AECBBB"/>
          </a:solidFill>
          <a:ln w="6457">
            <a:solidFill>
              <a:srgbClr val="BBBBB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ae_enc_label" descr="Editable text; source id vae_enc_label"/>
          <p:cNvSpPr txBox="1"/>
          <p:nvPr/>
        </p:nvSpPr>
        <p:spPr>
          <a:xfrm>
            <a:off x="1349644" y="1212742"/>
            <a:ext cx="555355" cy="29963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VAE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0" name="action_enc" descr="Editable shape; source id action_enc"/>
          <p:cNvSpPr/>
          <p:nvPr/>
        </p:nvSpPr>
        <p:spPr>
          <a:xfrm>
            <a:off x="1323814" y="1937288"/>
            <a:ext cx="607017" cy="684508"/>
          </a:xfrm>
          <a:custGeom>
            <a:avLst/>
            <a:gdLst/>
            <a:ahLst/>
            <a:cxnLst/>
            <a:rect l="l" t="t" r="r" b="b"/>
            <a:pathLst>
              <a:path w="94000" h="106000">
                <a:moveTo>
                  <a:pt x="0" y="0"/>
                </a:moveTo>
                <a:lnTo>
                  <a:pt x="94000" y="10600"/>
                </a:lnTo>
                <a:lnTo>
                  <a:pt x="94000" y="95400"/>
                </a:lnTo>
                <a:lnTo>
                  <a:pt x="0" y="106000"/>
                </a:lnTo>
                <a:close/>
              </a:path>
            </a:pathLst>
          </a:custGeom>
          <a:solidFill>
            <a:srgbClr val="E3DEC7"/>
          </a:solidFill>
          <a:ln w="6457">
            <a:solidFill>
              <a:srgbClr val="BBBBB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ction_enc_label" descr="Editable text; source id action_enc_label"/>
          <p:cNvSpPr txBox="1"/>
          <p:nvPr/>
        </p:nvSpPr>
        <p:spPr>
          <a:xfrm>
            <a:off x="1349644" y="2139411"/>
            <a:ext cx="555355" cy="29963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2" name="vae_enc_inf" descr="Editable shape; source id vae_enc_inf"/>
          <p:cNvSpPr/>
          <p:nvPr/>
        </p:nvSpPr>
        <p:spPr>
          <a:xfrm>
            <a:off x="7471474" y="1007390"/>
            <a:ext cx="607017" cy="690966"/>
          </a:xfrm>
          <a:custGeom>
            <a:avLst/>
            <a:gdLst/>
            <a:ahLst/>
            <a:cxnLst/>
            <a:rect l="l" t="t" r="r" b="b"/>
            <a:pathLst>
              <a:path w="94000" h="107000">
                <a:moveTo>
                  <a:pt x="0" y="0"/>
                </a:moveTo>
                <a:lnTo>
                  <a:pt x="94000" y="10700"/>
                </a:lnTo>
                <a:lnTo>
                  <a:pt x="94000" y="96300"/>
                </a:lnTo>
                <a:lnTo>
                  <a:pt x="0" y="107000"/>
                </a:lnTo>
                <a:close/>
              </a:path>
            </a:pathLst>
          </a:custGeom>
          <a:solidFill>
            <a:srgbClr val="AECBBB"/>
          </a:solidFill>
          <a:ln w="6457">
            <a:solidFill>
              <a:srgbClr val="BBBBB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ae_enc_inf_label" descr="Editable text; source id vae_enc_inf_label"/>
          <p:cNvSpPr txBox="1"/>
          <p:nvPr/>
        </p:nvSpPr>
        <p:spPr>
          <a:xfrm>
            <a:off x="7497304" y="1212742"/>
            <a:ext cx="555355" cy="29963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VAE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4" name="vae_dec" descr="Editable shape; source id vae_dec"/>
          <p:cNvSpPr/>
          <p:nvPr/>
        </p:nvSpPr>
        <p:spPr>
          <a:xfrm>
            <a:off x="10390322" y="1007390"/>
            <a:ext cx="607017" cy="690966"/>
          </a:xfrm>
          <a:custGeom>
            <a:avLst/>
            <a:gdLst/>
            <a:ahLst/>
            <a:cxnLst/>
            <a:rect l="l" t="t" r="r" b="b"/>
            <a:pathLst>
              <a:path w="94000" h="107000">
                <a:moveTo>
                  <a:pt x="0" y="10700"/>
                </a:moveTo>
                <a:lnTo>
                  <a:pt x="94000" y="0"/>
                </a:lnTo>
                <a:lnTo>
                  <a:pt x="94000" y="107000"/>
                </a:lnTo>
                <a:lnTo>
                  <a:pt x="0" y="96300"/>
                </a:lnTo>
                <a:close/>
              </a:path>
            </a:pathLst>
          </a:custGeom>
          <a:solidFill>
            <a:srgbClr val="AECBBB"/>
          </a:solidFill>
          <a:ln w="6457">
            <a:solidFill>
              <a:srgbClr val="BBBBB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ae_dec_label" descr="Editable text; source id vae_dec_label"/>
          <p:cNvSpPr txBox="1"/>
          <p:nvPr/>
        </p:nvSpPr>
        <p:spPr>
          <a:xfrm>
            <a:off x="10416152" y="1212742"/>
            <a:ext cx="555355" cy="29963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VAE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26" name="action_dec" descr="Editable shape; source id action_dec"/>
          <p:cNvSpPr/>
          <p:nvPr/>
        </p:nvSpPr>
        <p:spPr>
          <a:xfrm>
            <a:off x="10390322" y="1937288"/>
            <a:ext cx="607017" cy="690966"/>
          </a:xfrm>
          <a:custGeom>
            <a:avLst/>
            <a:gdLst/>
            <a:ahLst/>
            <a:cxnLst/>
            <a:rect l="l" t="t" r="r" b="b"/>
            <a:pathLst>
              <a:path w="94000" h="107000">
                <a:moveTo>
                  <a:pt x="0" y="10700"/>
                </a:moveTo>
                <a:lnTo>
                  <a:pt x="94000" y="0"/>
                </a:lnTo>
                <a:lnTo>
                  <a:pt x="94000" y="107000"/>
                </a:lnTo>
                <a:lnTo>
                  <a:pt x="0" y="96300"/>
                </a:lnTo>
                <a:close/>
              </a:path>
            </a:pathLst>
          </a:custGeom>
          <a:solidFill>
            <a:srgbClr val="E3DEC7"/>
          </a:solidFill>
          <a:ln w="6457">
            <a:solidFill>
              <a:srgbClr val="BBBBB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tion_dec_label" descr="Editable text; source id action_dec_label"/>
          <p:cNvSpPr txBox="1"/>
          <p:nvPr/>
        </p:nvSpPr>
        <p:spPr>
          <a:xfrm>
            <a:off x="10416152" y="2142640"/>
            <a:ext cx="555355" cy="29963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28" name="train_dit" descr="Editable shape; source id train_dit"/>
          <p:cNvSpPr/>
          <p:nvPr/>
        </p:nvSpPr>
        <p:spPr>
          <a:xfrm>
            <a:off x="3022169" y="749084"/>
            <a:ext cx="1310898" cy="1976033"/>
          </a:xfrm>
          <a:prstGeom prst="roundRect">
            <a:avLst>
              <a:gd name="adj" fmla="val 17733"/>
            </a:avLst>
          </a:prstGeom>
          <a:solidFill>
            <a:srgbClr val="7D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in_bar0" descr="Editable shape; source id train_bar0"/>
          <p:cNvSpPr/>
          <p:nvPr/>
        </p:nvSpPr>
        <p:spPr>
          <a:xfrm>
            <a:off x="3157779" y="916983"/>
            <a:ext cx="226016" cy="1123627"/>
          </a:xfrm>
          <a:prstGeom prst="roundRect">
            <a:avLst>
              <a:gd name="adj" fmla="val 17142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rain_bar1" descr="Editable shape; source id train_bar1"/>
          <p:cNvSpPr/>
          <p:nvPr/>
        </p:nvSpPr>
        <p:spPr>
          <a:xfrm>
            <a:off x="3425771" y="916983"/>
            <a:ext cx="226016" cy="1123627"/>
          </a:xfrm>
          <a:prstGeom prst="roundRect">
            <a:avLst>
              <a:gd name="adj" fmla="val 17142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rain_bar2" descr="Editable shape; source id train_bar2"/>
          <p:cNvSpPr/>
          <p:nvPr/>
        </p:nvSpPr>
        <p:spPr>
          <a:xfrm>
            <a:off x="3693762" y="916983"/>
            <a:ext cx="226016" cy="1123627"/>
          </a:xfrm>
          <a:prstGeom prst="roundRect">
            <a:avLst>
              <a:gd name="adj" fmla="val 17142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rain_bar3" descr="Editable shape; source id train_bar3"/>
          <p:cNvSpPr/>
          <p:nvPr/>
        </p:nvSpPr>
        <p:spPr>
          <a:xfrm>
            <a:off x="3961754" y="916983"/>
            <a:ext cx="226016" cy="1123627"/>
          </a:xfrm>
          <a:prstGeom prst="roundRect">
            <a:avLst>
              <a:gd name="adj" fmla="val 17142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rain_causal" descr="Editable text; source id train_causal"/>
          <p:cNvSpPr txBox="1"/>
          <p:nvPr/>
        </p:nvSpPr>
        <p:spPr>
          <a:xfrm>
            <a:off x="3209440" y="1039677"/>
            <a:ext cx="942813" cy="3874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Causal DiT</a:t>
            </a:r>
          </a:p>
          <a:p>
            <a:pPr algn="ctr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Blocks</a:t>
            </a:r>
          </a:p>
        </p:txBody>
      </p:sp>
      <p:sp>
        <p:nvSpPr>
          <p:cNvPr id="34" name="train_grid0" descr="Editable shape; source id train_grid0"/>
          <p:cNvSpPr/>
          <p:nvPr/>
        </p:nvSpPr>
        <p:spPr>
          <a:xfrm>
            <a:off x="3487118" y="1504627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rain_grid1" descr="Editable shape; source id train_grid1"/>
          <p:cNvSpPr/>
          <p:nvPr/>
        </p:nvSpPr>
        <p:spPr>
          <a:xfrm>
            <a:off x="3609813" y="1504627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B3A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ain_grid2" descr="Editable shape; source id train_grid2"/>
          <p:cNvSpPr/>
          <p:nvPr/>
        </p:nvSpPr>
        <p:spPr>
          <a:xfrm>
            <a:off x="3732508" y="1504627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AEA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in_grid3" descr="Editable shape; source id train_grid3"/>
          <p:cNvSpPr/>
          <p:nvPr/>
        </p:nvSpPr>
        <p:spPr>
          <a:xfrm>
            <a:off x="3487118" y="1627321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in_grid4" descr="Editable shape; source id train_grid4"/>
          <p:cNvSpPr/>
          <p:nvPr/>
        </p:nvSpPr>
        <p:spPr>
          <a:xfrm>
            <a:off x="3609813" y="1627321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in_grid5" descr="Editable shape; source id train_grid5"/>
          <p:cNvSpPr/>
          <p:nvPr/>
        </p:nvSpPr>
        <p:spPr>
          <a:xfrm>
            <a:off x="3732508" y="1627321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AEA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in_grid6" descr="Editable shape; source id train_grid6"/>
          <p:cNvSpPr/>
          <p:nvPr/>
        </p:nvSpPr>
        <p:spPr>
          <a:xfrm>
            <a:off x="3487118" y="1750016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in_grid7" descr="Editable shape; source id train_grid7"/>
          <p:cNvSpPr/>
          <p:nvPr/>
        </p:nvSpPr>
        <p:spPr>
          <a:xfrm>
            <a:off x="3609813" y="1750016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in_grid8" descr="Editable shape; source id train_grid8"/>
          <p:cNvSpPr/>
          <p:nvPr/>
        </p:nvSpPr>
        <p:spPr>
          <a:xfrm>
            <a:off x="3732508" y="1750016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nfer_dit" descr="Editable shape; source id infer_dit"/>
          <p:cNvSpPr/>
          <p:nvPr/>
        </p:nvSpPr>
        <p:spPr>
          <a:xfrm>
            <a:off x="8588643" y="749084"/>
            <a:ext cx="1310898" cy="1976033"/>
          </a:xfrm>
          <a:prstGeom prst="roundRect">
            <a:avLst>
              <a:gd name="adj" fmla="val 17733"/>
            </a:avLst>
          </a:prstGeom>
          <a:solidFill>
            <a:srgbClr val="7D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nfer_bar0" descr="Editable shape; source id infer_bar0"/>
          <p:cNvSpPr/>
          <p:nvPr/>
        </p:nvSpPr>
        <p:spPr>
          <a:xfrm>
            <a:off x="8724254" y="916983"/>
            <a:ext cx="226016" cy="1123627"/>
          </a:xfrm>
          <a:prstGeom prst="roundRect">
            <a:avLst>
              <a:gd name="adj" fmla="val 17142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nfer_bar1" descr="Editable shape; source id infer_bar1"/>
          <p:cNvSpPr/>
          <p:nvPr/>
        </p:nvSpPr>
        <p:spPr>
          <a:xfrm>
            <a:off x="8992245" y="916983"/>
            <a:ext cx="226016" cy="1123627"/>
          </a:xfrm>
          <a:prstGeom prst="roundRect">
            <a:avLst>
              <a:gd name="adj" fmla="val 17142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nfer_bar2" descr="Editable shape; source id infer_bar2"/>
          <p:cNvSpPr/>
          <p:nvPr/>
        </p:nvSpPr>
        <p:spPr>
          <a:xfrm>
            <a:off x="9260237" y="916983"/>
            <a:ext cx="226016" cy="1123627"/>
          </a:xfrm>
          <a:prstGeom prst="roundRect">
            <a:avLst>
              <a:gd name="adj" fmla="val 17142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nfer_bar3" descr="Editable shape; source id infer_bar3"/>
          <p:cNvSpPr/>
          <p:nvPr/>
        </p:nvSpPr>
        <p:spPr>
          <a:xfrm>
            <a:off x="9528228" y="916983"/>
            <a:ext cx="226016" cy="1123627"/>
          </a:xfrm>
          <a:prstGeom prst="roundRect">
            <a:avLst>
              <a:gd name="adj" fmla="val 17142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nfer_causal" descr="Editable text; source id infer_causal"/>
          <p:cNvSpPr txBox="1"/>
          <p:nvPr/>
        </p:nvSpPr>
        <p:spPr>
          <a:xfrm>
            <a:off x="8775915" y="1039677"/>
            <a:ext cx="942813" cy="3874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Causal DiT</a:t>
            </a:r>
          </a:p>
          <a:p>
            <a:pPr algn="ctr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Blocks</a:t>
            </a:r>
          </a:p>
        </p:txBody>
      </p:sp>
      <p:sp>
        <p:nvSpPr>
          <p:cNvPr id="49" name="infer_grid0" descr="Editable shape; source id infer_grid0"/>
          <p:cNvSpPr/>
          <p:nvPr/>
        </p:nvSpPr>
        <p:spPr>
          <a:xfrm>
            <a:off x="9053592" y="1504627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nfer_grid1" descr="Editable shape; source id infer_grid1"/>
          <p:cNvSpPr/>
          <p:nvPr/>
        </p:nvSpPr>
        <p:spPr>
          <a:xfrm>
            <a:off x="9176287" y="1504627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B3A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nfer_grid2" descr="Editable shape; source id infer_grid2"/>
          <p:cNvSpPr/>
          <p:nvPr/>
        </p:nvSpPr>
        <p:spPr>
          <a:xfrm>
            <a:off x="9298982" y="1504627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AEA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nfer_grid3" descr="Editable shape; source id infer_grid3"/>
          <p:cNvSpPr/>
          <p:nvPr/>
        </p:nvSpPr>
        <p:spPr>
          <a:xfrm>
            <a:off x="9053592" y="1627321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nfer_grid4" descr="Editable shape; source id infer_grid4"/>
          <p:cNvSpPr/>
          <p:nvPr/>
        </p:nvSpPr>
        <p:spPr>
          <a:xfrm>
            <a:off x="9176287" y="1627321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nfer_grid5" descr="Editable shape; source id infer_grid5"/>
          <p:cNvSpPr/>
          <p:nvPr/>
        </p:nvSpPr>
        <p:spPr>
          <a:xfrm>
            <a:off x="9298982" y="1627321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AEA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nfer_grid6" descr="Editable shape; source id infer_grid6"/>
          <p:cNvSpPr/>
          <p:nvPr/>
        </p:nvSpPr>
        <p:spPr>
          <a:xfrm>
            <a:off x="9053592" y="1750016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nfer_grid7" descr="Editable shape; source id infer_grid7"/>
          <p:cNvSpPr/>
          <p:nvPr/>
        </p:nvSpPr>
        <p:spPr>
          <a:xfrm>
            <a:off x="9176287" y="1750016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nfer_grid8" descr="Editable shape; source id infer_grid8"/>
          <p:cNvSpPr/>
          <p:nvPr/>
        </p:nvSpPr>
        <p:spPr>
          <a:xfrm>
            <a:off x="9298982" y="1750016"/>
            <a:ext cx="116237" cy="116237"/>
          </a:xfrm>
          <a:prstGeom prst="roundRect">
            <a:avLst>
              <a:gd name="adj" fmla="val 16666"/>
            </a:avLst>
          </a:prstGeom>
          <a:solidFill>
            <a:srgbClr val="365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kv" descr="Editable shape; source id kv"/>
          <p:cNvSpPr/>
          <p:nvPr/>
        </p:nvSpPr>
        <p:spPr>
          <a:xfrm>
            <a:off x="8730711" y="2131016"/>
            <a:ext cx="1020305" cy="452033"/>
          </a:xfrm>
          <a:prstGeom prst="roundRect">
            <a:avLst>
              <a:gd name="adj" fmla="val 20000"/>
            </a:avLst>
          </a:prstGeom>
          <a:solidFill>
            <a:srgbClr val="D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kv_text" descr="Editable text; source id kv_text"/>
          <p:cNvSpPr txBox="1"/>
          <p:nvPr/>
        </p:nvSpPr>
        <p:spPr>
          <a:xfrm>
            <a:off x="8892152" y="2253711"/>
            <a:ext cx="845949" cy="23893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KV Cache</a:t>
            </a:r>
          </a:p>
        </p:txBody>
      </p:sp>
      <p:sp>
        <p:nvSpPr>
          <p:cNvPr id="60" name="v1" descr="Editable shape; source id v1"/>
          <p:cNvSpPr/>
          <p:nvPr/>
        </p:nvSpPr>
        <p:spPr>
          <a:xfrm>
            <a:off x="1982491" y="962186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1_screen" descr="Editable shape; source id v1_screen"/>
          <p:cNvSpPr/>
          <p:nvPr/>
        </p:nvSpPr>
        <p:spPr>
          <a:xfrm>
            <a:off x="2059982" y="1026762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1_play" descr="Editable shape; source id v1_play"/>
          <p:cNvSpPr/>
          <p:nvPr/>
        </p:nvSpPr>
        <p:spPr>
          <a:xfrm>
            <a:off x="2124559" y="1052593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2" descr="Editable shape; source id v2"/>
          <p:cNvSpPr/>
          <p:nvPr/>
        </p:nvSpPr>
        <p:spPr>
          <a:xfrm>
            <a:off x="1982491" y="1220491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2_screen" descr="Editable shape; source id v2_screen"/>
          <p:cNvSpPr/>
          <p:nvPr/>
        </p:nvSpPr>
        <p:spPr>
          <a:xfrm>
            <a:off x="2059982" y="1285067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2_play" descr="Editable shape; source id v2_play"/>
          <p:cNvSpPr/>
          <p:nvPr/>
        </p:nvSpPr>
        <p:spPr>
          <a:xfrm>
            <a:off x="2124559" y="1310898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3" descr="Editable shape; source id v3"/>
          <p:cNvSpPr/>
          <p:nvPr/>
        </p:nvSpPr>
        <p:spPr>
          <a:xfrm>
            <a:off x="1982491" y="1478796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3_screen" descr="Editable shape; source id v3_screen"/>
          <p:cNvSpPr/>
          <p:nvPr/>
        </p:nvSpPr>
        <p:spPr>
          <a:xfrm>
            <a:off x="2059982" y="1543372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3_play" descr="Editable shape; source id v3_play"/>
          <p:cNvSpPr/>
          <p:nvPr/>
        </p:nvSpPr>
        <p:spPr>
          <a:xfrm>
            <a:off x="2124559" y="1569203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oisy1" descr="Editable shape; source id noisy1"/>
          <p:cNvSpPr/>
          <p:nvPr/>
        </p:nvSpPr>
        <p:spPr>
          <a:xfrm>
            <a:off x="2583050" y="962186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oisy1_screen" descr="Editable shape; source id noisy1_screen"/>
          <p:cNvSpPr/>
          <p:nvPr/>
        </p:nvSpPr>
        <p:spPr>
          <a:xfrm>
            <a:off x="2660542" y="1026762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oisy1_play" descr="Editable shape; source id noisy1_play"/>
          <p:cNvSpPr/>
          <p:nvPr/>
        </p:nvSpPr>
        <p:spPr>
          <a:xfrm>
            <a:off x="2725119" y="1052593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oisy2" descr="Editable shape; source id noisy2"/>
          <p:cNvSpPr/>
          <p:nvPr/>
        </p:nvSpPr>
        <p:spPr>
          <a:xfrm>
            <a:off x="2583050" y="1220491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oisy2_screen" descr="Editable shape; source id noisy2_screen"/>
          <p:cNvSpPr/>
          <p:nvPr/>
        </p:nvSpPr>
        <p:spPr>
          <a:xfrm>
            <a:off x="2660542" y="1285067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oisy2_play" descr="Editable shape; source id noisy2_play"/>
          <p:cNvSpPr/>
          <p:nvPr/>
        </p:nvSpPr>
        <p:spPr>
          <a:xfrm>
            <a:off x="2725119" y="1310898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ut1" descr="Editable shape; source id out1"/>
          <p:cNvSpPr/>
          <p:nvPr/>
        </p:nvSpPr>
        <p:spPr>
          <a:xfrm>
            <a:off x="4417016" y="1465881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ut1_screen" descr="Editable shape; source id out1_screen"/>
          <p:cNvSpPr/>
          <p:nvPr/>
        </p:nvSpPr>
        <p:spPr>
          <a:xfrm>
            <a:off x="4494508" y="1530457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ut1_play" descr="Editable shape; source id out1_play"/>
          <p:cNvSpPr/>
          <p:nvPr/>
        </p:nvSpPr>
        <p:spPr>
          <a:xfrm>
            <a:off x="4559085" y="1556288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v1" descr="Editable shape; source id iv1"/>
          <p:cNvSpPr/>
          <p:nvPr/>
        </p:nvSpPr>
        <p:spPr>
          <a:xfrm>
            <a:off x="8136609" y="962186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iv1_screen" descr="Editable shape; source id iv1_screen"/>
          <p:cNvSpPr/>
          <p:nvPr/>
        </p:nvSpPr>
        <p:spPr>
          <a:xfrm>
            <a:off x="8214101" y="1026762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iv1_play" descr="Editable shape; source id iv1_play"/>
          <p:cNvSpPr/>
          <p:nvPr/>
        </p:nvSpPr>
        <p:spPr>
          <a:xfrm>
            <a:off x="8278678" y="1052593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iv2" descr="Editable shape; source id iv2"/>
          <p:cNvSpPr/>
          <p:nvPr/>
        </p:nvSpPr>
        <p:spPr>
          <a:xfrm>
            <a:off x="8136609" y="1220491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v2_screen" descr="Editable shape; source id iv2_screen"/>
          <p:cNvSpPr/>
          <p:nvPr/>
        </p:nvSpPr>
        <p:spPr>
          <a:xfrm>
            <a:off x="8214101" y="1285067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iv2_play" descr="Editable shape; source id iv2_play"/>
          <p:cNvSpPr/>
          <p:nvPr/>
        </p:nvSpPr>
        <p:spPr>
          <a:xfrm>
            <a:off x="8278678" y="1310898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iout" descr="Editable shape; source id iout"/>
          <p:cNvSpPr/>
          <p:nvPr/>
        </p:nvSpPr>
        <p:spPr>
          <a:xfrm>
            <a:off x="9996406" y="1478796"/>
            <a:ext cx="329338" cy="258305"/>
          </a:xfrm>
          <a:prstGeom prst="roundRect">
            <a:avLst>
              <a:gd name="adj" fmla="val 15000"/>
            </a:avLst>
          </a:prstGeom>
          <a:solidFill>
            <a:srgbClr val="C9DDD4"/>
          </a:solidFill>
          <a:ln w="10332">
            <a:solidFill>
              <a:srgbClr val="BB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iout_screen" descr="Editable shape; source id iout_screen"/>
          <p:cNvSpPr/>
          <p:nvPr/>
        </p:nvSpPr>
        <p:spPr>
          <a:xfrm>
            <a:off x="10073898" y="1543372"/>
            <a:ext cx="174355" cy="129152"/>
          </a:xfrm>
          <a:prstGeom prst="rect">
            <a:avLst/>
          </a:prstGeom>
          <a:noFill/>
          <a:ln w="1291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out_play" descr="Editable shape; source id iout_play"/>
          <p:cNvSpPr/>
          <p:nvPr/>
        </p:nvSpPr>
        <p:spPr>
          <a:xfrm>
            <a:off x="10138474" y="1569203"/>
            <a:ext cx="58119" cy="77492"/>
          </a:xfrm>
          <a:custGeom>
            <a:avLst/>
            <a:gdLst/>
            <a:ahLst/>
            <a:cxnLst/>
            <a:rect l="l" t="t" r="r" b="b"/>
            <a:pathLst>
              <a:path w="9000" h="12000">
                <a:moveTo>
                  <a:pt x="0" y="0"/>
                </a:moveTo>
                <a:lnTo>
                  <a:pt x="9000" y="6000"/>
                </a:lnTo>
                <a:lnTo>
                  <a:pt x="0" y="12000"/>
                </a:lnTo>
                <a:close/>
              </a:path>
            </a:pathLst>
          </a:custGeom>
          <a:solidFill>
            <a:srgbClr val="000000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uture_blank1" descr="Editable shape; source id future_blank1"/>
          <p:cNvSpPr/>
          <p:nvPr/>
        </p:nvSpPr>
        <p:spPr>
          <a:xfrm>
            <a:off x="4417016" y="949271"/>
            <a:ext cx="329338" cy="258305"/>
          </a:xfrm>
          <a:prstGeom prst="roundRect">
            <a:avLst>
              <a:gd name="adj" fmla="val 15000"/>
            </a:avLst>
          </a:prstGeom>
          <a:noFill/>
          <a:ln w="10332">
            <a:solidFill>
              <a:srgbClr val="111111"/>
            </a:solidFill>
            <a:custDash>
              <a:ds d="437500" sp="3125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uture_blank2" descr="Editable shape; source id future_blank2"/>
          <p:cNvSpPr/>
          <p:nvPr/>
        </p:nvSpPr>
        <p:spPr>
          <a:xfrm>
            <a:off x="4417016" y="1214033"/>
            <a:ext cx="329338" cy="258305"/>
          </a:xfrm>
          <a:prstGeom prst="roundRect">
            <a:avLst>
              <a:gd name="adj" fmla="val 15000"/>
            </a:avLst>
          </a:prstGeom>
          <a:noFill/>
          <a:ln w="10332">
            <a:solidFill>
              <a:srgbClr val="111111"/>
            </a:solidFill>
            <a:custDash>
              <a:ds d="437500" sp="3125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ifuture_blank1" descr="Editable shape; source id ifuture_blank1"/>
          <p:cNvSpPr/>
          <p:nvPr/>
        </p:nvSpPr>
        <p:spPr>
          <a:xfrm>
            <a:off x="9996406" y="955728"/>
            <a:ext cx="329338" cy="258305"/>
          </a:xfrm>
          <a:prstGeom prst="roundRect">
            <a:avLst>
              <a:gd name="adj" fmla="val 15000"/>
            </a:avLst>
          </a:prstGeom>
          <a:noFill/>
          <a:ln w="10332">
            <a:solidFill>
              <a:srgbClr val="111111"/>
            </a:solidFill>
            <a:custDash>
              <a:ds d="437500" sp="3125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ifuture_blank2" descr="Editable shape; source id ifuture_blank2"/>
          <p:cNvSpPr/>
          <p:nvPr/>
        </p:nvSpPr>
        <p:spPr>
          <a:xfrm>
            <a:off x="9996406" y="1220491"/>
            <a:ext cx="329338" cy="258305"/>
          </a:xfrm>
          <a:prstGeom prst="roundRect">
            <a:avLst>
              <a:gd name="adj" fmla="val 15000"/>
            </a:avLst>
          </a:prstGeom>
          <a:noFill/>
          <a:ln w="10332">
            <a:solidFill>
              <a:srgbClr val="111111"/>
            </a:solidFill>
            <a:custDash>
              <a:ds d="437500" sp="3125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noise_video" descr="Exact independent crop of Figure 4 source raster; CC BY 4.0, Ye et al. (2026)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3050" y="1478796"/>
            <a:ext cx="342254" cy="271220"/>
          </a:xfrm>
          <a:prstGeom prst="rect">
            <a:avLst/>
          </a:prstGeom>
          <a:effectLst/>
        </p:spPr>
      </p:pic>
      <p:pic>
        <p:nvPicPr>
          <p:cNvPr id="92" name="noise_action" descr="Exact independent crop of Figure 4 source raster; CC BY 4.0, Ye et al. (2026)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5966" y="2137474"/>
            <a:ext cx="342254" cy="271220"/>
          </a:xfrm>
          <a:prstGeom prst="rect">
            <a:avLst/>
          </a:prstGeom>
          <a:effectLst/>
        </p:spPr>
      </p:pic>
      <p:pic>
        <p:nvPicPr>
          <p:cNvPr id="93" name="inoise_video" descr="Exact independent crop of Figure 4 source raster; CC BY 4.0, Ye et al. (2026)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6609" y="1478796"/>
            <a:ext cx="342254" cy="271220"/>
          </a:xfrm>
          <a:prstGeom prst="rect">
            <a:avLst/>
          </a:prstGeom>
          <a:effectLst/>
        </p:spPr>
      </p:pic>
      <p:pic>
        <p:nvPicPr>
          <p:cNvPr id="94" name="inoise_action" descr="Exact independent crop of Figure 4 source raster; CC BY 4.0, Ye et al. (2026)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5982" y="2143932"/>
            <a:ext cx="342254" cy="271220"/>
          </a:xfrm>
          <a:prstGeom prst="rect">
            <a:avLst/>
          </a:prstGeom>
          <a:effectLst/>
        </p:spPr>
      </p:pic>
      <p:pic>
        <p:nvPicPr>
          <p:cNvPr id="95" name="robot_in" descr="Exact independent crop of Figure 4 source raster; CC BY 4.0, Ye et al. (2026)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2491" y="2137474"/>
            <a:ext cx="342254" cy="271220"/>
          </a:xfrm>
          <a:prstGeom prst="rect">
            <a:avLst/>
          </a:prstGeom>
          <a:effectLst/>
        </p:spPr>
      </p:pic>
      <p:pic>
        <p:nvPicPr>
          <p:cNvPr id="96" name="robot_out" descr="Exact independent crop of Figure 4 source raster; CC BY 4.0, Ye et al. (2026)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7016" y="2131016"/>
            <a:ext cx="342254" cy="271220"/>
          </a:xfrm>
          <a:prstGeom prst="rect">
            <a:avLst/>
          </a:prstGeom>
          <a:effectLst/>
        </p:spPr>
      </p:pic>
      <p:pic>
        <p:nvPicPr>
          <p:cNvPr id="97" name="irobot_out" descr="Exact independent crop of Figure 4 source raster; CC BY 4.0, Ye et al. (2026).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96406" y="2137474"/>
            <a:ext cx="342254" cy="271220"/>
          </a:xfrm>
          <a:prstGeom prst="rect">
            <a:avLst/>
          </a:prstGeom>
          <a:effectLst/>
        </p:spPr>
      </p:pic>
      <p:sp>
        <p:nvSpPr>
          <p:cNvPr id="98" name="dots1" descr="Editable text; source id dots1"/>
          <p:cNvSpPr txBox="1"/>
          <p:nvPr/>
        </p:nvSpPr>
        <p:spPr>
          <a:xfrm>
            <a:off x="2712203" y="761999"/>
            <a:ext cx="161440" cy="1872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72"/>
              </a:lnSpc>
              <a:spcBef>
                <a:spcPts val="0"/>
              </a:spcBef>
              <a:spcAft>
                <a:spcPts val="0"/>
              </a:spcAft>
              <a:defRPr sz="1169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169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⋮</a:t>
            </a:r>
          </a:p>
        </p:txBody>
      </p:sp>
      <p:sp>
        <p:nvSpPr>
          <p:cNvPr id="99" name="dots2" descr="Editable text; source id dots2"/>
          <p:cNvSpPr txBox="1"/>
          <p:nvPr/>
        </p:nvSpPr>
        <p:spPr>
          <a:xfrm>
            <a:off x="4552627" y="742627"/>
            <a:ext cx="161440" cy="1872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72"/>
              </a:lnSpc>
              <a:spcBef>
                <a:spcPts val="0"/>
              </a:spcBef>
              <a:spcAft>
                <a:spcPts val="0"/>
              </a:spcAft>
              <a:defRPr sz="1169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169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⋮</a:t>
            </a:r>
          </a:p>
        </p:txBody>
      </p:sp>
      <p:sp>
        <p:nvSpPr>
          <p:cNvPr id="100" name="dots3" descr="Editable text; source id dots3"/>
          <p:cNvSpPr txBox="1"/>
          <p:nvPr/>
        </p:nvSpPr>
        <p:spPr>
          <a:xfrm>
            <a:off x="8272220" y="761999"/>
            <a:ext cx="161440" cy="1872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72"/>
              </a:lnSpc>
              <a:spcBef>
                <a:spcPts val="0"/>
              </a:spcBef>
              <a:spcAft>
                <a:spcPts val="0"/>
              </a:spcAft>
              <a:defRPr sz="1169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169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⋮</a:t>
            </a:r>
          </a:p>
        </p:txBody>
      </p:sp>
      <p:sp>
        <p:nvSpPr>
          <p:cNvPr id="101" name="dots4" descr="Editable text; source id dots4"/>
          <p:cNvSpPr txBox="1"/>
          <p:nvPr/>
        </p:nvSpPr>
        <p:spPr>
          <a:xfrm>
            <a:off x="10138474" y="755542"/>
            <a:ext cx="161440" cy="1872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72"/>
              </a:lnSpc>
              <a:spcBef>
                <a:spcPts val="0"/>
              </a:spcBef>
              <a:spcAft>
                <a:spcPts val="0"/>
              </a:spcAft>
              <a:defRPr sz="1169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169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⋮</a:t>
            </a:r>
          </a:p>
        </p:txBody>
      </p:sp>
      <p:sp>
        <p:nvSpPr>
          <p:cNvPr id="102" name="noise_plus_250" descr="Editable shape; source id noise_plus_250"/>
          <p:cNvSpPr/>
          <p:nvPr/>
        </p:nvSpPr>
        <p:spPr>
          <a:xfrm>
            <a:off x="2395779" y="1562745"/>
            <a:ext cx="103322" cy="103322"/>
          </a:xfrm>
          <a:prstGeom prst="ellipse">
            <a:avLst/>
          </a:prstGeom>
          <a:noFill/>
          <a:ln w="14206">
            <a:solidFill>
              <a:srgbClr val="172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plus_v_250" descr="Editable line; source id plus_v_250"/>
          <p:cNvCxnSpPr/>
          <p:nvPr/>
        </p:nvCxnSpPr>
        <p:spPr>
          <a:xfrm>
            <a:off x="2447440" y="1562745"/>
            <a:ext cx="0" cy="103322"/>
          </a:xfrm>
          <a:prstGeom prst="line">
            <a:avLst/>
          </a:prstGeom>
          <a:ln w="13561">
            <a:solidFill>
              <a:srgbClr val="172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plus_h_250" descr="Editable line; source id plus_h_250"/>
          <p:cNvCxnSpPr/>
          <p:nvPr/>
        </p:nvCxnSpPr>
        <p:spPr>
          <a:xfrm>
            <a:off x="2395779" y="1614406"/>
            <a:ext cx="103322" cy="0"/>
          </a:xfrm>
          <a:prstGeom prst="line">
            <a:avLst/>
          </a:prstGeom>
          <a:ln w="13561">
            <a:solidFill>
              <a:srgbClr val="172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noise_to_250" descr="Editable line; source id noise_to_250"/>
          <p:cNvSpPr/>
          <p:nvPr/>
        </p:nvSpPr>
        <p:spPr>
          <a:xfrm>
            <a:off x="2318288" y="1582119"/>
            <a:ext cx="258305" cy="64576"/>
          </a:xfrm>
          <a:custGeom>
            <a:avLst/>
            <a:gdLst/>
            <a:ahLst/>
            <a:cxnLst/>
            <a:rect l="l" t="t" r="r" b="b"/>
            <a:pathLst>
              <a:path w="40000" h="10000">
                <a:moveTo>
                  <a:pt x="0" y="4100"/>
                </a:moveTo>
                <a:lnTo>
                  <a:pt x="30000" y="4100"/>
                </a:lnTo>
                <a:lnTo>
                  <a:pt x="30000" y="0"/>
                </a:lnTo>
                <a:lnTo>
                  <a:pt x="40000" y="5000"/>
                </a:lnTo>
                <a:lnTo>
                  <a:pt x="30000" y="10000"/>
                </a:lnTo>
                <a:lnTo>
                  <a:pt x="30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172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noise_up_250" descr="Editable line; source id noise_up_250"/>
          <p:cNvCxnSpPr/>
          <p:nvPr/>
        </p:nvCxnSpPr>
        <p:spPr>
          <a:xfrm flipV="1">
            <a:off x="2447440" y="1672525"/>
            <a:ext cx="0" cy="103322"/>
          </a:xfrm>
          <a:prstGeom prst="line">
            <a:avLst/>
          </a:prstGeom>
          <a:ln w="12915">
            <a:solidFill>
              <a:srgbClr val="172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noise_label_250" descr="Editable text; source id noise_label_250"/>
          <p:cNvSpPr txBox="1"/>
          <p:nvPr/>
        </p:nvSpPr>
        <p:spPr>
          <a:xfrm>
            <a:off x="2292457" y="1762932"/>
            <a:ext cx="387457" cy="1937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69"/>
              </a:lnSpc>
              <a:spcBef>
                <a:spcPts val="0"/>
              </a:spcBef>
              <a:spcAft>
                <a:spcPts val="0"/>
              </a:spcAft>
              <a:defRPr sz="1016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16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108" name="noise_plus_351" descr="Editable shape; source id noise_plus_351"/>
          <p:cNvSpPr/>
          <p:nvPr/>
        </p:nvSpPr>
        <p:spPr>
          <a:xfrm>
            <a:off x="2395779" y="2214966"/>
            <a:ext cx="103322" cy="103322"/>
          </a:xfrm>
          <a:prstGeom prst="ellipse">
            <a:avLst/>
          </a:prstGeom>
          <a:noFill/>
          <a:ln w="14206">
            <a:solidFill>
              <a:srgbClr val="172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plus_v_351" descr="Editable line; source id plus_v_351"/>
          <p:cNvCxnSpPr/>
          <p:nvPr/>
        </p:nvCxnSpPr>
        <p:spPr>
          <a:xfrm>
            <a:off x="2447440" y="2214966"/>
            <a:ext cx="0" cy="103322"/>
          </a:xfrm>
          <a:prstGeom prst="line">
            <a:avLst/>
          </a:prstGeom>
          <a:ln w="13561">
            <a:solidFill>
              <a:srgbClr val="172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plus_h_351" descr="Editable line; source id plus_h_351"/>
          <p:cNvCxnSpPr/>
          <p:nvPr/>
        </p:nvCxnSpPr>
        <p:spPr>
          <a:xfrm>
            <a:off x="2395779" y="2266627"/>
            <a:ext cx="103322" cy="0"/>
          </a:xfrm>
          <a:prstGeom prst="line">
            <a:avLst/>
          </a:prstGeom>
          <a:ln w="13561">
            <a:solidFill>
              <a:srgbClr val="172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noise_to_351" descr="Editable line; source id noise_to_351"/>
          <p:cNvSpPr/>
          <p:nvPr/>
        </p:nvSpPr>
        <p:spPr>
          <a:xfrm>
            <a:off x="2318288" y="2234339"/>
            <a:ext cx="258305" cy="64576"/>
          </a:xfrm>
          <a:custGeom>
            <a:avLst/>
            <a:gdLst/>
            <a:ahLst/>
            <a:cxnLst/>
            <a:rect l="l" t="t" r="r" b="b"/>
            <a:pathLst>
              <a:path w="40000" h="10000">
                <a:moveTo>
                  <a:pt x="0" y="4100"/>
                </a:moveTo>
                <a:lnTo>
                  <a:pt x="30000" y="4100"/>
                </a:lnTo>
                <a:lnTo>
                  <a:pt x="30000" y="0"/>
                </a:lnTo>
                <a:lnTo>
                  <a:pt x="40000" y="5000"/>
                </a:lnTo>
                <a:lnTo>
                  <a:pt x="30000" y="10000"/>
                </a:lnTo>
                <a:lnTo>
                  <a:pt x="30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172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noise_up_351" descr="Editable line; source id noise_up_351"/>
          <p:cNvCxnSpPr/>
          <p:nvPr/>
        </p:nvCxnSpPr>
        <p:spPr>
          <a:xfrm flipV="1">
            <a:off x="2447440" y="2324745"/>
            <a:ext cx="0" cy="103322"/>
          </a:xfrm>
          <a:prstGeom prst="line">
            <a:avLst/>
          </a:prstGeom>
          <a:ln w="12915">
            <a:solidFill>
              <a:srgbClr val="172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noise_label_351" descr="Editable text; source id noise_label_351"/>
          <p:cNvSpPr txBox="1"/>
          <p:nvPr/>
        </p:nvSpPr>
        <p:spPr>
          <a:xfrm>
            <a:off x="2292457" y="2415152"/>
            <a:ext cx="387457" cy="1937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69"/>
              </a:lnSpc>
              <a:spcBef>
                <a:spcPts val="0"/>
              </a:spcBef>
              <a:spcAft>
                <a:spcPts val="0"/>
              </a:spcAft>
              <a:defRPr sz="1016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16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114" name="state_rear" descr="Editable shape; source id state_rear"/>
          <p:cNvSpPr/>
          <p:nvPr/>
        </p:nvSpPr>
        <p:spPr>
          <a:xfrm>
            <a:off x="1330271" y="2834898"/>
            <a:ext cx="607017" cy="690966"/>
          </a:xfrm>
          <a:custGeom>
            <a:avLst/>
            <a:gdLst/>
            <a:ahLst/>
            <a:cxnLst/>
            <a:rect l="l" t="t" r="r" b="b"/>
            <a:pathLst>
              <a:path w="94000" h="107000">
                <a:moveTo>
                  <a:pt x="0" y="0"/>
                </a:moveTo>
                <a:lnTo>
                  <a:pt x="94000" y="10700"/>
                </a:lnTo>
                <a:lnTo>
                  <a:pt x="94000" y="96300"/>
                </a:lnTo>
                <a:lnTo>
                  <a:pt x="0" y="107000"/>
                </a:lnTo>
                <a:close/>
              </a:path>
            </a:pathLst>
          </a:custGeom>
          <a:solidFill>
            <a:srgbClr val="EEEEEE"/>
          </a:solidFill>
          <a:ln w="3228">
            <a:solidFill>
              <a:srgbClr val="CCCCC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tate" descr="Editable shape; source id state"/>
          <p:cNvSpPr/>
          <p:nvPr/>
        </p:nvSpPr>
        <p:spPr>
          <a:xfrm>
            <a:off x="1433593" y="2957593"/>
            <a:ext cx="607017" cy="703881"/>
          </a:xfrm>
          <a:custGeom>
            <a:avLst/>
            <a:gdLst/>
            <a:ahLst/>
            <a:cxnLst/>
            <a:rect l="l" t="t" r="r" b="b"/>
            <a:pathLst>
              <a:path w="94000" h="109000">
                <a:moveTo>
                  <a:pt x="0" y="0"/>
                </a:moveTo>
                <a:lnTo>
                  <a:pt x="94000" y="10900"/>
                </a:lnTo>
                <a:lnTo>
                  <a:pt x="94000" y="98100"/>
                </a:lnTo>
                <a:lnTo>
                  <a:pt x="0" y="109000"/>
                </a:lnTo>
                <a:close/>
              </a:path>
            </a:pathLst>
          </a:custGeom>
          <a:solidFill>
            <a:srgbClr val="EEEEEE"/>
          </a:solidFill>
          <a:ln w="6457">
            <a:solidFill>
              <a:srgbClr val="BBBBB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tate_label" descr="Editable text; source id state_label"/>
          <p:cNvSpPr txBox="1"/>
          <p:nvPr/>
        </p:nvSpPr>
        <p:spPr>
          <a:xfrm>
            <a:off x="1459423" y="3169403"/>
            <a:ext cx="555355" cy="29963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State/Text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7" name="istate_rear" descr="Editable shape; source id istate_rear"/>
          <p:cNvSpPr/>
          <p:nvPr/>
        </p:nvSpPr>
        <p:spPr>
          <a:xfrm>
            <a:off x="7510220" y="2563678"/>
            <a:ext cx="607017" cy="690966"/>
          </a:xfrm>
          <a:custGeom>
            <a:avLst/>
            <a:gdLst/>
            <a:ahLst/>
            <a:cxnLst/>
            <a:rect l="l" t="t" r="r" b="b"/>
            <a:pathLst>
              <a:path w="94000" h="107000">
                <a:moveTo>
                  <a:pt x="0" y="0"/>
                </a:moveTo>
                <a:lnTo>
                  <a:pt x="94000" y="10700"/>
                </a:lnTo>
                <a:lnTo>
                  <a:pt x="94000" y="96300"/>
                </a:lnTo>
                <a:lnTo>
                  <a:pt x="0" y="107000"/>
                </a:lnTo>
                <a:close/>
              </a:path>
            </a:pathLst>
          </a:custGeom>
          <a:solidFill>
            <a:srgbClr val="EEEEEE"/>
          </a:solidFill>
          <a:ln w="3228">
            <a:solidFill>
              <a:srgbClr val="CCCCC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istate" descr="Editable shape; source id istate"/>
          <p:cNvSpPr/>
          <p:nvPr/>
        </p:nvSpPr>
        <p:spPr>
          <a:xfrm>
            <a:off x="7613542" y="2686373"/>
            <a:ext cx="607017" cy="703881"/>
          </a:xfrm>
          <a:custGeom>
            <a:avLst/>
            <a:gdLst/>
            <a:ahLst/>
            <a:cxnLst/>
            <a:rect l="l" t="t" r="r" b="b"/>
            <a:pathLst>
              <a:path w="94000" h="109000">
                <a:moveTo>
                  <a:pt x="0" y="0"/>
                </a:moveTo>
                <a:lnTo>
                  <a:pt x="94000" y="10900"/>
                </a:lnTo>
                <a:lnTo>
                  <a:pt x="94000" y="98100"/>
                </a:lnTo>
                <a:lnTo>
                  <a:pt x="0" y="109000"/>
                </a:lnTo>
                <a:close/>
              </a:path>
            </a:pathLst>
          </a:custGeom>
          <a:solidFill>
            <a:srgbClr val="EEEEEE"/>
          </a:solidFill>
          <a:ln w="6457">
            <a:solidFill>
              <a:srgbClr val="BBBBB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istate_label" descr="Editable text; source id istate_label"/>
          <p:cNvSpPr txBox="1"/>
          <p:nvPr/>
        </p:nvSpPr>
        <p:spPr>
          <a:xfrm>
            <a:off x="7639372" y="2898182"/>
            <a:ext cx="555355" cy="29963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State/Text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20" name="proprio" descr="Editable text; source id proprio"/>
          <p:cNvSpPr txBox="1"/>
          <p:nvPr/>
        </p:nvSpPr>
        <p:spPr>
          <a:xfrm>
            <a:off x="167898" y="2931762"/>
            <a:ext cx="1168830" cy="2260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Proprioception</a:t>
            </a:r>
          </a:p>
        </p:txBody>
      </p:sp>
      <p:sp>
        <p:nvSpPr>
          <p:cNvPr id="121" name="language" descr="Editable text; source id language"/>
          <p:cNvSpPr txBox="1"/>
          <p:nvPr/>
        </p:nvSpPr>
        <p:spPr>
          <a:xfrm>
            <a:off x="355169" y="3228813"/>
            <a:ext cx="897610" cy="2260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122" name="prompt" descr="Editable text; source id prompt"/>
          <p:cNvSpPr txBox="1"/>
          <p:nvPr/>
        </p:nvSpPr>
        <p:spPr>
          <a:xfrm>
            <a:off x="213101" y="3416084"/>
            <a:ext cx="1013847" cy="30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“Pack up the fruits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 the bag”</a:t>
            </a:r>
          </a:p>
        </p:txBody>
      </p:sp>
      <p:sp>
        <p:nvSpPr>
          <p:cNvPr id="123" name="iproprio" descr="Editable text; source id iproprio"/>
          <p:cNvSpPr txBox="1"/>
          <p:nvPr/>
        </p:nvSpPr>
        <p:spPr>
          <a:xfrm>
            <a:off x="6347847" y="2654084"/>
            <a:ext cx="1188203" cy="2260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Proprioception</a:t>
            </a:r>
          </a:p>
        </p:txBody>
      </p:sp>
      <p:sp>
        <p:nvSpPr>
          <p:cNvPr id="124" name="ilanguage" descr="Editable text; source id ilanguage"/>
          <p:cNvSpPr txBox="1"/>
          <p:nvPr/>
        </p:nvSpPr>
        <p:spPr>
          <a:xfrm>
            <a:off x="6535118" y="2951135"/>
            <a:ext cx="968644" cy="2260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125" name="iprompt" descr="Editable text; source id iprompt"/>
          <p:cNvSpPr txBox="1"/>
          <p:nvPr/>
        </p:nvSpPr>
        <p:spPr>
          <a:xfrm>
            <a:off x="6399508" y="3138406"/>
            <a:ext cx="1013847" cy="30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“Pack up the fruits</a:t>
            </a:r>
          </a:p>
          <a:p>
            <a:pPr algn="ctr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5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 the bag”</a:t>
            </a:r>
          </a:p>
        </p:txBody>
      </p:sp>
      <p:cxnSp>
        <p:nvCxnSpPr>
          <p:cNvPr id="126" name="state_right" descr="Editable line; source id state_right"/>
          <p:cNvCxnSpPr/>
          <p:nvPr/>
        </p:nvCxnSpPr>
        <p:spPr>
          <a:xfrm>
            <a:off x="2124559" y="3319220"/>
            <a:ext cx="1556288" cy="0"/>
          </a:xfrm>
          <a:prstGeom prst="line">
            <a:avLst/>
          </a:prstGeom>
          <a:ln w="904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state_up" descr="Editable line; source id state_up"/>
          <p:cNvSpPr/>
          <p:nvPr/>
        </p:nvSpPr>
        <p:spPr>
          <a:xfrm>
            <a:off x="3648559" y="2725119"/>
            <a:ext cx="64576" cy="594102"/>
          </a:xfrm>
          <a:custGeom>
            <a:avLst/>
            <a:gdLst/>
            <a:ahLst/>
            <a:cxnLst/>
            <a:rect l="l" t="t" r="r" b="b"/>
            <a:pathLst>
              <a:path w="10000" h="92000">
                <a:moveTo>
                  <a:pt x="4300" y="92000"/>
                </a:moveTo>
                <a:lnTo>
                  <a:pt x="4300" y="10000"/>
                </a:lnTo>
                <a:lnTo>
                  <a:pt x="0" y="10000"/>
                </a:lnTo>
                <a:lnTo>
                  <a:pt x="5000" y="0"/>
                </a:lnTo>
                <a:lnTo>
                  <a:pt x="10000" y="10000"/>
                </a:lnTo>
                <a:lnTo>
                  <a:pt x="5700" y="10000"/>
                </a:lnTo>
                <a:lnTo>
                  <a:pt x="5700" y="92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istate_right" descr="Editable line; source id istate_right"/>
          <p:cNvCxnSpPr/>
          <p:nvPr/>
        </p:nvCxnSpPr>
        <p:spPr>
          <a:xfrm>
            <a:off x="8304508" y="3035084"/>
            <a:ext cx="690966" cy="0"/>
          </a:xfrm>
          <a:prstGeom prst="line">
            <a:avLst/>
          </a:prstGeom>
          <a:ln w="904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istate_up" descr="Editable line; source id istate_up"/>
          <p:cNvSpPr/>
          <p:nvPr/>
        </p:nvSpPr>
        <p:spPr>
          <a:xfrm>
            <a:off x="8963186" y="2731576"/>
            <a:ext cx="64576" cy="303508"/>
          </a:xfrm>
          <a:custGeom>
            <a:avLst/>
            <a:gdLst/>
            <a:ahLst/>
            <a:cxnLst/>
            <a:rect l="l" t="t" r="r" b="b"/>
            <a:pathLst>
              <a:path w="10000" h="47000">
                <a:moveTo>
                  <a:pt x="4300" y="47000"/>
                </a:moveTo>
                <a:lnTo>
                  <a:pt x="4300" y="10000"/>
                </a:lnTo>
                <a:lnTo>
                  <a:pt x="0" y="10000"/>
                </a:lnTo>
                <a:lnTo>
                  <a:pt x="5000" y="0"/>
                </a:lnTo>
                <a:lnTo>
                  <a:pt x="10000" y="10000"/>
                </a:lnTo>
                <a:lnTo>
                  <a:pt x="5700" y="10000"/>
                </a:lnTo>
                <a:lnTo>
                  <a:pt x="5700" y="47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0" name="joint_merge_curve" descr="Exact independent crop of Figure 4 source raster; CC BY 4.0, Ye et al. (2026).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6355" y="1543372"/>
            <a:ext cx="271220" cy="749084"/>
          </a:xfrm>
          <a:prstGeom prst="rect">
            <a:avLst/>
          </a:prstGeom>
          <a:effectLst/>
        </p:spPr>
      </p:pic>
      <p:sp>
        <p:nvSpPr>
          <p:cNvPr id="131" name="joint_label" descr="Editable text; source id joint_label"/>
          <p:cNvSpPr txBox="1"/>
          <p:nvPr/>
        </p:nvSpPr>
        <p:spPr>
          <a:xfrm>
            <a:off x="5036949" y="1704813"/>
            <a:ext cx="871779" cy="4003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84775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847750"/>
                </a:solidFill>
                <a:latin typeface="Arial"/>
                <a:ea typeface="Arial"/>
                <a:cs typeface="Arial"/>
              </a:rPr>
              <a:t>Joint flow</a:t>
            </a:r>
          </a:p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0" i="0" lang="zh-CN" dirty="0">
                <a:solidFill>
                  <a:srgbClr val="847750"/>
                </a:solidFill>
                <a:latin typeface="Arial"/>
                <a:ea typeface="Arial"/>
                <a:cs typeface="Arial"/>
              </a:defRPr>
            </a:pPr>
            <a:r>
              <a:rPr sz="1220" b="0" i="0" lang="zh-CN" dirty="0">
                <a:solidFill>
                  <a:srgbClr val="847750"/>
                </a:solidFill>
                <a:latin typeface="Arial"/>
                <a:ea typeface="Arial"/>
                <a:cs typeface="Arial"/>
              </a:rPr>
              <a:t>matching</a:t>
            </a:r>
          </a:p>
        </p:txBody>
      </p:sp>
      <p:sp>
        <p:nvSpPr>
          <p:cNvPr id="132" name="teacher" descr="Editable text; source id teacher"/>
          <p:cNvSpPr txBox="1"/>
          <p:nvPr/>
        </p:nvSpPr>
        <p:spPr>
          <a:xfrm>
            <a:off x="4959457" y="2079355"/>
            <a:ext cx="949271" cy="1872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defRPr sz="915" b="0" i="0" lang="zh-CN" dirty="0">
                <a:solidFill>
                  <a:srgbClr val="847750"/>
                </a:solidFill>
                <a:latin typeface="Arial"/>
                <a:ea typeface="Arial"/>
                <a:cs typeface="Arial"/>
              </a:defRPr>
            </a:pPr>
            <a:r>
              <a:rPr sz="915" b="0" i="0" lang="zh-CN" dirty="0">
                <a:solidFill>
                  <a:srgbClr val="847750"/>
                </a:solidFill>
                <a:latin typeface="Arial"/>
                <a:ea typeface="Arial"/>
                <a:cs typeface="Arial"/>
              </a:rPr>
              <a:t>(Teacher forcing)</a:t>
            </a:r>
          </a:p>
        </p:txBody>
      </p:sp>
      <p:pic>
        <p:nvPicPr>
          <p:cNvPr id="133" name="autoregressive_loop" descr="Exact independent crop of Figure 4 source raster; CC BY 4.0, Ye et al. (2026).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2406" y="2570135"/>
            <a:ext cx="1543372" cy="316423"/>
          </a:xfrm>
          <a:prstGeom prst="rect">
            <a:avLst/>
          </a:prstGeom>
          <a:effectLst/>
        </p:spPr>
      </p:pic>
      <p:sp>
        <p:nvSpPr>
          <p:cNvPr id="134" name="sampling" descr="Editable text; source id sampling"/>
          <p:cNvSpPr txBox="1"/>
          <p:nvPr/>
        </p:nvSpPr>
        <p:spPr>
          <a:xfrm>
            <a:off x="9615406" y="2854271"/>
            <a:ext cx="1046135" cy="3422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69"/>
              </a:lnSpc>
              <a:spcBef>
                <a:spcPts val="0"/>
              </a:spcBef>
              <a:spcAft>
                <a:spcPts val="0"/>
              </a:spcAft>
              <a:defRPr sz="1016" b="0" i="0" lang="zh-CN" dirty="0">
                <a:solidFill>
                  <a:srgbClr val="AAAAAA"/>
                </a:solidFill>
                <a:latin typeface="Arial"/>
                <a:ea typeface="Arial"/>
                <a:cs typeface="Arial"/>
              </a:defRPr>
            </a:pPr>
            <a:r>
              <a:rPr sz="1016" b="0" i="0" lang="zh-CN" dirty="0">
                <a:solidFill>
                  <a:srgbClr val="AAAAAA"/>
                </a:solidFill>
                <a:latin typeface="Arial"/>
                <a:ea typeface="Arial"/>
                <a:cs typeface="Arial"/>
              </a:rPr>
              <a:t>Autoregressive</a:t>
            </a:r>
          </a:p>
          <a:p>
            <a:pPr algn="ctr" fontAlgn="base">
              <a:lnSpc>
                <a:spcPts val="1169"/>
              </a:lnSpc>
              <a:spcBef>
                <a:spcPts val="0"/>
              </a:spcBef>
              <a:spcAft>
                <a:spcPts val="0"/>
              </a:spcAft>
              <a:defRPr sz="1016" b="0" i="0" lang="zh-CN" dirty="0">
                <a:solidFill>
                  <a:srgbClr val="AAAAAA"/>
                </a:solidFill>
                <a:latin typeface="Arial"/>
                <a:ea typeface="Arial"/>
                <a:cs typeface="Arial"/>
              </a:defRPr>
            </a:pPr>
            <a:r>
              <a:rPr sz="1016" b="0" i="0" lang="zh-CN" dirty="0">
                <a:solidFill>
                  <a:srgbClr val="AAAAAA"/>
                </a:solidFill>
                <a:latin typeface="Arial"/>
                <a:ea typeface="Arial"/>
                <a:cs typeface="Arial"/>
              </a:rPr>
              <a:t>flow sampling</a:t>
            </a:r>
          </a:p>
        </p:txBody>
      </p:sp>
      <p:sp>
        <p:nvSpPr>
          <p:cNvPr id="135" name="execution_card" descr="Editable shape; source id execution_card"/>
          <p:cNvSpPr/>
          <p:nvPr/>
        </p:nvSpPr>
        <p:spPr>
          <a:xfrm>
            <a:off x="11016711" y="2634711"/>
            <a:ext cx="994474" cy="936355"/>
          </a:xfrm>
          <a:prstGeom prst="roundRect">
            <a:avLst>
              <a:gd name="adj" fmla="val 14482"/>
            </a:avLst>
          </a:prstGeom>
          <a:solidFill>
            <a:srgbClr val="E6E6E6"/>
          </a:solidFill>
          <a:ln w="3228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xecution_label" descr="Editable text; source id execution_label"/>
          <p:cNvSpPr txBox="1"/>
          <p:nvPr/>
        </p:nvSpPr>
        <p:spPr>
          <a:xfrm>
            <a:off x="11087745" y="2686372"/>
            <a:ext cx="923440" cy="2970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94"/>
              </a:lnSpc>
              <a:spcBef>
                <a:spcPts val="0"/>
              </a:spcBef>
              <a:spcAft>
                <a:spcPts val="0"/>
              </a:spcAft>
              <a:defRPr sz="864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4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Async real-world</a:t>
            </a:r>
          </a:p>
          <a:p>
            <a:pPr algn="ctr" fontAlgn="base">
              <a:lnSpc>
                <a:spcPts val="994"/>
              </a:lnSpc>
              <a:spcBef>
                <a:spcPts val="0"/>
              </a:spcBef>
              <a:spcAft>
                <a:spcPts val="0"/>
              </a:spcAft>
              <a:defRPr sz="864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4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pic>
        <p:nvPicPr>
          <p:cNvPr id="137" name="execution_photo" descr="Exact independent crop of Figure 4 source raster; CC BY 4.0, Ye et al. (2026).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20033" y="2976966"/>
            <a:ext cx="794288" cy="535983"/>
          </a:xfrm>
          <a:prstGeom prst="rect">
            <a:avLst/>
          </a:prstGeom>
          <a:effectLst/>
        </p:spPr>
      </p:pic>
      <p:cxnSp>
        <p:nvCxnSpPr>
          <p:cNvPr id="138" name="fb_left" descr="Editable line; source id fb_left"/>
          <p:cNvCxnSpPr/>
          <p:nvPr/>
        </p:nvCxnSpPr>
        <p:spPr>
          <a:xfrm flipV="1">
            <a:off x="6141203" y="1569203"/>
            <a:ext cx="0" cy="2131017"/>
          </a:xfrm>
          <a:prstGeom prst="line">
            <a:avLst/>
          </a:prstGeom>
          <a:ln w="25830">
            <a:solidFill>
              <a:srgbClr val="527F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fb_bottom" descr="Editable line; source id fb_bottom"/>
          <p:cNvCxnSpPr/>
          <p:nvPr/>
        </p:nvCxnSpPr>
        <p:spPr>
          <a:xfrm>
            <a:off x="6141203" y="3700220"/>
            <a:ext cx="5372745" cy="0"/>
          </a:xfrm>
          <a:prstGeom prst="line">
            <a:avLst/>
          </a:prstGeom>
          <a:ln w="25830">
            <a:solidFill>
              <a:srgbClr val="527F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fb_right" descr="Editable line; source id fb_right"/>
          <p:cNvCxnSpPr/>
          <p:nvPr/>
        </p:nvCxnSpPr>
        <p:spPr>
          <a:xfrm flipV="1">
            <a:off x="11513948" y="3571067"/>
            <a:ext cx="0" cy="129153"/>
          </a:xfrm>
          <a:prstGeom prst="line">
            <a:avLst/>
          </a:prstGeom>
          <a:ln w="25830">
            <a:solidFill>
              <a:srgbClr val="527F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fb_top_right" descr="Editable line; source id fb_top_right"/>
          <p:cNvCxnSpPr/>
          <p:nvPr/>
        </p:nvCxnSpPr>
        <p:spPr>
          <a:xfrm flipV="1">
            <a:off x="11513948" y="2550762"/>
            <a:ext cx="0" cy="83949"/>
          </a:xfrm>
          <a:prstGeom prst="line">
            <a:avLst/>
          </a:prstGeom>
          <a:ln w="25830">
            <a:solidFill>
              <a:srgbClr val="527F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fb_video" descr="Editable line; source id fb_video"/>
          <p:cNvSpPr/>
          <p:nvPr/>
        </p:nvSpPr>
        <p:spPr>
          <a:xfrm>
            <a:off x="6141203" y="1536915"/>
            <a:ext cx="251847" cy="64576"/>
          </a:xfrm>
          <a:custGeom>
            <a:avLst/>
            <a:gdLst/>
            <a:ahLst/>
            <a:cxnLst/>
            <a:rect l="l" t="t" r="r" b="b"/>
            <a:pathLst>
              <a:path w="39000" h="10000">
                <a:moveTo>
                  <a:pt x="0" y="3000"/>
                </a:moveTo>
                <a:lnTo>
                  <a:pt x="29000" y="3000"/>
                </a:lnTo>
                <a:lnTo>
                  <a:pt x="29000" y="0"/>
                </a:lnTo>
                <a:lnTo>
                  <a:pt x="39000" y="5000"/>
                </a:lnTo>
                <a:lnTo>
                  <a:pt x="29000" y="10000"/>
                </a:lnTo>
                <a:lnTo>
                  <a:pt x="29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527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b_prop" descr="Editable line; source id fb_prop"/>
          <p:cNvSpPr/>
          <p:nvPr/>
        </p:nvSpPr>
        <p:spPr>
          <a:xfrm>
            <a:off x="6141203" y="2725119"/>
            <a:ext cx="174356" cy="64576"/>
          </a:xfrm>
          <a:custGeom>
            <a:avLst/>
            <a:gdLst/>
            <a:ahLst/>
            <a:cxnLst/>
            <a:rect l="l" t="t" r="r" b="b"/>
            <a:pathLst>
              <a:path w="27000" h="10000">
                <a:moveTo>
                  <a:pt x="0" y="3000"/>
                </a:moveTo>
                <a:lnTo>
                  <a:pt x="17000" y="3000"/>
                </a:lnTo>
                <a:lnTo>
                  <a:pt x="17000" y="0"/>
                </a:lnTo>
                <a:lnTo>
                  <a:pt x="27000" y="5000"/>
                </a:lnTo>
                <a:lnTo>
                  <a:pt x="17000" y="10000"/>
                </a:lnTo>
                <a:lnTo>
                  <a:pt x="17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527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b_kv" descr="Editable line; source id fb_kv"/>
          <p:cNvSpPr/>
          <p:nvPr/>
        </p:nvSpPr>
        <p:spPr>
          <a:xfrm>
            <a:off x="9215034" y="2731576"/>
            <a:ext cx="64576" cy="968644"/>
          </a:xfrm>
          <a:custGeom>
            <a:avLst/>
            <a:gdLst/>
            <a:ahLst/>
            <a:cxnLst/>
            <a:rect l="l" t="t" r="r" b="b"/>
            <a:pathLst>
              <a:path w="10000" h="150000">
                <a:moveTo>
                  <a:pt x="3000" y="150000"/>
                </a:moveTo>
                <a:lnTo>
                  <a:pt x="3000" y="10000"/>
                </a:lnTo>
                <a:lnTo>
                  <a:pt x="0" y="10000"/>
                </a:lnTo>
                <a:lnTo>
                  <a:pt x="5000" y="0"/>
                </a:lnTo>
                <a:lnTo>
                  <a:pt x="10000" y="10000"/>
                </a:lnTo>
                <a:lnTo>
                  <a:pt x="7000" y="10000"/>
                </a:lnTo>
                <a:lnTo>
                  <a:pt x="7000" y="150000"/>
                </a:lnTo>
                <a:close/>
              </a:path>
            </a:pathLst>
          </a:custGeom>
          <a:solidFill>
            <a:srgbClr val="527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update" descr="Editable text; source id update"/>
          <p:cNvSpPr txBox="1"/>
          <p:nvPr/>
        </p:nvSpPr>
        <p:spPr>
          <a:xfrm>
            <a:off x="8110779" y="3771254"/>
            <a:ext cx="2731576" cy="2260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3"/>
              </a:lnSpc>
              <a:spcBef>
                <a:spcPts val="0"/>
              </a:spcBef>
              <a:spcAft>
                <a:spcPts val="0"/>
              </a:spcAft>
              <a:defRPr sz="1220" b="1" i="0" lang="zh-CN" dirty="0">
                <a:solidFill>
                  <a:srgbClr val="426154"/>
                </a:solidFill>
                <a:latin typeface="Arial"/>
                <a:ea typeface="Arial"/>
                <a:cs typeface="Arial"/>
              </a:defRPr>
            </a:pPr>
            <a:r>
              <a:rPr sz="1220" b="1" i="0" lang="zh-CN" dirty="0">
                <a:solidFill>
                  <a:srgbClr val="426154"/>
                </a:solidFill>
                <a:latin typeface="Arial"/>
                <a:ea typeface="Arial"/>
                <a:cs typeface="Arial"/>
              </a:rPr>
              <a:t>Update with Real Observation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