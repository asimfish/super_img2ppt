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320973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published Figure 2; attribution in ATTRIBUTION.md. Image-only crops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ncoder_panel" descr="Editable shape; source id encoder_panel"/>
          <p:cNvSpPr/>
          <p:nvPr/>
        </p:nvSpPr>
        <p:spPr>
          <a:xfrm>
            <a:off x="5424195" y="136848"/>
            <a:ext cx="6531428" cy="2712097"/>
          </a:xfrm>
          <a:prstGeom prst="roundRect">
            <a:avLst>
              <a:gd name="adj" fmla="val 3669"/>
            </a:avLst>
          </a:prstGeom>
          <a:solidFill>
            <a:srgbClr val="F5F5F5"/>
          </a:solidFill>
          <a:ln w="111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egend" descr="Editable shape; source id legend"/>
          <p:cNvSpPr/>
          <p:nvPr/>
        </p:nvSpPr>
        <p:spPr>
          <a:xfrm>
            <a:off x="186612" y="174171"/>
            <a:ext cx="1492897" cy="1492897"/>
          </a:xfrm>
          <a:prstGeom prst="roundRect">
            <a:avLst>
              <a:gd name="adj" fmla="val 3333"/>
            </a:avLst>
          </a:prstGeom>
          <a:noFill/>
          <a:ln w="11196">
            <a:solidFill>
              <a:srgbClr val="000000"/>
            </a:solidFill>
            <a:custDash>
              <a:ds d="555556" sp="444444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egend_projection" descr="Editable shape; source id legend_projection"/>
          <p:cNvSpPr/>
          <p:nvPr/>
        </p:nvSpPr>
        <p:spPr>
          <a:xfrm>
            <a:off x="273697" y="273697"/>
            <a:ext cx="236375" cy="211493"/>
          </a:xfrm>
          <a:prstGeom prst="rect">
            <a:avLst/>
          </a:prstGeom>
          <a:solidFill>
            <a:srgbClr val="DFD3E2"/>
          </a:solidFill>
          <a:ln w="11196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gend_patch" descr="Editable shape; source id legend_patch"/>
          <p:cNvSpPr/>
          <p:nvPr/>
        </p:nvSpPr>
        <p:spPr>
          <a:xfrm>
            <a:off x="273697" y="634481"/>
            <a:ext cx="124408" cy="211493"/>
          </a:xfrm>
          <a:prstGeom prst="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gend_position" descr="Editable shape; source id legend_position"/>
          <p:cNvSpPr/>
          <p:nvPr/>
        </p:nvSpPr>
        <p:spPr>
          <a:xfrm>
            <a:off x="273697" y="982824"/>
            <a:ext cx="124408" cy="211493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gend_class" descr="Editable shape; source id legend_class"/>
          <p:cNvSpPr/>
          <p:nvPr/>
        </p:nvSpPr>
        <p:spPr>
          <a:xfrm>
            <a:off x="273697" y="1318726"/>
            <a:ext cx="124408" cy="211493"/>
          </a:xfrm>
          <a:prstGeom prst="rect">
            <a:avLst/>
          </a:prstGeom>
          <a:solidFill>
            <a:srgbClr val="DF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gend_patch2" descr="Editable shape; source id legend_patch2"/>
          <p:cNvSpPr/>
          <p:nvPr/>
        </p:nvSpPr>
        <p:spPr>
          <a:xfrm>
            <a:off x="398106" y="634481"/>
            <a:ext cx="111967" cy="211493"/>
          </a:xfrm>
          <a:prstGeom prst="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gend_pos2" descr="Editable shape; source id legend_pos2"/>
          <p:cNvSpPr/>
          <p:nvPr/>
        </p:nvSpPr>
        <p:spPr>
          <a:xfrm>
            <a:off x="398106" y="982824"/>
            <a:ext cx="111967" cy="211493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lp" descr="Editable shape; source id mlp"/>
          <p:cNvSpPr/>
          <p:nvPr/>
        </p:nvSpPr>
        <p:spPr>
          <a:xfrm>
            <a:off x="1965648" y="136848"/>
            <a:ext cx="2587689" cy="373224"/>
          </a:xfrm>
          <a:prstGeom prst="roundRect">
            <a:avLst>
              <a:gd name="adj" fmla="val 16666"/>
            </a:avLst>
          </a:prstGeom>
          <a:solidFill>
            <a:srgbClr val="F6F6F6"/>
          </a:solidFill>
          <a:ln w="111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ision" descr="Editable shape; source id vision"/>
          <p:cNvSpPr/>
          <p:nvPr/>
        </p:nvSpPr>
        <p:spPr>
          <a:xfrm>
            <a:off x="1965648" y="796212"/>
            <a:ext cx="2587689" cy="547395"/>
          </a:xfrm>
          <a:prstGeom prst="roundRect">
            <a:avLst>
              <a:gd name="adj" fmla="val 11363"/>
            </a:avLst>
          </a:prstGeom>
          <a:solidFill>
            <a:srgbClr val="F6F6F6"/>
          </a:solidFill>
          <a:ln w="111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latten" descr="Editable shape; source id flatten"/>
          <p:cNvSpPr/>
          <p:nvPr/>
        </p:nvSpPr>
        <p:spPr>
          <a:xfrm>
            <a:off x="1965648" y="1940767"/>
            <a:ext cx="2587689" cy="373224"/>
          </a:xfrm>
          <a:prstGeom prst="roundRect">
            <a:avLst>
              <a:gd name="adj" fmla="val 16666"/>
            </a:avLst>
          </a:prstGeom>
          <a:solidFill>
            <a:srgbClr val="F6F6F6"/>
          </a:solidFill>
          <a:ln w="111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oken_0" descr="Editable shape; source id token_0"/>
          <p:cNvSpPr/>
          <p:nvPr/>
        </p:nvSpPr>
        <p:spPr>
          <a:xfrm>
            <a:off x="2027853" y="1542661"/>
            <a:ext cx="223934" cy="211493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oken_1" descr="Editable shape; source id token_1"/>
          <p:cNvSpPr/>
          <p:nvPr/>
        </p:nvSpPr>
        <p:spPr>
          <a:xfrm>
            <a:off x="2276669" y="1542661"/>
            <a:ext cx="223934" cy="211493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oken_2" descr="Editable shape; source id token_2"/>
          <p:cNvSpPr/>
          <p:nvPr/>
        </p:nvSpPr>
        <p:spPr>
          <a:xfrm>
            <a:off x="2525485" y="1542661"/>
            <a:ext cx="223934" cy="211493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oken_3" descr="Editable shape; source id token_3"/>
          <p:cNvSpPr/>
          <p:nvPr/>
        </p:nvSpPr>
        <p:spPr>
          <a:xfrm>
            <a:off x="2774301" y="1542661"/>
            <a:ext cx="223934" cy="211493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oken_4" descr="Editable shape; source id token_4"/>
          <p:cNvSpPr/>
          <p:nvPr/>
        </p:nvSpPr>
        <p:spPr>
          <a:xfrm>
            <a:off x="3023118" y="1542661"/>
            <a:ext cx="223934" cy="211493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oken_5" descr="Editable shape; source id token_5"/>
          <p:cNvSpPr/>
          <p:nvPr/>
        </p:nvSpPr>
        <p:spPr>
          <a:xfrm>
            <a:off x="3271934" y="1542661"/>
            <a:ext cx="223934" cy="211493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oken_6" descr="Editable shape; source id token_6"/>
          <p:cNvSpPr/>
          <p:nvPr/>
        </p:nvSpPr>
        <p:spPr>
          <a:xfrm>
            <a:off x="3520750" y="1542661"/>
            <a:ext cx="223934" cy="211493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oken_7" descr="Editable shape; source id token_7"/>
          <p:cNvSpPr/>
          <p:nvPr/>
        </p:nvSpPr>
        <p:spPr>
          <a:xfrm>
            <a:off x="3769567" y="1542661"/>
            <a:ext cx="223934" cy="211493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oken_8" descr="Editable shape; source id token_8"/>
          <p:cNvSpPr/>
          <p:nvPr/>
        </p:nvSpPr>
        <p:spPr>
          <a:xfrm>
            <a:off x="4018383" y="1542661"/>
            <a:ext cx="223934" cy="211493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oken_9" descr="Editable shape; source id token_9"/>
          <p:cNvSpPr/>
          <p:nvPr/>
        </p:nvSpPr>
        <p:spPr>
          <a:xfrm>
            <a:off x="4267199" y="1542661"/>
            <a:ext cx="223934" cy="211493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mbedded" descr="Editable shape; source id embedded"/>
          <p:cNvSpPr/>
          <p:nvPr/>
        </p:nvSpPr>
        <p:spPr>
          <a:xfrm>
            <a:off x="4901681" y="559836"/>
            <a:ext cx="373224" cy="1803918"/>
          </a:xfrm>
          <a:prstGeom prst="roundRect">
            <a:avLst>
              <a:gd name="adj" fmla="val 16666"/>
            </a:avLst>
          </a:prstGeom>
          <a:solidFill>
            <a:srgbClr val="FBE2E2"/>
          </a:solidFill>
          <a:ln w="11196">
            <a:solidFill>
              <a:srgbClr val="D7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orm" descr="Editable shape; source id norm"/>
          <p:cNvSpPr/>
          <p:nvPr/>
        </p:nvSpPr>
        <p:spPr>
          <a:xfrm>
            <a:off x="5772538" y="1318726"/>
            <a:ext cx="709126" cy="286138"/>
          </a:xfrm>
          <a:prstGeom prst="roundRect">
            <a:avLst>
              <a:gd name="adj" fmla="val 21739"/>
            </a:avLst>
          </a:prstGeom>
          <a:solidFill>
            <a:srgbClr val="F6F6F6"/>
          </a:solidFill>
          <a:ln w="111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oj_x" descr="Editable shape; source id proj_x"/>
          <p:cNvSpPr/>
          <p:nvPr/>
        </p:nvSpPr>
        <p:spPr>
          <a:xfrm>
            <a:off x="6792686" y="298580"/>
            <a:ext cx="348343" cy="821094"/>
          </a:xfrm>
          <a:custGeom>
            <a:avLst/>
            <a:gdLst/>
            <a:ahLst/>
            <a:cxnLst/>
            <a:rect l="l" t="t" r="r" b="b"/>
            <a:pathLst>
              <a:path w="28000" h="66000">
                <a:moveTo>
                  <a:pt x="0" y="6600"/>
                </a:moveTo>
                <a:lnTo>
                  <a:pt x="28000" y="0"/>
                </a:lnTo>
                <a:lnTo>
                  <a:pt x="28000" y="66000"/>
                </a:lnTo>
                <a:lnTo>
                  <a:pt x="0" y="59400"/>
                </a:lnTo>
                <a:close/>
              </a:path>
            </a:pathLst>
          </a:custGeom>
          <a:solidFill>
            <a:srgbClr val="DFD3E2"/>
          </a:solidFill>
          <a:ln w="11196">
            <a:solidFill>
              <a:srgbClr val="80808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roj_z" descr="Editable shape; source id proj_z"/>
          <p:cNvSpPr/>
          <p:nvPr/>
        </p:nvSpPr>
        <p:spPr>
          <a:xfrm>
            <a:off x="6792686" y="1803918"/>
            <a:ext cx="348343" cy="821094"/>
          </a:xfrm>
          <a:custGeom>
            <a:avLst/>
            <a:gdLst/>
            <a:ahLst/>
            <a:cxnLst/>
            <a:rect l="l" t="t" r="r" b="b"/>
            <a:pathLst>
              <a:path w="28000" h="66000">
                <a:moveTo>
                  <a:pt x="0" y="6600"/>
                </a:moveTo>
                <a:lnTo>
                  <a:pt x="28000" y="0"/>
                </a:lnTo>
                <a:lnTo>
                  <a:pt x="28000" y="66000"/>
                </a:lnTo>
                <a:lnTo>
                  <a:pt x="0" y="59400"/>
                </a:lnTo>
                <a:close/>
              </a:path>
            </a:pathLst>
          </a:custGeom>
          <a:solidFill>
            <a:srgbClr val="DFD3E2"/>
          </a:solidFill>
          <a:ln w="11196">
            <a:solidFill>
              <a:srgbClr val="80808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oj_y" descr="Editable shape; source id proj_y"/>
          <p:cNvSpPr/>
          <p:nvPr/>
        </p:nvSpPr>
        <p:spPr>
          <a:xfrm>
            <a:off x="11146971" y="1057469"/>
            <a:ext cx="348343" cy="821094"/>
          </a:xfrm>
          <a:custGeom>
            <a:avLst/>
            <a:gdLst/>
            <a:ahLst/>
            <a:cxnLst/>
            <a:rect l="l" t="t" r="r" b="b"/>
            <a:pathLst>
              <a:path w="28000" h="66000">
                <a:moveTo>
                  <a:pt x="0" y="0"/>
                </a:moveTo>
                <a:lnTo>
                  <a:pt x="28000" y="6600"/>
                </a:lnTo>
                <a:lnTo>
                  <a:pt x="28000" y="59400"/>
                </a:lnTo>
                <a:lnTo>
                  <a:pt x="0" y="66000"/>
                </a:lnTo>
                <a:close/>
              </a:path>
            </a:pathLst>
          </a:custGeom>
          <a:solidFill>
            <a:srgbClr val="DFD3E2"/>
          </a:solidFill>
          <a:ln w="11196">
            <a:solidFill>
              <a:srgbClr val="80808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orward_conv" descr="Editable shape; source id forward_conv"/>
          <p:cNvSpPr/>
          <p:nvPr/>
        </p:nvSpPr>
        <p:spPr>
          <a:xfrm>
            <a:off x="7731967" y="500120"/>
            <a:ext cx="1045028" cy="435428"/>
          </a:xfrm>
          <a:prstGeom prst="roundRect">
            <a:avLst>
              <a:gd name="adj" fmla="val 14285"/>
            </a:avLst>
          </a:prstGeom>
          <a:solidFill>
            <a:srgbClr val="F8EDDA"/>
          </a:solidFill>
          <a:ln w="111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ackward_conv" descr="Editable shape; source id backward_conv"/>
          <p:cNvSpPr/>
          <p:nvPr/>
        </p:nvSpPr>
        <p:spPr>
          <a:xfrm>
            <a:off x="7731967" y="1246569"/>
            <a:ext cx="1045028" cy="435428"/>
          </a:xfrm>
          <a:prstGeom prst="roundRect">
            <a:avLst>
              <a:gd name="adj" fmla="val 14285"/>
            </a:avLst>
          </a:prstGeom>
          <a:solidFill>
            <a:srgbClr val="E7EDF5"/>
          </a:solidFill>
          <a:ln w="111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orward_ssm" descr="Editable shape; source id forward_ssm"/>
          <p:cNvSpPr/>
          <p:nvPr/>
        </p:nvSpPr>
        <p:spPr>
          <a:xfrm>
            <a:off x="9025812" y="500120"/>
            <a:ext cx="883297" cy="435428"/>
          </a:xfrm>
          <a:prstGeom prst="roundRect">
            <a:avLst>
              <a:gd name="adj" fmla="val 14285"/>
            </a:avLst>
          </a:prstGeom>
          <a:solidFill>
            <a:srgbClr val="FCE5BF"/>
          </a:solidFill>
          <a:ln w="111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ackward_ssm" descr="Editable shape; source id backward_ssm"/>
          <p:cNvSpPr/>
          <p:nvPr/>
        </p:nvSpPr>
        <p:spPr>
          <a:xfrm>
            <a:off x="9025812" y="1246569"/>
            <a:ext cx="883297" cy="435428"/>
          </a:xfrm>
          <a:prstGeom prst="roundRect">
            <a:avLst>
              <a:gd name="adj" fmla="val 14285"/>
            </a:avLst>
          </a:prstGeom>
          <a:solidFill>
            <a:srgbClr val="D9E7FD"/>
          </a:solidFill>
          <a:ln w="111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ctivation" descr="Editable shape; source id activation"/>
          <p:cNvSpPr/>
          <p:nvPr/>
        </p:nvSpPr>
        <p:spPr>
          <a:xfrm>
            <a:off x="7731967" y="2055222"/>
            <a:ext cx="1032587" cy="311020"/>
          </a:xfrm>
          <a:prstGeom prst="roundRect">
            <a:avLst>
              <a:gd name="adj" fmla="val 20000"/>
            </a:avLst>
          </a:prstGeom>
          <a:solidFill>
            <a:srgbClr val="F6F6F6"/>
          </a:solidFill>
          <a:ln w="111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o_mlp" descr="Editable line; source id to_mlp"/>
          <p:cNvSpPr/>
          <p:nvPr/>
        </p:nvSpPr>
        <p:spPr>
          <a:xfrm>
            <a:off x="3408784" y="510073"/>
            <a:ext cx="49763" cy="286139"/>
          </a:xfrm>
          <a:custGeom>
            <a:avLst/>
            <a:gdLst/>
            <a:ahLst/>
            <a:cxnLst/>
            <a:rect l="l" t="t" r="r" b="b"/>
            <a:pathLst>
              <a:path w="4000" h="23000">
                <a:moveTo>
                  <a:pt x="1550" y="23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23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tch_token_0" descr="Editable shape; source id patch_token_0"/>
          <p:cNvSpPr/>
          <p:nvPr/>
        </p:nvSpPr>
        <p:spPr>
          <a:xfrm>
            <a:off x="2152261" y="1542661"/>
            <a:ext cx="99526" cy="211493"/>
          </a:xfrm>
          <a:prstGeom prst="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oken_arrow_0" descr="Editable line; source id token_arrow_0"/>
          <p:cNvSpPr/>
          <p:nvPr/>
        </p:nvSpPr>
        <p:spPr>
          <a:xfrm>
            <a:off x="2189584" y="1356049"/>
            <a:ext cx="49763" cy="186612"/>
          </a:xfrm>
          <a:custGeom>
            <a:avLst/>
            <a:gdLst/>
            <a:ahLst/>
            <a:cxnLst/>
            <a:rect l="l" t="t" r="r" b="b"/>
            <a:pathLst>
              <a:path w="4000" h="15000">
                <a:moveTo>
                  <a:pt x="1550" y="15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1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token_proj_0" descr="Editable line; source id token_proj_0"/>
          <p:cNvCxnSpPr/>
          <p:nvPr/>
        </p:nvCxnSpPr>
        <p:spPr>
          <a:xfrm flipV="1">
            <a:off x="2202024" y="1754155"/>
            <a:ext cx="0" cy="186612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patch_token_1" descr="Editable shape; source id patch_token_1"/>
          <p:cNvSpPr/>
          <p:nvPr/>
        </p:nvSpPr>
        <p:spPr>
          <a:xfrm>
            <a:off x="2401077" y="1542661"/>
            <a:ext cx="99526" cy="211493"/>
          </a:xfrm>
          <a:prstGeom prst="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oken_arrow_1" descr="Editable line; source id token_arrow_1"/>
          <p:cNvSpPr/>
          <p:nvPr/>
        </p:nvSpPr>
        <p:spPr>
          <a:xfrm>
            <a:off x="2438400" y="1356049"/>
            <a:ext cx="49763" cy="186612"/>
          </a:xfrm>
          <a:custGeom>
            <a:avLst/>
            <a:gdLst/>
            <a:ahLst/>
            <a:cxnLst/>
            <a:rect l="l" t="t" r="r" b="b"/>
            <a:pathLst>
              <a:path w="4000" h="15000">
                <a:moveTo>
                  <a:pt x="1550" y="15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1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token_proj_1" descr="Editable line; source id token_proj_1"/>
          <p:cNvCxnSpPr/>
          <p:nvPr/>
        </p:nvCxnSpPr>
        <p:spPr>
          <a:xfrm flipV="1">
            <a:off x="2450840" y="1754155"/>
            <a:ext cx="0" cy="186612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patch_token_2" descr="Editable shape; source id patch_token_2"/>
          <p:cNvSpPr/>
          <p:nvPr/>
        </p:nvSpPr>
        <p:spPr>
          <a:xfrm>
            <a:off x="2649893" y="1542661"/>
            <a:ext cx="99526" cy="211493"/>
          </a:xfrm>
          <a:prstGeom prst="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oken_arrow_2" descr="Editable line; source id token_arrow_2"/>
          <p:cNvSpPr/>
          <p:nvPr/>
        </p:nvSpPr>
        <p:spPr>
          <a:xfrm>
            <a:off x="2687216" y="1356049"/>
            <a:ext cx="49763" cy="186612"/>
          </a:xfrm>
          <a:custGeom>
            <a:avLst/>
            <a:gdLst/>
            <a:ahLst/>
            <a:cxnLst/>
            <a:rect l="l" t="t" r="r" b="b"/>
            <a:pathLst>
              <a:path w="4000" h="15000">
                <a:moveTo>
                  <a:pt x="1550" y="15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1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token_proj_2" descr="Editable line; source id token_proj_2"/>
          <p:cNvCxnSpPr/>
          <p:nvPr/>
        </p:nvCxnSpPr>
        <p:spPr>
          <a:xfrm flipV="1">
            <a:off x="2699657" y="1754155"/>
            <a:ext cx="0" cy="186612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atch_token_3" descr="Editable shape; source id patch_token_3"/>
          <p:cNvSpPr/>
          <p:nvPr/>
        </p:nvSpPr>
        <p:spPr>
          <a:xfrm>
            <a:off x="2898710" y="1542661"/>
            <a:ext cx="99526" cy="211493"/>
          </a:xfrm>
          <a:prstGeom prst="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oken_arrow_3" descr="Editable line; source id token_arrow_3"/>
          <p:cNvSpPr/>
          <p:nvPr/>
        </p:nvSpPr>
        <p:spPr>
          <a:xfrm>
            <a:off x="2936033" y="1356049"/>
            <a:ext cx="49763" cy="186612"/>
          </a:xfrm>
          <a:custGeom>
            <a:avLst/>
            <a:gdLst/>
            <a:ahLst/>
            <a:cxnLst/>
            <a:rect l="l" t="t" r="r" b="b"/>
            <a:pathLst>
              <a:path w="4000" h="15000">
                <a:moveTo>
                  <a:pt x="1550" y="15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1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token_proj_3" descr="Editable line; source id token_proj_3"/>
          <p:cNvCxnSpPr/>
          <p:nvPr/>
        </p:nvCxnSpPr>
        <p:spPr>
          <a:xfrm flipV="1">
            <a:off x="2948473" y="1754155"/>
            <a:ext cx="0" cy="186612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patch_token_4" descr="Editable shape; source id patch_token_4"/>
          <p:cNvSpPr/>
          <p:nvPr/>
        </p:nvSpPr>
        <p:spPr>
          <a:xfrm>
            <a:off x="3147526" y="1542661"/>
            <a:ext cx="99526" cy="211493"/>
          </a:xfrm>
          <a:prstGeom prst="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oken_arrow_4" descr="Editable line; source id token_arrow_4"/>
          <p:cNvSpPr/>
          <p:nvPr/>
        </p:nvSpPr>
        <p:spPr>
          <a:xfrm>
            <a:off x="3184849" y="1356049"/>
            <a:ext cx="49763" cy="186612"/>
          </a:xfrm>
          <a:custGeom>
            <a:avLst/>
            <a:gdLst/>
            <a:ahLst/>
            <a:cxnLst/>
            <a:rect l="l" t="t" r="r" b="b"/>
            <a:pathLst>
              <a:path w="4000" h="15000">
                <a:moveTo>
                  <a:pt x="1550" y="15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1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token_proj_4" descr="Editable line; source id token_proj_4"/>
          <p:cNvCxnSpPr/>
          <p:nvPr/>
        </p:nvCxnSpPr>
        <p:spPr>
          <a:xfrm flipV="1">
            <a:off x="3197289" y="1754155"/>
            <a:ext cx="0" cy="186612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oken_arrow_5" descr="Editable line; source id token_arrow_5"/>
          <p:cNvSpPr/>
          <p:nvPr/>
        </p:nvSpPr>
        <p:spPr>
          <a:xfrm>
            <a:off x="3433665" y="1356049"/>
            <a:ext cx="49763" cy="186612"/>
          </a:xfrm>
          <a:custGeom>
            <a:avLst/>
            <a:gdLst/>
            <a:ahLst/>
            <a:cxnLst/>
            <a:rect l="l" t="t" r="r" b="b"/>
            <a:pathLst>
              <a:path w="4000" h="15000">
                <a:moveTo>
                  <a:pt x="1550" y="15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1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token_proj_5" descr="Editable line; source id token_proj_5"/>
          <p:cNvCxnSpPr/>
          <p:nvPr/>
        </p:nvCxnSpPr>
        <p:spPr>
          <a:xfrm flipV="1">
            <a:off x="3446106" y="1754155"/>
            <a:ext cx="0" cy="186612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atch_token_6" descr="Editable shape; source id patch_token_6"/>
          <p:cNvSpPr/>
          <p:nvPr/>
        </p:nvSpPr>
        <p:spPr>
          <a:xfrm>
            <a:off x="3645159" y="1542661"/>
            <a:ext cx="99526" cy="211493"/>
          </a:xfrm>
          <a:prstGeom prst="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oken_arrow_6" descr="Editable line; source id token_arrow_6"/>
          <p:cNvSpPr/>
          <p:nvPr/>
        </p:nvSpPr>
        <p:spPr>
          <a:xfrm>
            <a:off x="3682482" y="1356049"/>
            <a:ext cx="49763" cy="186612"/>
          </a:xfrm>
          <a:custGeom>
            <a:avLst/>
            <a:gdLst/>
            <a:ahLst/>
            <a:cxnLst/>
            <a:rect l="l" t="t" r="r" b="b"/>
            <a:pathLst>
              <a:path w="4000" h="15000">
                <a:moveTo>
                  <a:pt x="1550" y="15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1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token_proj_6" descr="Editable line; source id token_proj_6"/>
          <p:cNvCxnSpPr/>
          <p:nvPr/>
        </p:nvCxnSpPr>
        <p:spPr>
          <a:xfrm flipV="1">
            <a:off x="3694922" y="1754155"/>
            <a:ext cx="0" cy="186612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atch_token_7" descr="Editable shape; source id patch_token_7"/>
          <p:cNvSpPr/>
          <p:nvPr/>
        </p:nvSpPr>
        <p:spPr>
          <a:xfrm>
            <a:off x="3893975" y="1542661"/>
            <a:ext cx="99526" cy="211493"/>
          </a:xfrm>
          <a:prstGeom prst="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oken_arrow_7" descr="Editable line; source id token_arrow_7"/>
          <p:cNvSpPr/>
          <p:nvPr/>
        </p:nvSpPr>
        <p:spPr>
          <a:xfrm>
            <a:off x="3931298" y="1356049"/>
            <a:ext cx="49763" cy="186612"/>
          </a:xfrm>
          <a:custGeom>
            <a:avLst/>
            <a:gdLst/>
            <a:ahLst/>
            <a:cxnLst/>
            <a:rect l="l" t="t" r="r" b="b"/>
            <a:pathLst>
              <a:path w="4000" h="15000">
                <a:moveTo>
                  <a:pt x="1550" y="15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1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token_proj_7" descr="Editable line; source id token_proj_7"/>
          <p:cNvCxnSpPr/>
          <p:nvPr/>
        </p:nvCxnSpPr>
        <p:spPr>
          <a:xfrm flipV="1">
            <a:off x="3943738" y="1754155"/>
            <a:ext cx="0" cy="186612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patch_token_8" descr="Editable shape; source id patch_token_8"/>
          <p:cNvSpPr/>
          <p:nvPr/>
        </p:nvSpPr>
        <p:spPr>
          <a:xfrm>
            <a:off x="4142791" y="1542661"/>
            <a:ext cx="99526" cy="211493"/>
          </a:xfrm>
          <a:prstGeom prst="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oken_arrow_8" descr="Editable line; source id token_arrow_8"/>
          <p:cNvSpPr/>
          <p:nvPr/>
        </p:nvSpPr>
        <p:spPr>
          <a:xfrm>
            <a:off x="4180114" y="1356049"/>
            <a:ext cx="49763" cy="186612"/>
          </a:xfrm>
          <a:custGeom>
            <a:avLst/>
            <a:gdLst/>
            <a:ahLst/>
            <a:cxnLst/>
            <a:rect l="l" t="t" r="r" b="b"/>
            <a:pathLst>
              <a:path w="4000" h="15000">
                <a:moveTo>
                  <a:pt x="1550" y="15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1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token_proj_8" descr="Editable line; source id token_proj_8"/>
          <p:cNvCxnSpPr/>
          <p:nvPr/>
        </p:nvCxnSpPr>
        <p:spPr>
          <a:xfrm flipV="1">
            <a:off x="4192554" y="1754155"/>
            <a:ext cx="0" cy="186612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patch_token_9" descr="Editable shape; source id patch_token_9"/>
          <p:cNvSpPr/>
          <p:nvPr/>
        </p:nvSpPr>
        <p:spPr>
          <a:xfrm>
            <a:off x="4391608" y="1542661"/>
            <a:ext cx="99526" cy="211493"/>
          </a:xfrm>
          <a:prstGeom prst="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oken_arrow_9" descr="Editable line; source id token_arrow_9"/>
          <p:cNvSpPr/>
          <p:nvPr/>
        </p:nvSpPr>
        <p:spPr>
          <a:xfrm>
            <a:off x="4428931" y="1356049"/>
            <a:ext cx="49763" cy="186612"/>
          </a:xfrm>
          <a:custGeom>
            <a:avLst/>
            <a:gdLst/>
            <a:ahLst/>
            <a:cxnLst/>
            <a:rect l="l" t="t" r="r" b="b"/>
            <a:pathLst>
              <a:path w="4000" h="15000">
                <a:moveTo>
                  <a:pt x="1550" y="15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1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token_proj_9" descr="Editable line; source id token_proj_9"/>
          <p:cNvCxnSpPr/>
          <p:nvPr/>
        </p:nvCxnSpPr>
        <p:spPr>
          <a:xfrm flipV="1">
            <a:off x="4441371" y="1754155"/>
            <a:ext cx="0" cy="186612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patch_proj_0" descr="Editable line; source id patch_proj_0"/>
          <p:cNvCxnSpPr/>
          <p:nvPr/>
        </p:nvCxnSpPr>
        <p:spPr>
          <a:xfrm flipV="1">
            <a:off x="2177142" y="2313991"/>
            <a:ext cx="0" cy="186613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patch_proj_1" descr="Editable line; source id patch_proj_1"/>
          <p:cNvCxnSpPr/>
          <p:nvPr/>
        </p:nvCxnSpPr>
        <p:spPr>
          <a:xfrm flipV="1">
            <a:off x="2425959" y="2313991"/>
            <a:ext cx="0" cy="186613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patch_proj_2" descr="Editable line; source id patch_proj_2"/>
          <p:cNvCxnSpPr/>
          <p:nvPr/>
        </p:nvCxnSpPr>
        <p:spPr>
          <a:xfrm flipV="1">
            <a:off x="2674775" y="2313991"/>
            <a:ext cx="0" cy="186613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patch_proj_3" descr="Editable line; source id patch_proj_3"/>
          <p:cNvCxnSpPr/>
          <p:nvPr/>
        </p:nvCxnSpPr>
        <p:spPr>
          <a:xfrm flipV="1">
            <a:off x="2923591" y="2313991"/>
            <a:ext cx="0" cy="186613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patch_proj_4" descr="Editable line; source id patch_proj_4"/>
          <p:cNvCxnSpPr/>
          <p:nvPr/>
        </p:nvCxnSpPr>
        <p:spPr>
          <a:xfrm flipV="1">
            <a:off x="3172408" y="2313991"/>
            <a:ext cx="0" cy="186613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patch_proj_5" descr="Editable line; source id patch_proj_5"/>
          <p:cNvCxnSpPr/>
          <p:nvPr/>
        </p:nvCxnSpPr>
        <p:spPr>
          <a:xfrm flipV="1">
            <a:off x="3657599" y="2313991"/>
            <a:ext cx="0" cy="186613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patch_proj_6" descr="Editable line; source id patch_proj_6"/>
          <p:cNvCxnSpPr/>
          <p:nvPr/>
        </p:nvCxnSpPr>
        <p:spPr>
          <a:xfrm flipV="1">
            <a:off x="3906416" y="2313991"/>
            <a:ext cx="0" cy="186613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patch_proj_7" descr="Editable line; source id patch_proj_7"/>
          <p:cNvCxnSpPr/>
          <p:nvPr/>
        </p:nvCxnSpPr>
        <p:spPr>
          <a:xfrm flipV="1">
            <a:off x="4155232" y="2313991"/>
            <a:ext cx="0" cy="186613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patch_proj_8" descr="Editable line; source id patch_proj_8"/>
          <p:cNvCxnSpPr/>
          <p:nvPr/>
        </p:nvCxnSpPr>
        <p:spPr>
          <a:xfrm flipV="1">
            <a:off x="4404048" y="2313991"/>
            <a:ext cx="0" cy="186613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image_to_patch" descr="Editable line; source id image_to_patch"/>
          <p:cNvSpPr/>
          <p:nvPr/>
        </p:nvSpPr>
        <p:spPr>
          <a:xfrm>
            <a:off x="1579984" y="2587690"/>
            <a:ext cx="497633" cy="49763"/>
          </a:xfrm>
          <a:custGeom>
            <a:avLst/>
            <a:gdLst/>
            <a:ahLst/>
            <a:cxnLst/>
            <a:rect l="l" t="t" r="r" b="b"/>
            <a:pathLst>
              <a:path w="40000" h="4000">
                <a:moveTo>
                  <a:pt x="0" y="1550"/>
                </a:moveTo>
                <a:lnTo>
                  <a:pt x="36000" y="1550"/>
                </a:lnTo>
                <a:lnTo>
                  <a:pt x="36000" y="0"/>
                </a:lnTo>
                <a:lnTo>
                  <a:pt x="40000" y="2000"/>
                </a:lnTo>
                <a:lnTo>
                  <a:pt x="36000" y="4000"/>
                </a:lnTo>
                <a:lnTo>
                  <a:pt x="36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divider" descr="Editable line; source id divider"/>
          <p:cNvCxnSpPr/>
          <p:nvPr/>
        </p:nvCxnSpPr>
        <p:spPr>
          <a:xfrm>
            <a:off x="4739950" y="49763"/>
            <a:ext cx="0" cy="3110204"/>
          </a:xfrm>
          <a:prstGeom prst="line">
            <a:avLst/>
          </a:prstGeom>
          <a:ln w="24881">
            <a:solidFill>
              <a:srgbClr val="888888"/>
            </a:solidFill>
            <a:custDash>
              <a:ds d="400000" sp="35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embedded_norm" descr="Editable line; source id embedded_norm"/>
          <p:cNvSpPr/>
          <p:nvPr/>
        </p:nvSpPr>
        <p:spPr>
          <a:xfrm>
            <a:off x="5274906" y="1430694"/>
            <a:ext cx="497633" cy="49763"/>
          </a:xfrm>
          <a:custGeom>
            <a:avLst/>
            <a:gdLst/>
            <a:ahLst/>
            <a:cxnLst/>
            <a:rect l="l" t="t" r="r" b="b"/>
            <a:pathLst>
              <a:path w="40000" h="4000">
                <a:moveTo>
                  <a:pt x="0" y="1550"/>
                </a:moveTo>
                <a:lnTo>
                  <a:pt x="36000" y="1550"/>
                </a:lnTo>
                <a:lnTo>
                  <a:pt x="36000" y="0"/>
                </a:lnTo>
                <a:lnTo>
                  <a:pt x="40000" y="2000"/>
                </a:lnTo>
                <a:lnTo>
                  <a:pt x="36000" y="4000"/>
                </a:lnTo>
                <a:lnTo>
                  <a:pt x="36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norm_split" descr="Editable line; source id norm_split"/>
          <p:cNvCxnSpPr/>
          <p:nvPr/>
        </p:nvCxnSpPr>
        <p:spPr>
          <a:xfrm>
            <a:off x="6481665" y="1455575"/>
            <a:ext cx="149289" cy="0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plit_top" descr="Editable line; source id split_top"/>
          <p:cNvCxnSpPr/>
          <p:nvPr/>
        </p:nvCxnSpPr>
        <p:spPr>
          <a:xfrm flipV="1">
            <a:off x="6630954" y="721567"/>
            <a:ext cx="0" cy="734008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plit_top_proj" descr="Editable line; source id split_top_proj"/>
          <p:cNvSpPr/>
          <p:nvPr/>
        </p:nvSpPr>
        <p:spPr>
          <a:xfrm>
            <a:off x="6630955" y="696686"/>
            <a:ext cx="161731" cy="49763"/>
          </a:xfrm>
          <a:custGeom>
            <a:avLst/>
            <a:gdLst/>
            <a:ahLst/>
            <a:cxnLst/>
            <a:rect l="l" t="t" r="r" b="b"/>
            <a:pathLst>
              <a:path w="13000" h="4000">
                <a:moveTo>
                  <a:pt x="0" y="1550"/>
                </a:moveTo>
                <a:lnTo>
                  <a:pt x="9000" y="1550"/>
                </a:lnTo>
                <a:lnTo>
                  <a:pt x="9000" y="0"/>
                </a:lnTo>
                <a:lnTo>
                  <a:pt x="13000" y="2000"/>
                </a:lnTo>
                <a:lnTo>
                  <a:pt x="9000" y="4000"/>
                </a:lnTo>
                <a:lnTo>
                  <a:pt x="9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split_bottom" descr="Editable line; source id split_bottom"/>
          <p:cNvCxnSpPr/>
          <p:nvPr/>
        </p:nvCxnSpPr>
        <p:spPr>
          <a:xfrm>
            <a:off x="6630954" y="1455575"/>
            <a:ext cx="0" cy="758890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plit_bottom_proj" descr="Editable line; source id split_bottom_proj"/>
          <p:cNvSpPr/>
          <p:nvPr/>
        </p:nvSpPr>
        <p:spPr>
          <a:xfrm>
            <a:off x="6630955" y="2189584"/>
            <a:ext cx="161731" cy="49763"/>
          </a:xfrm>
          <a:custGeom>
            <a:avLst/>
            <a:gdLst/>
            <a:ahLst/>
            <a:cxnLst/>
            <a:rect l="l" t="t" r="r" b="b"/>
            <a:pathLst>
              <a:path w="13000" h="4000">
                <a:moveTo>
                  <a:pt x="0" y="1550"/>
                </a:moveTo>
                <a:lnTo>
                  <a:pt x="9000" y="1550"/>
                </a:lnTo>
                <a:lnTo>
                  <a:pt x="9000" y="0"/>
                </a:lnTo>
                <a:lnTo>
                  <a:pt x="13000" y="2000"/>
                </a:lnTo>
                <a:lnTo>
                  <a:pt x="9000" y="4000"/>
                </a:lnTo>
                <a:lnTo>
                  <a:pt x="9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proj_x_label" descr="Editable line; source id proj_x_label"/>
          <p:cNvSpPr/>
          <p:nvPr/>
        </p:nvSpPr>
        <p:spPr>
          <a:xfrm>
            <a:off x="7141028" y="696686"/>
            <a:ext cx="211494" cy="49763"/>
          </a:xfrm>
          <a:custGeom>
            <a:avLst/>
            <a:gdLst/>
            <a:ahLst/>
            <a:cxnLst/>
            <a:rect l="l" t="t" r="r" b="b"/>
            <a:pathLst>
              <a:path w="17000" h="4000">
                <a:moveTo>
                  <a:pt x="0" y="1550"/>
                </a:moveTo>
                <a:lnTo>
                  <a:pt x="13000" y="1550"/>
                </a:lnTo>
                <a:lnTo>
                  <a:pt x="13000" y="0"/>
                </a:lnTo>
                <a:lnTo>
                  <a:pt x="17000" y="2000"/>
                </a:lnTo>
                <a:lnTo>
                  <a:pt x="13000" y="4000"/>
                </a:lnTo>
                <a:lnTo>
                  <a:pt x="13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x_forward" descr="Editable line; source id x_forward"/>
          <p:cNvSpPr/>
          <p:nvPr/>
        </p:nvSpPr>
        <p:spPr>
          <a:xfrm>
            <a:off x="7539135" y="696686"/>
            <a:ext cx="186612" cy="49763"/>
          </a:xfrm>
          <a:custGeom>
            <a:avLst/>
            <a:gdLst/>
            <a:ahLst/>
            <a:cxnLst/>
            <a:rect l="l" t="t" r="r" b="b"/>
            <a:pathLst>
              <a:path w="15000" h="4000">
                <a:moveTo>
                  <a:pt x="0" y="1550"/>
                </a:moveTo>
                <a:lnTo>
                  <a:pt x="11000" y="1550"/>
                </a:lnTo>
                <a:lnTo>
                  <a:pt x="11000" y="0"/>
                </a:lnTo>
                <a:lnTo>
                  <a:pt x="15000" y="2000"/>
                </a:lnTo>
                <a:lnTo>
                  <a:pt x="11000" y="4000"/>
                </a:lnTo>
                <a:lnTo>
                  <a:pt x="11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x_down" descr="Editable line; source id x_down"/>
          <p:cNvCxnSpPr/>
          <p:nvPr/>
        </p:nvCxnSpPr>
        <p:spPr>
          <a:xfrm>
            <a:off x="7427167" y="821093"/>
            <a:ext cx="0" cy="646923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x_back" descr="Editable line; source id x_back"/>
          <p:cNvSpPr/>
          <p:nvPr/>
        </p:nvSpPr>
        <p:spPr>
          <a:xfrm>
            <a:off x="7427167" y="1443135"/>
            <a:ext cx="298580" cy="49763"/>
          </a:xfrm>
          <a:custGeom>
            <a:avLst/>
            <a:gdLst/>
            <a:ahLst/>
            <a:cxnLst/>
            <a:rect l="l" t="t" r="r" b="b"/>
            <a:pathLst>
              <a:path w="24000" h="4000">
                <a:moveTo>
                  <a:pt x="0" y="1550"/>
                </a:moveTo>
                <a:lnTo>
                  <a:pt x="20000" y="1550"/>
                </a:lnTo>
                <a:lnTo>
                  <a:pt x="20000" y="0"/>
                </a:lnTo>
                <a:lnTo>
                  <a:pt x="24000" y="2000"/>
                </a:lnTo>
                <a:lnTo>
                  <a:pt x="20000" y="4000"/>
                </a:lnTo>
                <a:lnTo>
                  <a:pt x="20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proj_z_label" descr="Editable line; source id proj_z_label"/>
          <p:cNvSpPr/>
          <p:nvPr/>
        </p:nvSpPr>
        <p:spPr>
          <a:xfrm>
            <a:off x="7141028" y="2189584"/>
            <a:ext cx="248816" cy="49763"/>
          </a:xfrm>
          <a:custGeom>
            <a:avLst/>
            <a:gdLst/>
            <a:ahLst/>
            <a:cxnLst/>
            <a:rect l="l" t="t" r="r" b="b"/>
            <a:pathLst>
              <a:path w="20000" h="4000">
                <a:moveTo>
                  <a:pt x="0" y="1550"/>
                </a:moveTo>
                <a:lnTo>
                  <a:pt x="16000" y="1550"/>
                </a:lnTo>
                <a:lnTo>
                  <a:pt x="16000" y="0"/>
                </a:lnTo>
                <a:lnTo>
                  <a:pt x="20000" y="2000"/>
                </a:lnTo>
                <a:lnTo>
                  <a:pt x="16000" y="4000"/>
                </a:lnTo>
                <a:lnTo>
                  <a:pt x="16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z_activation" descr="Editable line; source id z_activation"/>
          <p:cNvSpPr/>
          <p:nvPr/>
        </p:nvSpPr>
        <p:spPr>
          <a:xfrm>
            <a:off x="7539135" y="2189584"/>
            <a:ext cx="186612" cy="49763"/>
          </a:xfrm>
          <a:custGeom>
            <a:avLst/>
            <a:gdLst/>
            <a:ahLst/>
            <a:cxnLst/>
            <a:rect l="l" t="t" r="r" b="b"/>
            <a:pathLst>
              <a:path w="15000" h="4000">
                <a:moveTo>
                  <a:pt x="0" y="1550"/>
                </a:moveTo>
                <a:lnTo>
                  <a:pt x="11000" y="1550"/>
                </a:lnTo>
                <a:lnTo>
                  <a:pt x="11000" y="0"/>
                </a:lnTo>
                <a:lnTo>
                  <a:pt x="15000" y="2000"/>
                </a:lnTo>
                <a:lnTo>
                  <a:pt x="11000" y="4000"/>
                </a:lnTo>
                <a:lnTo>
                  <a:pt x="11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c_fs" descr="Editable line; source id fc_fs"/>
          <p:cNvSpPr/>
          <p:nvPr/>
        </p:nvSpPr>
        <p:spPr>
          <a:xfrm>
            <a:off x="8770775" y="696686"/>
            <a:ext cx="248816" cy="49763"/>
          </a:xfrm>
          <a:custGeom>
            <a:avLst/>
            <a:gdLst/>
            <a:ahLst/>
            <a:cxnLst/>
            <a:rect l="l" t="t" r="r" b="b"/>
            <a:pathLst>
              <a:path w="20000" h="4000">
                <a:moveTo>
                  <a:pt x="0" y="1550"/>
                </a:moveTo>
                <a:lnTo>
                  <a:pt x="16000" y="1550"/>
                </a:lnTo>
                <a:lnTo>
                  <a:pt x="16000" y="0"/>
                </a:lnTo>
                <a:lnTo>
                  <a:pt x="20000" y="2000"/>
                </a:lnTo>
                <a:lnTo>
                  <a:pt x="16000" y="4000"/>
                </a:lnTo>
                <a:lnTo>
                  <a:pt x="16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bc_bs" descr="Editable line; source id bc_bs"/>
          <p:cNvSpPr/>
          <p:nvPr/>
        </p:nvSpPr>
        <p:spPr>
          <a:xfrm>
            <a:off x="8770775" y="1443135"/>
            <a:ext cx="248816" cy="49763"/>
          </a:xfrm>
          <a:custGeom>
            <a:avLst/>
            <a:gdLst/>
            <a:ahLst/>
            <a:cxnLst/>
            <a:rect l="l" t="t" r="r" b="b"/>
            <a:pathLst>
              <a:path w="20000" h="4000">
                <a:moveTo>
                  <a:pt x="0" y="1550"/>
                </a:moveTo>
                <a:lnTo>
                  <a:pt x="16000" y="1550"/>
                </a:lnTo>
                <a:lnTo>
                  <a:pt x="16000" y="0"/>
                </a:lnTo>
                <a:lnTo>
                  <a:pt x="20000" y="2000"/>
                </a:lnTo>
                <a:lnTo>
                  <a:pt x="16000" y="4000"/>
                </a:lnTo>
                <a:lnTo>
                  <a:pt x="16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s_mul" descr="Editable line; source id fs_mul"/>
          <p:cNvSpPr/>
          <p:nvPr/>
        </p:nvSpPr>
        <p:spPr>
          <a:xfrm>
            <a:off x="9902890" y="696686"/>
            <a:ext cx="435429" cy="49763"/>
          </a:xfrm>
          <a:custGeom>
            <a:avLst/>
            <a:gdLst/>
            <a:ahLst/>
            <a:cxnLst/>
            <a:rect l="l" t="t" r="r" b="b"/>
            <a:pathLst>
              <a:path w="35000" h="4000">
                <a:moveTo>
                  <a:pt x="0" y="1550"/>
                </a:moveTo>
                <a:lnTo>
                  <a:pt x="31000" y="1550"/>
                </a:lnTo>
                <a:lnTo>
                  <a:pt x="31000" y="0"/>
                </a:lnTo>
                <a:lnTo>
                  <a:pt x="35000" y="2000"/>
                </a:lnTo>
                <a:lnTo>
                  <a:pt x="31000" y="4000"/>
                </a:lnTo>
                <a:lnTo>
                  <a:pt x="31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bs_mul" descr="Editable line; source id bs_mul"/>
          <p:cNvSpPr/>
          <p:nvPr/>
        </p:nvSpPr>
        <p:spPr>
          <a:xfrm>
            <a:off x="9902890" y="1443135"/>
            <a:ext cx="223935" cy="49763"/>
          </a:xfrm>
          <a:custGeom>
            <a:avLst/>
            <a:gdLst/>
            <a:ahLst/>
            <a:cxnLst/>
            <a:rect l="l" t="t" r="r" b="b"/>
            <a:pathLst>
              <a:path w="18000" h="4000">
                <a:moveTo>
                  <a:pt x="0" y="1550"/>
                </a:moveTo>
                <a:lnTo>
                  <a:pt x="14000" y="1550"/>
                </a:lnTo>
                <a:lnTo>
                  <a:pt x="14000" y="0"/>
                </a:lnTo>
                <a:lnTo>
                  <a:pt x="18000" y="2000"/>
                </a:lnTo>
                <a:lnTo>
                  <a:pt x="14000" y="4000"/>
                </a:lnTo>
                <a:lnTo>
                  <a:pt x="14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activation_branch" descr="Editable line; source id activation_branch"/>
          <p:cNvCxnSpPr/>
          <p:nvPr/>
        </p:nvCxnSpPr>
        <p:spPr>
          <a:xfrm>
            <a:off x="8758334" y="2214465"/>
            <a:ext cx="1642188" cy="0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branch_up" descr="Editable line; source id branch_up"/>
          <p:cNvSpPr/>
          <p:nvPr/>
        </p:nvSpPr>
        <p:spPr>
          <a:xfrm>
            <a:off x="10375641" y="796212"/>
            <a:ext cx="49763" cy="1418253"/>
          </a:xfrm>
          <a:custGeom>
            <a:avLst/>
            <a:gdLst/>
            <a:ahLst/>
            <a:cxnLst/>
            <a:rect l="l" t="t" r="r" b="b"/>
            <a:pathLst>
              <a:path w="4000" h="114000">
                <a:moveTo>
                  <a:pt x="1550" y="114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114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branch2" descr="Editable line; source id branch2"/>
          <p:cNvSpPr/>
          <p:nvPr/>
        </p:nvSpPr>
        <p:spPr>
          <a:xfrm>
            <a:off x="10164147" y="1542661"/>
            <a:ext cx="49763" cy="671804"/>
          </a:xfrm>
          <a:custGeom>
            <a:avLst/>
            <a:gdLst/>
            <a:ahLst/>
            <a:cxnLst/>
            <a:rect l="l" t="t" r="r" b="b"/>
            <a:pathLst>
              <a:path w="4000" h="54000">
                <a:moveTo>
                  <a:pt x="1550" y="54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54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mul_f_right" descr="Editable line; source id mul_f_right"/>
          <p:cNvCxnSpPr/>
          <p:nvPr/>
        </p:nvCxnSpPr>
        <p:spPr>
          <a:xfrm>
            <a:off x="10475167" y="721567"/>
            <a:ext cx="186612" cy="0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f_merge" descr="Editable line; source id f_merge"/>
          <p:cNvSpPr/>
          <p:nvPr/>
        </p:nvSpPr>
        <p:spPr>
          <a:xfrm>
            <a:off x="10636898" y="721567"/>
            <a:ext cx="49763" cy="659363"/>
          </a:xfrm>
          <a:custGeom>
            <a:avLst/>
            <a:gdLst/>
            <a:ahLst/>
            <a:cxnLst/>
            <a:rect l="l" t="t" r="r" b="b"/>
            <a:pathLst>
              <a:path w="4000" h="53000">
                <a:moveTo>
                  <a:pt x="2450" y="0"/>
                </a:moveTo>
                <a:lnTo>
                  <a:pt x="2450" y="49000"/>
                </a:lnTo>
                <a:lnTo>
                  <a:pt x="4000" y="49000"/>
                </a:lnTo>
                <a:lnTo>
                  <a:pt x="2000" y="53000"/>
                </a:lnTo>
                <a:lnTo>
                  <a:pt x="0" y="49000"/>
                </a:lnTo>
                <a:lnTo>
                  <a:pt x="1550" y="49000"/>
                </a:lnTo>
                <a:lnTo>
                  <a:pt x="15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mul_b_right" descr="Editable line; source id mul_b_right"/>
          <p:cNvSpPr/>
          <p:nvPr/>
        </p:nvSpPr>
        <p:spPr>
          <a:xfrm>
            <a:off x="10263673" y="1443135"/>
            <a:ext cx="323461" cy="49763"/>
          </a:xfrm>
          <a:custGeom>
            <a:avLst/>
            <a:gdLst/>
            <a:ahLst/>
            <a:cxnLst/>
            <a:rect l="l" t="t" r="r" b="b"/>
            <a:pathLst>
              <a:path w="26000" h="4000">
                <a:moveTo>
                  <a:pt x="0" y="1550"/>
                </a:moveTo>
                <a:lnTo>
                  <a:pt x="22000" y="1550"/>
                </a:lnTo>
                <a:lnTo>
                  <a:pt x="22000" y="0"/>
                </a:lnTo>
                <a:lnTo>
                  <a:pt x="26000" y="2000"/>
                </a:lnTo>
                <a:lnTo>
                  <a:pt x="22000" y="4000"/>
                </a:lnTo>
                <a:lnTo>
                  <a:pt x="22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merge_y" descr="Editable line; source id merge_y"/>
          <p:cNvSpPr/>
          <p:nvPr/>
        </p:nvSpPr>
        <p:spPr>
          <a:xfrm>
            <a:off x="10736424" y="1443135"/>
            <a:ext cx="136849" cy="49763"/>
          </a:xfrm>
          <a:custGeom>
            <a:avLst/>
            <a:gdLst/>
            <a:ahLst/>
            <a:cxnLst/>
            <a:rect l="l" t="t" r="r" b="b"/>
            <a:pathLst>
              <a:path w="11000" h="4000">
                <a:moveTo>
                  <a:pt x="0" y="1550"/>
                </a:moveTo>
                <a:lnTo>
                  <a:pt x="7000" y="1550"/>
                </a:lnTo>
                <a:lnTo>
                  <a:pt x="7000" y="0"/>
                </a:lnTo>
                <a:lnTo>
                  <a:pt x="11000" y="2000"/>
                </a:lnTo>
                <a:lnTo>
                  <a:pt x="7000" y="4000"/>
                </a:lnTo>
                <a:lnTo>
                  <a:pt x="7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y_proj" descr="Editable line; source id y_proj"/>
          <p:cNvSpPr/>
          <p:nvPr/>
        </p:nvSpPr>
        <p:spPr>
          <a:xfrm>
            <a:off x="10997681" y="1443135"/>
            <a:ext cx="149290" cy="49763"/>
          </a:xfrm>
          <a:custGeom>
            <a:avLst/>
            <a:gdLst/>
            <a:ahLst/>
            <a:cxnLst/>
            <a:rect l="l" t="t" r="r" b="b"/>
            <a:pathLst>
              <a:path w="12000" h="4000">
                <a:moveTo>
                  <a:pt x="0" y="1550"/>
                </a:moveTo>
                <a:lnTo>
                  <a:pt x="8000" y="1550"/>
                </a:lnTo>
                <a:lnTo>
                  <a:pt x="8000" y="0"/>
                </a:lnTo>
                <a:lnTo>
                  <a:pt x="12000" y="2000"/>
                </a:lnTo>
                <a:lnTo>
                  <a:pt x="8000" y="4000"/>
                </a:lnTo>
                <a:lnTo>
                  <a:pt x="8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proj_residual" descr="Editable line; source id proj_residual"/>
          <p:cNvSpPr/>
          <p:nvPr/>
        </p:nvSpPr>
        <p:spPr>
          <a:xfrm>
            <a:off x="11495314" y="1443135"/>
            <a:ext cx="136849" cy="49763"/>
          </a:xfrm>
          <a:custGeom>
            <a:avLst/>
            <a:gdLst/>
            <a:ahLst/>
            <a:cxnLst/>
            <a:rect l="l" t="t" r="r" b="b"/>
            <a:pathLst>
              <a:path w="11000" h="4000">
                <a:moveTo>
                  <a:pt x="0" y="1550"/>
                </a:moveTo>
                <a:lnTo>
                  <a:pt x="7000" y="1550"/>
                </a:lnTo>
                <a:lnTo>
                  <a:pt x="7000" y="0"/>
                </a:lnTo>
                <a:lnTo>
                  <a:pt x="11000" y="2000"/>
                </a:lnTo>
                <a:lnTo>
                  <a:pt x="7000" y="4000"/>
                </a:lnTo>
                <a:lnTo>
                  <a:pt x="7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ut" descr="Editable line; source id out"/>
          <p:cNvSpPr/>
          <p:nvPr/>
        </p:nvSpPr>
        <p:spPr>
          <a:xfrm>
            <a:off x="11769012" y="1443135"/>
            <a:ext cx="323461" cy="49763"/>
          </a:xfrm>
          <a:custGeom>
            <a:avLst/>
            <a:gdLst/>
            <a:ahLst/>
            <a:cxnLst/>
            <a:rect l="l" t="t" r="r" b="b"/>
            <a:pathLst>
              <a:path w="26000" h="4000">
                <a:moveTo>
                  <a:pt x="0" y="1550"/>
                </a:moveTo>
                <a:lnTo>
                  <a:pt x="22000" y="1550"/>
                </a:lnTo>
                <a:lnTo>
                  <a:pt x="22000" y="0"/>
                </a:lnTo>
                <a:lnTo>
                  <a:pt x="26000" y="2000"/>
                </a:lnTo>
                <a:lnTo>
                  <a:pt x="22000" y="4000"/>
                </a:lnTo>
                <a:lnTo>
                  <a:pt x="22000" y="2450"/>
                </a:lnTo>
                <a:lnTo>
                  <a:pt x="0" y="24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residual_down" descr="Editable line; source id residual_down"/>
          <p:cNvCxnSpPr/>
          <p:nvPr/>
        </p:nvCxnSpPr>
        <p:spPr>
          <a:xfrm>
            <a:off x="5598367" y="1455575"/>
            <a:ext cx="0" cy="1281404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residual_base" descr="Editable line; source id residual_base"/>
          <p:cNvCxnSpPr/>
          <p:nvPr/>
        </p:nvCxnSpPr>
        <p:spPr>
          <a:xfrm>
            <a:off x="5598367" y="2736979"/>
            <a:ext cx="6096000" cy="0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sidual_up" descr="Editable line; source id residual_up"/>
          <p:cNvSpPr/>
          <p:nvPr/>
        </p:nvSpPr>
        <p:spPr>
          <a:xfrm>
            <a:off x="11669485" y="1542661"/>
            <a:ext cx="49763" cy="1194318"/>
          </a:xfrm>
          <a:custGeom>
            <a:avLst/>
            <a:gdLst/>
            <a:ahLst/>
            <a:cxnLst/>
            <a:rect l="l" t="t" r="r" b="b"/>
            <a:pathLst>
              <a:path w="4000" h="96000">
                <a:moveTo>
                  <a:pt x="1550" y="96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9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h_f_1" descr="Editable line; source id h_f_1"/>
          <p:cNvCxnSpPr/>
          <p:nvPr/>
        </p:nvCxnSpPr>
        <p:spPr>
          <a:xfrm flipV="1">
            <a:off x="9455020" y="385665"/>
            <a:ext cx="0" cy="111967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h_f_2" descr="Editable line; source id h_f_2"/>
          <p:cNvCxnSpPr/>
          <p:nvPr/>
        </p:nvCxnSpPr>
        <p:spPr>
          <a:xfrm>
            <a:off x="9455020" y="385665"/>
            <a:ext cx="572277" cy="0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h_f_3" descr="Editable line; source id h_f_3"/>
          <p:cNvCxnSpPr/>
          <p:nvPr/>
        </p:nvCxnSpPr>
        <p:spPr>
          <a:xfrm>
            <a:off x="10027297" y="385665"/>
            <a:ext cx="0" cy="646922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h_f_4" descr="Editable line; source id h_f_4"/>
          <p:cNvCxnSpPr/>
          <p:nvPr/>
        </p:nvCxnSpPr>
        <p:spPr>
          <a:xfrm flipH="1">
            <a:off x="9455020" y="1032587"/>
            <a:ext cx="572277" cy="0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h_f_5" descr="Editable line; source id h_f_5"/>
          <p:cNvSpPr/>
          <p:nvPr/>
        </p:nvSpPr>
        <p:spPr>
          <a:xfrm>
            <a:off x="9430139" y="945502"/>
            <a:ext cx="49763" cy="87086"/>
          </a:xfrm>
          <a:custGeom>
            <a:avLst/>
            <a:gdLst/>
            <a:ahLst/>
            <a:cxnLst/>
            <a:rect l="l" t="t" r="r" b="b"/>
            <a:pathLst>
              <a:path w="4000" h="7000">
                <a:moveTo>
                  <a:pt x="1550" y="7000"/>
                </a:moveTo>
                <a:lnTo>
                  <a:pt x="1550" y="4000"/>
                </a:lnTo>
                <a:lnTo>
                  <a:pt x="0" y="4000"/>
                </a:lnTo>
                <a:lnTo>
                  <a:pt x="2000" y="0"/>
                </a:lnTo>
                <a:lnTo>
                  <a:pt x="4000" y="4000"/>
                </a:lnTo>
                <a:lnTo>
                  <a:pt x="2450" y="4000"/>
                </a:lnTo>
                <a:lnTo>
                  <a:pt x="2450" y="7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h_b_1" descr="Editable line; source id h_b_1"/>
          <p:cNvCxnSpPr/>
          <p:nvPr/>
        </p:nvCxnSpPr>
        <p:spPr>
          <a:xfrm>
            <a:off x="9455020" y="1679510"/>
            <a:ext cx="0" cy="99526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h_b_2" descr="Editable line; source id h_b_2"/>
          <p:cNvCxnSpPr/>
          <p:nvPr/>
        </p:nvCxnSpPr>
        <p:spPr>
          <a:xfrm>
            <a:off x="9455020" y="1779036"/>
            <a:ext cx="572277" cy="0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h_b_3" descr="Editable line; source id h_b_3"/>
          <p:cNvCxnSpPr/>
          <p:nvPr/>
        </p:nvCxnSpPr>
        <p:spPr>
          <a:xfrm flipV="1">
            <a:off x="10027297" y="1132114"/>
            <a:ext cx="0" cy="646922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h_b_4" descr="Editable line; source id h_b_4"/>
          <p:cNvCxnSpPr/>
          <p:nvPr/>
        </p:nvCxnSpPr>
        <p:spPr>
          <a:xfrm flipH="1">
            <a:off x="9455020" y="1132114"/>
            <a:ext cx="572277" cy="0"/>
          </a:xfrm>
          <a:prstGeom prst="line">
            <a:avLst/>
          </a:prstGeom>
          <a:ln w="111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h_b_5" descr="Editable line; source id h_b_5"/>
          <p:cNvSpPr/>
          <p:nvPr/>
        </p:nvSpPr>
        <p:spPr>
          <a:xfrm>
            <a:off x="9430139" y="1132114"/>
            <a:ext cx="49763" cy="111967"/>
          </a:xfrm>
          <a:custGeom>
            <a:avLst/>
            <a:gdLst/>
            <a:ahLst/>
            <a:cxnLst/>
            <a:rect l="l" t="t" r="r" b="b"/>
            <a:pathLst>
              <a:path w="4000" h="9000">
                <a:moveTo>
                  <a:pt x="2450" y="0"/>
                </a:moveTo>
                <a:lnTo>
                  <a:pt x="2450" y="5000"/>
                </a:lnTo>
                <a:lnTo>
                  <a:pt x="4000" y="5000"/>
                </a:lnTo>
                <a:lnTo>
                  <a:pt x="2000" y="9000"/>
                </a:lnTo>
                <a:lnTo>
                  <a:pt x="0" y="5000"/>
                </a:lnTo>
                <a:lnTo>
                  <a:pt x="1550" y="5000"/>
                </a:lnTo>
                <a:lnTo>
                  <a:pt x="15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class_token" descr="Editable shape; source id class_token"/>
          <p:cNvSpPr/>
          <p:nvPr/>
        </p:nvSpPr>
        <p:spPr>
          <a:xfrm>
            <a:off x="3396342" y="1542661"/>
            <a:ext cx="124408" cy="211493"/>
          </a:xfrm>
          <a:prstGeom prst="rect">
            <a:avLst/>
          </a:prstGeom>
          <a:solidFill>
            <a:srgbClr val="DF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4" name="input_image" descr="Exact image-only crop from official PMLR Figure 2 PDF raster; CC BY 4.0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38" y="2164701"/>
            <a:ext cx="1293844" cy="908179"/>
          </a:xfrm>
          <a:prstGeom prst="rect">
            <a:avLst/>
          </a:prstGeom>
          <a:effectLst/>
        </p:spPr>
      </p:pic>
      <p:pic>
        <p:nvPicPr>
          <p:cNvPr id="115" name="patch_left" descr="Exact image-only crop from official PMLR Figure 2 PDF raster; CC BY 4.0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057" y="2500604"/>
            <a:ext cx="1206759" cy="248816"/>
          </a:xfrm>
          <a:prstGeom prst="rect">
            <a:avLst/>
          </a:prstGeom>
          <a:effectLst/>
        </p:spPr>
      </p:pic>
      <p:pic>
        <p:nvPicPr>
          <p:cNvPr id="116" name="patch_right" descr="Exact image-only crop from official PMLR Figure 2 PDF raster; CC BY 4.0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073" y="2500604"/>
            <a:ext cx="970383" cy="248816"/>
          </a:xfrm>
          <a:prstGeom prst="rect">
            <a:avLst/>
          </a:prstGeom>
          <a:effectLst/>
        </p:spPr>
      </p:pic>
      <p:sp>
        <p:nvSpPr>
          <p:cNvPr id="117" name="multiply_forward" descr="Editable shape; source id multiply_forward"/>
          <p:cNvSpPr/>
          <p:nvPr/>
        </p:nvSpPr>
        <p:spPr>
          <a:xfrm>
            <a:off x="10332097" y="653142"/>
            <a:ext cx="136848" cy="136848"/>
          </a:xfrm>
          <a:prstGeom prst="ellipse">
            <a:avLst/>
          </a:prstGeom>
          <a:solidFill>
            <a:srgbClr val="F5F5F5"/>
          </a:solidFill>
          <a:ln w="1119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multiply_backward" descr="Editable shape; source id multiply_backward"/>
          <p:cNvSpPr/>
          <p:nvPr/>
        </p:nvSpPr>
        <p:spPr>
          <a:xfrm>
            <a:off x="10120603" y="1399591"/>
            <a:ext cx="136848" cy="136848"/>
          </a:xfrm>
          <a:prstGeom prst="ellipse">
            <a:avLst/>
          </a:prstGeom>
          <a:solidFill>
            <a:srgbClr val="F5F5F5"/>
          </a:solidFill>
          <a:ln w="1119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merge" descr="Editable shape; source id merge"/>
          <p:cNvSpPr/>
          <p:nvPr/>
        </p:nvSpPr>
        <p:spPr>
          <a:xfrm>
            <a:off x="10593354" y="1399591"/>
            <a:ext cx="136848" cy="136848"/>
          </a:xfrm>
          <a:prstGeom prst="ellipse">
            <a:avLst/>
          </a:prstGeom>
          <a:solidFill>
            <a:srgbClr val="F5F5F5"/>
          </a:solidFill>
          <a:ln w="1119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sidual" descr="Editable shape; source id residual"/>
          <p:cNvSpPr/>
          <p:nvPr/>
        </p:nvSpPr>
        <p:spPr>
          <a:xfrm>
            <a:off x="11625942" y="1399591"/>
            <a:ext cx="136848" cy="136848"/>
          </a:xfrm>
          <a:prstGeom prst="ellipse">
            <a:avLst/>
          </a:prstGeom>
          <a:solidFill>
            <a:srgbClr val="F5F5F5"/>
          </a:solidFill>
          <a:ln w="1119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legend_projection_label" descr="Editable text; source id legend_projection_label"/>
          <p:cNvSpPr txBox="1"/>
          <p:nvPr/>
        </p:nvSpPr>
        <p:spPr>
          <a:xfrm>
            <a:off x="584718" y="248816"/>
            <a:ext cx="1082350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Projection Layer</a:t>
            </a:r>
          </a:p>
        </p:txBody>
      </p:sp>
      <p:sp>
        <p:nvSpPr>
          <p:cNvPr id="122" name="legend_patch_label" descr="Editable text; source id legend_patch_label"/>
          <p:cNvSpPr txBox="1"/>
          <p:nvPr/>
        </p:nvSpPr>
        <p:spPr>
          <a:xfrm>
            <a:off x="584718" y="609599"/>
            <a:ext cx="1082350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Patch Tokens</a:t>
            </a:r>
          </a:p>
        </p:txBody>
      </p:sp>
      <p:sp>
        <p:nvSpPr>
          <p:cNvPr id="123" name="legend_position_label" descr="Editable text; source id legend_position_label"/>
          <p:cNvSpPr txBox="1"/>
          <p:nvPr/>
        </p:nvSpPr>
        <p:spPr>
          <a:xfrm>
            <a:off x="584718" y="957942"/>
            <a:ext cx="1082350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Position Embed.</a:t>
            </a:r>
          </a:p>
        </p:txBody>
      </p:sp>
      <p:sp>
        <p:nvSpPr>
          <p:cNvPr id="124" name="legend_class_label" descr="Editable text; source id legend_class_label"/>
          <p:cNvSpPr txBox="1"/>
          <p:nvPr/>
        </p:nvSpPr>
        <p:spPr>
          <a:xfrm>
            <a:off x="584718" y="1293844"/>
            <a:ext cx="1082350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 Token</a:t>
            </a:r>
          </a:p>
        </p:txBody>
      </p:sp>
      <p:sp>
        <p:nvSpPr>
          <p:cNvPr id="125" name="legend_num" descr="Editable text; source id legend_num"/>
          <p:cNvSpPr txBox="1"/>
          <p:nvPr/>
        </p:nvSpPr>
        <p:spPr>
          <a:xfrm>
            <a:off x="286138" y="957942"/>
            <a:ext cx="248816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39"/>
              </a:lnSpc>
              <a:spcBef>
                <a:spcPts val="0"/>
              </a:spcBef>
              <a:spcAft>
                <a:spcPts val="0"/>
              </a:spcAft>
              <a:defRPr sz="1077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77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0 1</a:t>
            </a:r>
          </a:p>
        </p:txBody>
      </p:sp>
      <p:sp>
        <p:nvSpPr>
          <p:cNvPr id="126" name="legend_star" descr="Editable text; source id legend_star"/>
          <p:cNvSpPr txBox="1"/>
          <p:nvPr/>
        </p:nvSpPr>
        <p:spPr>
          <a:xfrm>
            <a:off x="286138" y="1318726"/>
            <a:ext cx="111967" cy="18661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*</a:t>
            </a:r>
          </a:p>
        </p:txBody>
      </p:sp>
      <p:sp>
        <p:nvSpPr>
          <p:cNvPr id="127" name="mlp_text" descr="Editable text; source id mlp_text"/>
          <p:cNvSpPr txBox="1"/>
          <p:nvPr/>
        </p:nvSpPr>
        <p:spPr>
          <a:xfrm>
            <a:off x="2006703" y="124408"/>
            <a:ext cx="2513044" cy="3732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MLP &amp; Prediction</a:t>
            </a:r>
          </a:p>
        </p:txBody>
      </p:sp>
      <p:sp>
        <p:nvSpPr>
          <p:cNvPr id="128" name="vision_text" descr="Editable text; source id vision_text"/>
          <p:cNvSpPr txBox="1"/>
          <p:nvPr/>
        </p:nvSpPr>
        <p:spPr>
          <a:xfrm>
            <a:off x="2006703" y="783771"/>
            <a:ext cx="2513044" cy="5473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 Mamba Encoder</a:t>
            </a:r>
          </a:p>
        </p:txBody>
      </p:sp>
      <p:sp>
        <p:nvSpPr>
          <p:cNvPr id="129" name="flatten_text" descr="Editable text; source id flatten_text"/>
          <p:cNvSpPr txBox="1"/>
          <p:nvPr/>
        </p:nvSpPr>
        <p:spPr>
          <a:xfrm>
            <a:off x="2002971" y="1940767"/>
            <a:ext cx="2513044" cy="3732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46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Flatten &amp; Linear Projection</a:t>
            </a:r>
          </a:p>
        </p:txBody>
      </p:sp>
      <p:sp>
        <p:nvSpPr>
          <p:cNvPr id="130" name="num_0" descr="Editable text; source id num_0"/>
          <p:cNvSpPr txBox="1"/>
          <p:nvPr/>
        </p:nvSpPr>
        <p:spPr>
          <a:xfrm>
            <a:off x="2040293" y="1517779"/>
            <a:ext cx="111967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31" name="num_1" descr="Editable text; source id num_1"/>
          <p:cNvSpPr txBox="1"/>
          <p:nvPr/>
        </p:nvSpPr>
        <p:spPr>
          <a:xfrm>
            <a:off x="2289110" y="1517779"/>
            <a:ext cx="111967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2" name="num_2" descr="Editable text; source id num_2"/>
          <p:cNvSpPr txBox="1"/>
          <p:nvPr/>
        </p:nvSpPr>
        <p:spPr>
          <a:xfrm>
            <a:off x="2537926" y="1517779"/>
            <a:ext cx="111967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33" name="num_3" descr="Editable text; source id num_3"/>
          <p:cNvSpPr txBox="1"/>
          <p:nvPr/>
        </p:nvSpPr>
        <p:spPr>
          <a:xfrm>
            <a:off x="2786742" y="1517779"/>
            <a:ext cx="111967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34" name="num_4" descr="Editable text; source id num_4"/>
          <p:cNvSpPr txBox="1"/>
          <p:nvPr/>
        </p:nvSpPr>
        <p:spPr>
          <a:xfrm>
            <a:off x="3035559" y="1517779"/>
            <a:ext cx="111967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35" name="num_5" descr="Editable text; source id num_5"/>
          <p:cNvSpPr txBox="1"/>
          <p:nvPr/>
        </p:nvSpPr>
        <p:spPr>
          <a:xfrm>
            <a:off x="3284375" y="1517779"/>
            <a:ext cx="111967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36" name="num_6" descr="Editable text; source id num_6"/>
          <p:cNvSpPr txBox="1"/>
          <p:nvPr/>
        </p:nvSpPr>
        <p:spPr>
          <a:xfrm>
            <a:off x="3533191" y="1517779"/>
            <a:ext cx="111967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137" name="num_7" descr="Editable text; source id num_7"/>
          <p:cNvSpPr txBox="1"/>
          <p:nvPr/>
        </p:nvSpPr>
        <p:spPr>
          <a:xfrm>
            <a:off x="3782008" y="1517779"/>
            <a:ext cx="111967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138" name="num_8" descr="Editable text; source id num_8"/>
          <p:cNvSpPr txBox="1"/>
          <p:nvPr/>
        </p:nvSpPr>
        <p:spPr>
          <a:xfrm>
            <a:off x="4030824" y="1517779"/>
            <a:ext cx="111967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139" name="num_9" descr="Editable text; source id num_9"/>
          <p:cNvSpPr txBox="1"/>
          <p:nvPr/>
        </p:nvSpPr>
        <p:spPr>
          <a:xfrm>
            <a:off x="4279640" y="1517779"/>
            <a:ext cx="111967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140" name="class_star" descr="Editable text; source id class_star"/>
          <p:cNvSpPr txBox="1"/>
          <p:nvPr/>
        </p:nvSpPr>
        <p:spPr>
          <a:xfrm>
            <a:off x="3408783" y="1530220"/>
            <a:ext cx="111967" cy="2239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*</a:t>
            </a:r>
          </a:p>
        </p:txBody>
      </p:sp>
      <p:sp>
        <p:nvSpPr>
          <p:cNvPr id="141" name="input_label" descr="Editable text; source id input_label"/>
          <p:cNvSpPr txBox="1"/>
          <p:nvPr/>
        </p:nvSpPr>
        <p:spPr>
          <a:xfrm>
            <a:off x="248816" y="1878563"/>
            <a:ext cx="1368489" cy="28613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46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 Image</a:t>
            </a:r>
          </a:p>
        </p:txBody>
      </p:sp>
      <p:sp>
        <p:nvSpPr>
          <p:cNvPr id="142" name="vim_title" descr="Editable text; source id vim_title"/>
          <p:cNvSpPr txBox="1"/>
          <p:nvPr/>
        </p:nvSpPr>
        <p:spPr>
          <a:xfrm>
            <a:off x="2139820" y="2898710"/>
            <a:ext cx="2562808" cy="29857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469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 Mamba (Vim)</a:t>
            </a:r>
          </a:p>
        </p:txBody>
      </p:sp>
      <p:sp>
        <p:nvSpPr>
          <p:cNvPr id="143" name="embedded_text" descr="Editable text; source id embedded_text"/>
          <p:cNvSpPr txBox="1"/>
          <p:nvPr/>
        </p:nvSpPr>
        <p:spPr>
          <a:xfrm rot="5400000">
            <a:off x="4130350" y="1281404"/>
            <a:ext cx="1928326" cy="36078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46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Embedded Patches</a:t>
            </a:r>
          </a:p>
        </p:txBody>
      </p:sp>
      <p:sp>
        <p:nvSpPr>
          <p:cNvPr id="144" name="norm_text" descr="Editable text; source id norm_text"/>
          <p:cNvSpPr txBox="1"/>
          <p:nvPr/>
        </p:nvSpPr>
        <p:spPr>
          <a:xfrm>
            <a:off x="5809861" y="1318726"/>
            <a:ext cx="634481" cy="28613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46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Norm</a:t>
            </a:r>
          </a:p>
        </p:txBody>
      </p:sp>
      <p:sp>
        <p:nvSpPr>
          <p:cNvPr id="145" name="forward_conv_text" descr="Editable text; source id forward_conv_text"/>
          <p:cNvSpPr txBox="1"/>
          <p:nvPr/>
        </p:nvSpPr>
        <p:spPr>
          <a:xfrm>
            <a:off x="7763069" y="488924"/>
            <a:ext cx="970383" cy="44786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Forward</a:t>
            </a:r>
          </a:p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Conv1d</a:t>
            </a:r>
          </a:p>
        </p:txBody>
      </p:sp>
      <p:sp>
        <p:nvSpPr>
          <p:cNvPr id="146" name="backward_conv_text" descr="Editable text; source id backward_conv_text"/>
          <p:cNvSpPr txBox="1"/>
          <p:nvPr/>
        </p:nvSpPr>
        <p:spPr>
          <a:xfrm>
            <a:off x="7763069" y="1235373"/>
            <a:ext cx="970383" cy="44786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Backward</a:t>
            </a:r>
          </a:p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Conv1d</a:t>
            </a:r>
          </a:p>
        </p:txBody>
      </p:sp>
      <p:sp>
        <p:nvSpPr>
          <p:cNvPr id="147" name="forward_ssm_text" descr="Editable text; source id forward_ssm_text"/>
          <p:cNvSpPr txBox="1"/>
          <p:nvPr/>
        </p:nvSpPr>
        <p:spPr>
          <a:xfrm>
            <a:off x="9056914" y="488924"/>
            <a:ext cx="808653" cy="44786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Forward</a:t>
            </a:r>
          </a:p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SSM</a:t>
            </a:r>
          </a:p>
        </p:txBody>
      </p:sp>
      <p:sp>
        <p:nvSpPr>
          <p:cNvPr id="148" name="backward_ssm_text" descr="Editable text; source id backward_ssm_text"/>
          <p:cNvSpPr txBox="1"/>
          <p:nvPr/>
        </p:nvSpPr>
        <p:spPr>
          <a:xfrm>
            <a:off x="9056914" y="1235373"/>
            <a:ext cx="808653" cy="44786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Backward</a:t>
            </a:r>
          </a:p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SSM</a:t>
            </a:r>
          </a:p>
        </p:txBody>
      </p:sp>
      <p:sp>
        <p:nvSpPr>
          <p:cNvPr id="149" name="activation_text" descr="Editable text; source id activation_text"/>
          <p:cNvSpPr txBox="1"/>
          <p:nvPr/>
        </p:nvSpPr>
        <p:spPr>
          <a:xfrm>
            <a:off x="7763069" y="2052734"/>
            <a:ext cx="957942" cy="31102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2"/>
              </a:lnSpc>
              <a:spcBef>
                <a:spcPts val="0"/>
              </a:spcBef>
              <a:spcAft>
                <a:spcPts val="0"/>
              </a:spcAft>
              <a:defRPr sz="14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Activation</a:t>
            </a:r>
          </a:p>
        </p:txBody>
      </p:sp>
      <p:sp>
        <p:nvSpPr>
          <p:cNvPr id="150" name="multiply_forward_symbol" descr="Editable text; source id multiply_forward_symbol"/>
          <p:cNvSpPr txBox="1"/>
          <p:nvPr/>
        </p:nvSpPr>
        <p:spPr>
          <a:xfrm>
            <a:off x="10338318" y="597159"/>
            <a:ext cx="136848" cy="24881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77"/>
              </a:lnSpc>
              <a:spcBef>
                <a:spcPts val="0"/>
              </a:spcBef>
              <a:spcAft>
                <a:spcPts val="0"/>
              </a:spcAft>
              <a:defRPr sz="137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151" name="multiply_backward_symbol" descr="Editable text; source id multiply_backward_symbol"/>
          <p:cNvSpPr txBox="1"/>
          <p:nvPr/>
        </p:nvSpPr>
        <p:spPr>
          <a:xfrm>
            <a:off x="10126824" y="1343608"/>
            <a:ext cx="136848" cy="24881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77"/>
              </a:lnSpc>
              <a:spcBef>
                <a:spcPts val="0"/>
              </a:spcBef>
              <a:spcAft>
                <a:spcPts val="0"/>
              </a:spcAft>
              <a:defRPr sz="137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152" name="merge_symbol" descr="Editable text; source id merge_symbol"/>
          <p:cNvSpPr txBox="1"/>
          <p:nvPr/>
        </p:nvSpPr>
        <p:spPr>
          <a:xfrm>
            <a:off x="10599575" y="1343608"/>
            <a:ext cx="136848" cy="24881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77"/>
              </a:lnSpc>
              <a:spcBef>
                <a:spcPts val="0"/>
              </a:spcBef>
              <a:spcAft>
                <a:spcPts val="0"/>
              </a:spcAft>
              <a:defRPr sz="137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53" name="residual_symbol" descr="Editable text; source id residual_symbol"/>
          <p:cNvSpPr txBox="1"/>
          <p:nvPr/>
        </p:nvSpPr>
        <p:spPr>
          <a:xfrm>
            <a:off x="11632162" y="1343608"/>
            <a:ext cx="136848" cy="24881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77"/>
              </a:lnSpc>
              <a:spcBef>
                <a:spcPts val="0"/>
              </a:spcBef>
              <a:spcAft>
                <a:spcPts val="0"/>
              </a:spcAft>
              <a:defRPr sz="137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54" name="x" descr="Editable text; source id x"/>
          <p:cNvSpPr txBox="1"/>
          <p:nvPr/>
        </p:nvSpPr>
        <p:spPr>
          <a:xfrm>
            <a:off x="7364963" y="572277"/>
            <a:ext cx="161730" cy="2736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4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55" name="z" descr="Editable text; source id z"/>
          <p:cNvSpPr txBox="1"/>
          <p:nvPr/>
        </p:nvSpPr>
        <p:spPr>
          <a:xfrm>
            <a:off x="7414726" y="2065175"/>
            <a:ext cx="161730" cy="2736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4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56" name="y" descr="Editable text; source id y"/>
          <p:cNvSpPr txBox="1"/>
          <p:nvPr/>
        </p:nvSpPr>
        <p:spPr>
          <a:xfrm>
            <a:off x="10848391" y="1318726"/>
            <a:ext cx="186612" cy="273697"/>
          </a:xfrm>
          <a:prstGeom prst="rect">
            <a:avLst/>
          </a:prstGeom>
          <a:noFill/>
          <a:effectLst/>
        </p:spPr>
        <p:txBody>
          <a:bodyPr wrap="none" anchor="t" tIns="0" rIns="0" bIns="0" lIns="24881" anchorCtr="0" vertOverflow="overflow">
            <a:noAutofit/>
          </a:bodyPr>
          <a:lstStyle/>
          <a:p>
            <a:pPr algn="l" fontAlgn="base"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4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57" name="hf" descr="Editable text; source id hf"/>
          <p:cNvSpPr txBox="1"/>
          <p:nvPr/>
        </p:nvSpPr>
        <p:spPr>
          <a:xfrm>
            <a:off x="9479901" y="149289"/>
            <a:ext cx="124408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4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58" name="hb" descr="Editable text; source id hb"/>
          <p:cNvSpPr txBox="1"/>
          <p:nvPr/>
        </p:nvSpPr>
        <p:spPr>
          <a:xfrm>
            <a:off x="9467460" y="1754155"/>
            <a:ext cx="124408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4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59" name="hf_sub" descr="Editable text; source id hf_sub"/>
          <p:cNvSpPr txBox="1"/>
          <p:nvPr/>
        </p:nvSpPr>
        <p:spPr>
          <a:xfrm>
            <a:off x="9604309" y="236375"/>
            <a:ext cx="547395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26"/>
              </a:lnSpc>
              <a:spcBef>
                <a:spcPts val="0"/>
              </a:spcBef>
              <a:spcAft>
                <a:spcPts val="0"/>
              </a:spcAft>
              <a:defRPr sz="97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forward</a:t>
            </a:r>
          </a:p>
        </p:txBody>
      </p:sp>
      <p:sp>
        <p:nvSpPr>
          <p:cNvPr id="160" name="hb_sub" descr="Editable text; source id hb_sub"/>
          <p:cNvSpPr txBox="1"/>
          <p:nvPr/>
        </p:nvSpPr>
        <p:spPr>
          <a:xfrm>
            <a:off x="9604309" y="1853681"/>
            <a:ext cx="597159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26"/>
              </a:lnSpc>
              <a:spcBef>
                <a:spcPts val="0"/>
              </a:spcBef>
              <a:spcAft>
                <a:spcPts val="0"/>
              </a:spcAft>
              <a:defRPr sz="97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backward</a:t>
            </a:r>
          </a:p>
        </p:txBody>
      </p:sp>
      <p:sp>
        <p:nvSpPr>
          <p:cNvPr id="161" name="repeat" descr="Editable text; source id repeat"/>
          <p:cNvSpPr txBox="1"/>
          <p:nvPr/>
        </p:nvSpPr>
        <p:spPr>
          <a:xfrm>
            <a:off x="11507754" y="236375"/>
            <a:ext cx="348342" cy="2488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89"/>
              </a:lnSpc>
              <a:spcBef>
                <a:spcPts val="0"/>
              </a:spcBef>
              <a:spcAft>
                <a:spcPts val="0"/>
              </a:spcAft>
              <a:defRPr sz="146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L×</a:t>
            </a:r>
          </a:p>
        </p:txBody>
      </p:sp>
      <p:sp>
        <p:nvSpPr>
          <p:cNvPr id="162" name="encoder_title" descr="Editable text; source id encoder_title"/>
          <p:cNvSpPr txBox="1"/>
          <p:nvPr/>
        </p:nvSpPr>
        <p:spPr>
          <a:xfrm>
            <a:off x="7308979" y="2904930"/>
            <a:ext cx="2687216" cy="3110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46"/>
              </a:lnSpc>
              <a:spcBef>
                <a:spcPts val="0"/>
              </a:spcBef>
              <a:spcAft>
                <a:spcPts val="0"/>
              </a:spcAft>
              <a:defRPr sz="1518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8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 Mamba Encoder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