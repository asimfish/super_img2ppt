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5556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Zawalski et al. (2025), PMLR 270:3157–3181, Figure 4. https://proceedings.mlr.press/v270/zawalski25a.html CC BY 4.0. Raster-based native reconstruction; photos and logos retained as local raster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taset" descr="Editable shape; source id dataset"/>
          <p:cNvSpPr/>
          <p:nvPr/>
        </p:nvSpPr>
        <p:spPr>
          <a:xfrm>
            <a:off x="15364" y="276567"/>
            <a:ext cx="2911636" cy="4256060"/>
          </a:xfrm>
          <a:prstGeom prst="roundRect">
            <a:avLst>
              <a:gd name="adj" fmla="val 7387"/>
            </a:avLst>
          </a:prstGeom>
          <a:noFill/>
          <a:ln w="26120">
            <a:solidFill>
              <a:srgbClr val="A0A0A0"/>
            </a:solidFill>
            <a:custDash>
              <a:ds d="794118" sp="3235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scribe" descr="Editable shape; source id describe"/>
          <p:cNvSpPr/>
          <p:nvPr/>
        </p:nvSpPr>
        <p:spPr>
          <a:xfrm>
            <a:off x="3195886" y="276567"/>
            <a:ext cx="2842495" cy="1613308"/>
          </a:xfrm>
          <a:prstGeom prst="roundRect">
            <a:avLst>
              <a:gd name="adj" fmla="val 10952"/>
            </a:avLst>
          </a:prstGeom>
          <a:solidFill>
            <a:srgbClr val="FFFFFF"/>
          </a:solidFill>
          <a:ln w="261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xes" descr="Editable shape; source id boxes"/>
          <p:cNvSpPr/>
          <p:nvPr/>
        </p:nvSpPr>
        <p:spPr>
          <a:xfrm>
            <a:off x="3195886" y="2281678"/>
            <a:ext cx="2842495" cy="2250948"/>
          </a:xfrm>
          <a:prstGeom prst="roundRect">
            <a:avLst>
              <a:gd name="adj" fmla="val 7849"/>
            </a:avLst>
          </a:prstGeom>
          <a:solidFill>
            <a:srgbClr val="FFFFFF"/>
          </a:solidFill>
          <a:ln w="261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on" descr="Editable shape; source id motion"/>
          <p:cNvSpPr/>
          <p:nvPr/>
        </p:nvSpPr>
        <p:spPr>
          <a:xfrm>
            <a:off x="6253489" y="261202"/>
            <a:ext cx="2842495" cy="1628672"/>
          </a:xfrm>
          <a:prstGeom prst="roundRect">
            <a:avLst>
              <a:gd name="adj" fmla="val 10849"/>
            </a:avLst>
          </a:prstGeom>
          <a:solidFill>
            <a:srgbClr val="FFFFFF"/>
          </a:solidFill>
          <a:ln w="261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ripper" descr="Editable shape; source id gripper"/>
          <p:cNvSpPr/>
          <p:nvPr/>
        </p:nvSpPr>
        <p:spPr>
          <a:xfrm>
            <a:off x="6253489" y="2281678"/>
            <a:ext cx="2842495" cy="2250948"/>
          </a:xfrm>
          <a:prstGeom prst="roundRect">
            <a:avLst>
              <a:gd name="adj" fmla="val 7849"/>
            </a:avLst>
          </a:prstGeom>
          <a:solidFill>
            <a:srgbClr val="FFFFFF"/>
          </a:solidFill>
          <a:ln w="261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lans" descr="Editable shape; source id plans"/>
          <p:cNvSpPr/>
          <p:nvPr/>
        </p:nvSpPr>
        <p:spPr>
          <a:xfrm>
            <a:off x="9311092" y="261202"/>
            <a:ext cx="2842495" cy="4271425"/>
          </a:xfrm>
          <a:prstGeom prst="roundRect">
            <a:avLst>
              <a:gd name="adj" fmla="val 6216"/>
            </a:avLst>
          </a:prstGeom>
          <a:solidFill>
            <a:srgbClr val="FFFFFF"/>
          </a:solidFill>
          <a:ln w="261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set_title" descr="Editable text; source id dataset_title"/>
          <p:cNvSpPr txBox="1"/>
          <p:nvPr/>
        </p:nvSpPr>
        <p:spPr>
          <a:xfrm>
            <a:off x="138283" y="0"/>
            <a:ext cx="2788718" cy="27656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Robot Trajectory from Dataset</a:t>
            </a:r>
          </a:p>
        </p:txBody>
      </p:sp>
      <p:sp>
        <p:nvSpPr>
          <p:cNvPr id="9" name="step1" descr="Editable text; source id step1"/>
          <p:cNvSpPr txBox="1"/>
          <p:nvPr/>
        </p:nvSpPr>
        <p:spPr>
          <a:xfrm>
            <a:off x="3241981" y="0"/>
            <a:ext cx="2804083" cy="29193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1. Describe scene</a:t>
            </a:r>
          </a:p>
        </p:txBody>
      </p:sp>
      <p:sp>
        <p:nvSpPr>
          <p:cNvPr id="10" name="step2" descr="Editable text; source id step2"/>
          <p:cNvSpPr txBox="1"/>
          <p:nvPr/>
        </p:nvSpPr>
        <p:spPr>
          <a:xfrm>
            <a:off x="3241981" y="2005111"/>
            <a:ext cx="2804083" cy="29193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2. Extract bounding boxes</a:t>
            </a:r>
          </a:p>
        </p:txBody>
      </p:sp>
      <p:sp>
        <p:nvSpPr>
          <p:cNvPr id="11" name="step3" descr="Editable text; source id step3"/>
          <p:cNvSpPr txBox="1"/>
          <p:nvPr/>
        </p:nvSpPr>
        <p:spPr>
          <a:xfrm>
            <a:off x="6291901" y="0"/>
            <a:ext cx="2804083" cy="29193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3. Compute motion primitives</a:t>
            </a:r>
          </a:p>
        </p:txBody>
      </p:sp>
      <p:sp>
        <p:nvSpPr>
          <p:cNvPr id="12" name="step4" descr="Editable text; source id step4"/>
          <p:cNvSpPr txBox="1"/>
          <p:nvPr/>
        </p:nvSpPr>
        <p:spPr>
          <a:xfrm>
            <a:off x="6291901" y="2005111"/>
            <a:ext cx="2804083" cy="29193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4. Compute gripper position</a:t>
            </a:r>
          </a:p>
        </p:txBody>
      </p:sp>
      <p:sp>
        <p:nvSpPr>
          <p:cNvPr id="13" name="step5" descr="Editable text; source id step5"/>
          <p:cNvSpPr txBox="1"/>
          <p:nvPr/>
        </p:nvSpPr>
        <p:spPr>
          <a:xfrm>
            <a:off x="9349504" y="0"/>
            <a:ext cx="2804083" cy="29193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5. Generate plans + subtasks</a:t>
            </a:r>
          </a:p>
        </p:txBody>
      </p:sp>
      <p:sp>
        <p:nvSpPr>
          <p:cNvPr id="14" name="task_title" descr="Editable text; source id task_title"/>
          <p:cNvSpPr txBox="1"/>
          <p:nvPr/>
        </p:nvSpPr>
        <p:spPr>
          <a:xfrm>
            <a:off x="852748" y="376438"/>
            <a:ext cx="1421247" cy="2612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33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Task Instruction</a:t>
            </a:r>
          </a:p>
        </p:txBody>
      </p:sp>
      <p:sp>
        <p:nvSpPr>
          <p:cNvPr id="15" name="instruction" descr="Editable shape; source id instruction"/>
          <p:cNvSpPr/>
          <p:nvPr/>
        </p:nvSpPr>
        <p:spPr>
          <a:xfrm>
            <a:off x="192060" y="629958"/>
            <a:ext cx="2550563" cy="361073"/>
          </a:xfrm>
          <a:prstGeom prst="roundRect">
            <a:avLst>
              <a:gd name="adj" fmla="val 23404"/>
            </a:avLst>
          </a:prstGeom>
          <a:solidFill>
            <a:srgbClr val="98D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struction_text" descr="Editable text; source id instruction_text"/>
          <p:cNvSpPr txBox="1"/>
          <p:nvPr/>
        </p:nvSpPr>
        <p:spPr>
          <a:xfrm>
            <a:off x="261202" y="706782"/>
            <a:ext cx="2450691" cy="2535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Put the watermelon on the towel</a:t>
            </a:r>
          </a:p>
        </p:txBody>
      </p:sp>
      <p:sp>
        <p:nvSpPr>
          <p:cNvPr id="17" name="state" descr="Editable text; source id state"/>
          <p:cNvSpPr txBox="1"/>
          <p:nvPr/>
        </p:nvSpPr>
        <p:spPr>
          <a:xfrm>
            <a:off x="1098585" y="1098585"/>
            <a:ext cx="1152362" cy="2612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33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State Info</a:t>
            </a:r>
          </a:p>
        </p:txBody>
      </p:sp>
      <p:sp>
        <p:nvSpPr>
          <p:cNvPr id="18" name="input_state2" descr="Editable shape; source id input_state2"/>
          <p:cNvSpPr/>
          <p:nvPr/>
        </p:nvSpPr>
        <p:spPr>
          <a:xfrm>
            <a:off x="460945" y="1352105"/>
            <a:ext cx="2297043" cy="361073"/>
          </a:xfrm>
          <a:prstGeom prst="roundRect">
            <a:avLst>
              <a:gd name="adj" fmla="val 14893"/>
            </a:avLst>
          </a:prstGeom>
          <a:solidFill>
            <a:srgbClr val="F2F2F2"/>
          </a:solidFill>
          <a:ln w="16901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_state1" descr="Editable shape; source id input_state1"/>
          <p:cNvSpPr/>
          <p:nvPr/>
        </p:nvSpPr>
        <p:spPr>
          <a:xfrm>
            <a:off x="338026" y="1490389"/>
            <a:ext cx="2297043" cy="361073"/>
          </a:xfrm>
          <a:prstGeom prst="roundRect">
            <a:avLst>
              <a:gd name="adj" fmla="val 14893"/>
            </a:avLst>
          </a:prstGeom>
          <a:solidFill>
            <a:srgbClr val="F2F2F2"/>
          </a:solidFill>
          <a:ln w="16901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nput_state0" descr="Editable shape; source id input_state0"/>
          <p:cNvSpPr/>
          <p:nvPr/>
        </p:nvSpPr>
        <p:spPr>
          <a:xfrm>
            <a:off x="215107" y="1628672"/>
            <a:ext cx="2297043" cy="361073"/>
          </a:xfrm>
          <a:prstGeom prst="roundRect">
            <a:avLst>
              <a:gd name="adj" fmla="val 14893"/>
            </a:avLst>
          </a:prstGeom>
          <a:solidFill>
            <a:srgbClr val="F2F2F2"/>
          </a:solidFill>
          <a:ln w="16901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_formula" descr="Editable text; source id input_formula"/>
          <p:cNvSpPr txBox="1"/>
          <p:nvPr/>
        </p:nvSpPr>
        <p:spPr>
          <a:xfrm>
            <a:off x="430215" y="1713179"/>
            <a:ext cx="1997429" cy="2612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28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28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Proprio 1: </a:t>
            </a:r>
            <a:r>
              <a:rPr sz="128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[Δ</a:t>
            </a:r>
            <a:r>
              <a:rPr sz="1282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x</a:t>
            </a:r>
            <a:r>
              <a:rPr sz="128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, Δ</a:t>
            </a:r>
            <a:r>
              <a:rPr sz="1330" b="0" i="1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28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, ΔGrip]</a:t>
            </a:r>
          </a:p>
        </p:txBody>
      </p:sp>
      <p:sp>
        <p:nvSpPr>
          <p:cNvPr id="22" name="output_state2" descr="Editable shape; source id output_state2"/>
          <p:cNvSpPr/>
          <p:nvPr/>
        </p:nvSpPr>
        <p:spPr>
          <a:xfrm>
            <a:off x="6875765" y="645323"/>
            <a:ext cx="2143395" cy="361073"/>
          </a:xfrm>
          <a:prstGeom prst="roundRect">
            <a:avLst>
              <a:gd name="adj" fmla="val 14893"/>
            </a:avLst>
          </a:prstGeom>
          <a:solidFill>
            <a:srgbClr val="F2F2F2"/>
          </a:solidFill>
          <a:ln w="16901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utput_state1" descr="Editable shape; source id output_state1"/>
          <p:cNvSpPr/>
          <p:nvPr/>
        </p:nvSpPr>
        <p:spPr>
          <a:xfrm>
            <a:off x="6806623" y="722147"/>
            <a:ext cx="2143395" cy="361073"/>
          </a:xfrm>
          <a:prstGeom prst="roundRect">
            <a:avLst>
              <a:gd name="adj" fmla="val 14893"/>
            </a:avLst>
          </a:prstGeom>
          <a:solidFill>
            <a:srgbClr val="F2F2F2"/>
          </a:solidFill>
          <a:ln w="16901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utput_state0" descr="Editable shape; source id output_state0"/>
          <p:cNvSpPr/>
          <p:nvPr/>
        </p:nvSpPr>
        <p:spPr>
          <a:xfrm>
            <a:off x="6737481" y="798971"/>
            <a:ext cx="2143395" cy="361073"/>
          </a:xfrm>
          <a:prstGeom prst="roundRect">
            <a:avLst>
              <a:gd name="adj" fmla="val 14893"/>
            </a:avLst>
          </a:prstGeom>
          <a:solidFill>
            <a:srgbClr val="F2F2F2"/>
          </a:solidFill>
          <a:ln w="16901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utput_formula" descr="Editable text; source id output_formula"/>
          <p:cNvSpPr txBox="1"/>
          <p:nvPr/>
        </p:nvSpPr>
        <p:spPr>
          <a:xfrm>
            <a:off x="6875765" y="883478"/>
            <a:ext cx="1997429" cy="2612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28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28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Proprio 1: </a:t>
            </a:r>
            <a:r>
              <a:rPr sz="128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[Δ</a:t>
            </a:r>
            <a:r>
              <a:rPr sz="1282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x</a:t>
            </a:r>
            <a:r>
              <a:rPr sz="128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, Δ</a:t>
            </a:r>
            <a:r>
              <a:rPr sz="1330" b="0" i="1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282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, ΔGrip]</a:t>
            </a:r>
          </a:p>
        </p:txBody>
      </p:sp>
      <p:sp>
        <p:nvSpPr>
          <p:cNvPr id="26" name="obs" descr="Editable text; source id obs"/>
          <p:cNvSpPr txBox="1"/>
          <p:nvPr/>
        </p:nvSpPr>
        <p:spPr>
          <a:xfrm>
            <a:off x="960302" y="2112665"/>
            <a:ext cx="1536483" cy="2535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33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pic>
        <p:nvPicPr>
          <p:cNvPr id="27" name="photo_back" descr="Exact local crop from official PMLR PDF raster; see provenance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80" y="2335455"/>
            <a:ext cx="2320090" cy="1743909"/>
          </a:xfrm>
          <a:prstGeom prst="rect">
            <a:avLst/>
          </a:prstGeom>
          <a:effectLst/>
        </p:spPr>
      </p:pic>
      <p:pic>
        <p:nvPicPr>
          <p:cNvPr id="28" name="photo_mid" descr="Exact local crop from official PMLR PDF raster; see provenance.j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44" y="2473739"/>
            <a:ext cx="2320090" cy="1743909"/>
          </a:xfrm>
          <a:prstGeom prst="rect">
            <a:avLst/>
          </a:prstGeom>
          <a:effectLst/>
        </p:spPr>
      </p:pic>
      <p:pic>
        <p:nvPicPr>
          <p:cNvPr id="29" name="photo_front" descr="Exact local crop from official PMLR PDF raster; see provenance.j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25" y="2612022"/>
            <a:ext cx="2320090" cy="1743909"/>
          </a:xfrm>
          <a:prstGeom prst="rect">
            <a:avLst/>
          </a:prstGeom>
          <a:effectLst/>
        </p:spPr>
      </p:pic>
      <p:sp>
        <p:nvSpPr>
          <p:cNvPr id="30" name="prismatic" descr="Editable text; source id prismatic"/>
          <p:cNvSpPr txBox="1"/>
          <p:nvPr/>
        </p:nvSpPr>
        <p:spPr>
          <a:xfrm>
            <a:off x="3964128" y="322661"/>
            <a:ext cx="1736226" cy="27656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Prismatic-VLM</a:t>
            </a:r>
          </a:p>
        </p:txBody>
      </p:sp>
      <p:pic>
        <p:nvPicPr>
          <p:cNvPr id="31" name="rainbow_logo" descr="Exact local crop from official PMLR PDF raster; see provenance.js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402" y="314979"/>
            <a:ext cx="230472" cy="222790"/>
          </a:xfrm>
          <a:prstGeom prst="rect">
            <a:avLst/>
          </a:prstGeom>
          <a:effectLst/>
        </p:spPr>
      </p:pic>
      <p:sp>
        <p:nvSpPr>
          <p:cNvPr id="32" name="describe_prompt" descr="Editable shape; source id describe_prompt"/>
          <p:cNvSpPr/>
          <p:nvPr/>
        </p:nvSpPr>
        <p:spPr>
          <a:xfrm>
            <a:off x="3303440" y="583863"/>
            <a:ext cx="2604340" cy="368756"/>
          </a:xfrm>
          <a:prstGeom prst="roundRect">
            <a:avLst>
              <a:gd name="adj" fmla="val 35416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scribe_prompt_text" descr="Editable text; source id describe_prompt_text"/>
          <p:cNvSpPr txBox="1"/>
          <p:nvPr/>
        </p:nvSpPr>
        <p:spPr>
          <a:xfrm>
            <a:off x="3403311" y="637640"/>
            <a:ext cx="2427644" cy="2688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330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Please describe the scene.</a:t>
            </a:r>
          </a:p>
        </p:txBody>
      </p:sp>
      <p:sp>
        <p:nvSpPr>
          <p:cNvPr id="34" name="description" descr="Editable shape; source id description"/>
          <p:cNvSpPr/>
          <p:nvPr/>
        </p:nvSpPr>
        <p:spPr>
          <a:xfrm>
            <a:off x="3311122" y="1044809"/>
            <a:ext cx="2596657" cy="745194"/>
          </a:xfrm>
          <a:prstGeom prst="roundRect">
            <a:avLst>
              <a:gd name="adj" fmla="val 24742"/>
            </a:avLst>
          </a:prstGeom>
          <a:solidFill>
            <a:srgbClr val="DFF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scription_line1" descr="Editable text; source id description_line1"/>
          <p:cNvSpPr txBox="1"/>
          <p:nvPr/>
        </p:nvSpPr>
        <p:spPr>
          <a:xfrm>
            <a:off x="3410994" y="1213822"/>
            <a:ext cx="2404597" cy="2612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This scene has a </a:t>
            </a:r>
            <a:r>
              <a:rPr sz="1330" b="0" i="1" lang="zh-CN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watermelon</a:t>
            </a:r>
            <a:r>
              <a: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36" name="description_line2" descr="Editable text; source id description_line2"/>
          <p:cNvSpPr txBox="1"/>
          <p:nvPr/>
        </p:nvSpPr>
        <p:spPr>
          <a:xfrm>
            <a:off x="3410994" y="1413565"/>
            <a:ext cx="2458374" cy="2612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0" i="1" lang="zh-CN" dirty="0">
                <a:solidFill>
                  <a:srgbClr val="00BE44"/>
                </a:solidFill>
                <a:latin typeface="Arial"/>
                <a:ea typeface="Arial"/>
                <a:cs typeface="Arial"/>
              </a:defRPr>
            </a:pPr>
            <a:r>
              <a:rPr sz="1330" b="0" i="1" lang="zh-CN" dirty="0">
                <a:solidFill>
                  <a:srgbClr val="00BE44"/>
                </a:solidFill>
                <a:latin typeface="Arial"/>
                <a:ea typeface="Arial"/>
                <a:cs typeface="Arial"/>
              </a:rPr>
              <a:t>spoon</a:t>
            </a:r>
            <a:r>
              <a: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, </a:t>
            </a:r>
            <a:r>
              <a:rPr sz="1330" b="0" i="1" lang="zh-CN" dirty="0">
                <a:solidFill>
                  <a:srgbClr val="0097CE"/>
                </a:solidFill>
                <a:latin typeface="Arial"/>
                <a:ea typeface="Arial"/>
                <a:cs typeface="Arial"/>
              </a:rPr>
              <a:t>towel</a:t>
            </a:r>
            <a:r>
              <a: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, and </a:t>
            </a:r>
            <a:r>
              <a:rPr sz="1330" b="0" i="1" lang="zh-CN" dirty="0">
                <a:solidFill>
                  <a:srgbClr val="FF6800"/>
                </a:solidFill>
                <a:latin typeface="Arial"/>
                <a:ea typeface="Arial"/>
                <a:cs typeface="Arial"/>
              </a:rPr>
              <a:t>mushroom.</a:t>
            </a:r>
          </a:p>
        </p:txBody>
      </p:sp>
      <p:sp>
        <p:nvSpPr>
          <p:cNvPr id="37" name="grounding" descr="Editable text; source id grounding"/>
          <p:cNvSpPr txBox="1"/>
          <p:nvPr/>
        </p:nvSpPr>
        <p:spPr>
          <a:xfrm>
            <a:off x="3871939" y="2327773"/>
            <a:ext cx="1805368" cy="27656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Grounding DINO</a:t>
            </a:r>
          </a:p>
        </p:txBody>
      </p:sp>
      <p:pic>
        <p:nvPicPr>
          <p:cNvPr id="38" name="dino_logo" descr="Exact local crop from official PMLR PDF raster; see provenance.js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037" y="2335455"/>
            <a:ext cx="276567" cy="230472"/>
          </a:xfrm>
          <a:prstGeom prst="rect">
            <a:avLst/>
          </a:prstGeom>
          <a:effectLst/>
        </p:spPr>
      </p:pic>
      <p:pic>
        <p:nvPicPr>
          <p:cNvPr id="39" name="grounding_photo" descr="Same source observation reused from clean dataset foreground crop; four original detector boxes rebuilt as native rectangle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453" y="2627387"/>
            <a:ext cx="2320090" cy="1743909"/>
          </a:xfrm>
          <a:prstGeom prst="rect">
            <a:avLst/>
          </a:prstGeom>
          <a:effectLst/>
        </p:spPr>
      </p:pic>
      <p:sp>
        <p:nvSpPr>
          <p:cNvPr id="40" name="proprio_title" descr="Editable text; source id proprio_title"/>
          <p:cNvSpPr txBox="1"/>
          <p:nvPr/>
        </p:nvSpPr>
        <p:spPr>
          <a:xfrm>
            <a:off x="6745164" y="314979"/>
            <a:ext cx="1982064" cy="28424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Proprio → Primitives</a:t>
            </a:r>
          </a:p>
        </p:txBody>
      </p:sp>
      <p:pic>
        <p:nvPicPr>
          <p:cNvPr id="41" name="python_logo" descr="Exact local crop from official PMLR PDF raster; see provenance.js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1735" y="314979"/>
            <a:ext cx="222790" cy="222790"/>
          </a:xfrm>
          <a:prstGeom prst="rect">
            <a:avLst/>
          </a:prstGeom>
          <a:effectLst/>
        </p:spPr>
      </p:pic>
      <p:pic>
        <p:nvPicPr>
          <p:cNvPr id="42" name="curved_arrow" descr="Exact local crop from official PMLR PDF raster; see provenance.js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2631" y="806654"/>
            <a:ext cx="391803" cy="852748"/>
          </a:xfrm>
          <a:prstGeom prst="rect">
            <a:avLst/>
          </a:prstGeom>
          <a:effectLst/>
        </p:spPr>
      </p:pic>
      <p:sp>
        <p:nvSpPr>
          <p:cNvPr id="43" name="motion_list" descr="Editable shape; source id motion_list"/>
          <p:cNvSpPr/>
          <p:nvPr/>
        </p:nvSpPr>
        <p:spPr>
          <a:xfrm>
            <a:off x="6737481" y="1375153"/>
            <a:ext cx="2135712" cy="322661"/>
          </a:xfrm>
          <a:prstGeom prst="roundRect">
            <a:avLst>
              <a:gd name="adj" fmla="val 35714"/>
            </a:avLst>
          </a:prstGeom>
          <a:solidFill>
            <a:srgbClr val="FF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otion_text" descr="Editable text; source id motion_text"/>
          <p:cNvSpPr txBox="1"/>
          <p:nvPr/>
        </p:nvSpPr>
        <p:spPr>
          <a:xfrm>
            <a:off x="6921859" y="1428930"/>
            <a:ext cx="1874510" cy="2612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330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{right, down, down,  ...}</a:t>
            </a:r>
          </a:p>
        </p:txBody>
      </p:sp>
      <p:sp>
        <p:nvSpPr>
          <p:cNvPr id="45" name="owl_title" descr="Editable text; source id owl_title"/>
          <p:cNvSpPr txBox="1"/>
          <p:nvPr/>
        </p:nvSpPr>
        <p:spPr>
          <a:xfrm>
            <a:off x="7121602" y="2327773"/>
            <a:ext cx="1459659" cy="28424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OWL + SAM</a:t>
            </a:r>
          </a:p>
        </p:txBody>
      </p:sp>
      <p:pic>
        <p:nvPicPr>
          <p:cNvPr id="46" name="owl_logo" descr="Exact local crop from official PMLR PDF raster; see provenance.js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1005" y="2320090"/>
            <a:ext cx="268884" cy="261202"/>
          </a:xfrm>
          <a:prstGeom prst="rect">
            <a:avLst/>
          </a:prstGeom>
          <a:effectLst/>
        </p:spPr>
      </p:pic>
      <p:pic>
        <p:nvPicPr>
          <p:cNvPr id="47" name="gripper_photo" descr="Exact local crop from official PMLR PDF raster; see provenance.js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4691" y="2627387"/>
            <a:ext cx="2320090" cy="1743909"/>
          </a:xfrm>
          <a:prstGeom prst="rect">
            <a:avLst/>
          </a:prstGeom>
          <a:effectLst/>
        </p:spPr>
      </p:pic>
      <p:sp>
        <p:nvSpPr>
          <p:cNvPr id="48" name="arm_label" descr="Editable shape; source id arm_label"/>
          <p:cNvSpPr/>
          <p:nvPr/>
        </p:nvSpPr>
        <p:spPr>
          <a:xfrm>
            <a:off x="7106238" y="3211251"/>
            <a:ext cx="1390517" cy="268884"/>
          </a:xfrm>
          <a:prstGeom prst="rect">
            <a:avLst/>
          </a:prstGeom>
          <a:solidFill>
            <a:srgbClr val="CA9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m_text" descr="Editable text; source id arm_text"/>
          <p:cNvSpPr txBox="1"/>
          <p:nvPr/>
        </p:nvSpPr>
        <p:spPr>
          <a:xfrm>
            <a:off x="7244521" y="3249663"/>
            <a:ext cx="1213822" cy="2304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4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4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black robotic arm</a:t>
            </a:r>
          </a:p>
        </p:txBody>
      </p:sp>
      <p:sp>
        <p:nvSpPr>
          <p:cNvPr id="50" name="gemini" descr="Editable text; source id gemini"/>
          <p:cNvSpPr txBox="1"/>
          <p:nvPr/>
        </p:nvSpPr>
        <p:spPr>
          <a:xfrm>
            <a:off x="10179205" y="322661"/>
            <a:ext cx="1498071" cy="2688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12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Gemini LLM</a:t>
            </a:r>
          </a:p>
        </p:txBody>
      </p:sp>
      <p:pic>
        <p:nvPicPr>
          <p:cNvPr id="51" name="gemini_logo" descr="Exact local crop from official PMLR PDF raster; see provenance.js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61655" y="322661"/>
            <a:ext cx="222790" cy="222790"/>
          </a:xfrm>
          <a:prstGeom prst="rect">
            <a:avLst/>
          </a:prstGeom>
          <a:effectLst/>
        </p:spPr>
      </p:pic>
      <p:sp>
        <p:nvSpPr>
          <p:cNvPr id="52" name="gemini_prompt" descr="Editable shape; source id gemini_prompt"/>
          <p:cNvSpPr/>
          <p:nvPr/>
        </p:nvSpPr>
        <p:spPr>
          <a:xfrm>
            <a:off x="9434011" y="591546"/>
            <a:ext cx="2596657" cy="829701"/>
          </a:xfrm>
          <a:prstGeom prst="roundRect">
            <a:avLst>
              <a:gd name="adj" fmla="val 14814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emini_instruction" descr="Editable text; source id gemini_instruction"/>
          <p:cNvSpPr txBox="1"/>
          <p:nvPr/>
        </p:nvSpPr>
        <p:spPr>
          <a:xfrm>
            <a:off x="9556929" y="637640"/>
            <a:ext cx="2427644" cy="384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55"/>
              </a:lnSpc>
              <a:spcBef>
                <a:spcPts val="0"/>
              </a:spcBef>
              <a:spcAft>
                <a:spcPts val="0"/>
              </a:spcAft>
              <a:def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Explain the plan, subtask, and</a:t>
            </a:r>
          </a:p>
          <a:p>
            <a:pPr algn="l" fontAlgn="base">
              <a:lnSpc>
                <a:spcPts val="1255"/>
              </a:lnSpc>
              <a:spcBef>
                <a:spcPts val="0"/>
              </a:spcBef>
              <a:spcAft>
                <a:spcPts val="0"/>
              </a:spcAft>
              <a:def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movement for each step, given:</a:t>
            </a:r>
          </a:p>
        </p:txBody>
      </p:sp>
      <p:sp>
        <p:nvSpPr>
          <p:cNvPr id="54" name="task_pill" descr="Editable shape; source id task_pill"/>
          <p:cNvSpPr/>
          <p:nvPr/>
        </p:nvSpPr>
        <p:spPr>
          <a:xfrm>
            <a:off x="9510835" y="1044809"/>
            <a:ext cx="722147" cy="299614"/>
          </a:xfrm>
          <a:prstGeom prst="roundRect">
            <a:avLst>
              <a:gd name="adj" fmla="val 17948"/>
            </a:avLst>
          </a:prstGeom>
          <a:solidFill>
            <a:srgbClr val="98D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ask_pill_text" descr="Editable text; source id task_pill_text"/>
          <p:cNvSpPr txBox="1"/>
          <p:nvPr/>
        </p:nvSpPr>
        <p:spPr>
          <a:xfrm>
            <a:off x="9510835" y="1090903"/>
            <a:ext cx="722147" cy="21510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028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56" name="desc_pill" descr="Editable shape; source id desc_pill"/>
          <p:cNvSpPr/>
          <p:nvPr/>
        </p:nvSpPr>
        <p:spPr>
          <a:xfrm>
            <a:off x="10371266" y="1044809"/>
            <a:ext cx="722147" cy="299614"/>
          </a:xfrm>
          <a:prstGeom prst="roundRect">
            <a:avLst>
              <a:gd name="adj" fmla="val 17948"/>
            </a:avLst>
          </a:prstGeom>
          <a:solidFill>
            <a:srgbClr val="DFF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sc_pill_text" descr="Editable text; source id desc_pill_text"/>
          <p:cNvSpPr txBox="1"/>
          <p:nvPr/>
        </p:nvSpPr>
        <p:spPr>
          <a:xfrm>
            <a:off x="10371266" y="1090903"/>
            <a:ext cx="722147" cy="21510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028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Desc.</a:t>
            </a:r>
          </a:p>
        </p:txBody>
      </p:sp>
      <p:sp>
        <p:nvSpPr>
          <p:cNvPr id="58" name="moves_pill" descr="Editable shape; source id moves_pill"/>
          <p:cNvSpPr/>
          <p:nvPr/>
        </p:nvSpPr>
        <p:spPr>
          <a:xfrm>
            <a:off x="11247062" y="1044809"/>
            <a:ext cx="722147" cy="299614"/>
          </a:xfrm>
          <a:prstGeom prst="roundRect">
            <a:avLst>
              <a:gd name="adj" fmla="val 17948"/>
            </a:avLst>
          </a:prstGeom>
          <a:solidFill>
            <a:srgbClr val="FF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oves_pill_text" descr="Editable text; source id moves_pill_text"/>
          <p:cNvSpPr txBox="1"/>
          <p:nvPr/>
        </p:nvSpPr>
        <p:spPr>
          <a:xfrm>
            <a:off x="11247062" y="1090903"/>
            <a:ext cx="722147" cy="21510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028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Moves</a:t>
            </a:r>
          </a:p>
        </p:txBody>
      </p:sp>
      <p:sp>
        <p:nvSpPr>
          <p:cNvPr id="60" name="reasoning" descr="Editable shape; source id reasoning"/>
          <p:cNvSpPr/>
          <p:nvPr/>
        </p:nvSpPr>
        <p:spPr>
          <a:xfrm>
            <a:off x="9434011" y="1498071"/>
            <a:ext cx="2596657" cy="2873224"/>
          </a:xfrm>
          <a:prstGeom prst="roundRect">
            <a:avLst>
              <a:gd name="adj" fmla="val 295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ason_0" descr="Editable text; source id reason_0"/>
          <p:cNvSpPr txBox="1"/>
          <p:nvPr/>
        </p:nvSpPr>
        <p:spPr>
          <a:xfrm>
            <a:off x="9556929" y="1667085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Plan: </a:t>
            </a: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Go to watermelon, grasp, go</a:t>
            </a:r>
          </a:p>
        </p:txBody>
      </p:sp>
      <p:sp>
        <p:nvSpPr>
          <p:cNvPr id="62" name="reason_1" descr="Editable text; source id reason_1"/>
          <p:cNvSpPr txBox="1"/>
          <p:nvPr/>
        </p:nvSpPr>
        <p:spPr>
          <a:xfrm>
            <a:off x="9556929" y="1828415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to towel, release</a:t>
            </a:r>
          </a:p>
        </p:txBody>
      </p:sp>
      <p:sp>
        <p:nvSpPr>
          <p:cNvPr id="63" name="reason_2" descr="Editable text; source id reason_2"/>
          <p:cNvSpPr txBox="1"/>
          <p:nvPr/>
        </p:nvSpPr>
        <p:spPr>
          <a:xfrm>
            <a:off x="9556929" y="2020476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Subtasks:</a:t>
            </a:r>
          </a:p>
        </p:txBody>
      </p:sp>
      <p:sp>
        <p:nvSpPr>
          <p:cNvPr id="64" name="reason_3" descr="Editable text; source id reason_3"/>
          <p:cNvSpPr txBox="1"/>
          <p:nvPr/>
        </p:nvSpPr>
        <p:spPr>
          <a:xfrm>
            <a:off x="9556929" y="2212536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1. The robot needs to grasp the</a:t>
            </a:r>
          </a:p>
        </p:txBody>
      </p:sp>
      <p:sp>
        <p:nvSpPr>
          <p:cNvPr id="65" name="reason_4" descr="Editable text; source id reason_4"/>
          <p:cNvSpPr txBox="1"/>
          <p:nvPr/>
        </p:nvSpPr>
        <p:spPr>
          <a:xfrm>
            <a:off x="9556929" y="2373867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watermelon, so first must move to it</a:t>
            </a:r>
          </a:p>
        </p:txBody>
      </p:sp>
      <p:sp>
        <p:nvSpPr>
          <p:cNvPr id="66" name="reason_5" descr="Editable text; source id reason_5"/>
          <p:cNvSpPr txBox="1"/>
          <p:nvPr/>
        </p:nvSpPr>
        <p:spPr>
          <a:xfrm>
            <a:off x="9556929" y="2565928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2. The robot is at the watermelon, so</a:t>
            </a:r>
          </a:p>
        </p:txBody>
      </p:sp>
      <p:sp>
        <p:nvSpPr>
          <p:cNvPr id="67" name="reason_6" descr="Editable text; source id reason_6"/>
          <p:cNvSpPr txBox="1"/>
          <p:nvPr/>
        </p:nvSpPr>
        <p:spPr>
          <a:xfrm>
            <a:off x="9556929" y="2727258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it can now grasp it</a:t>
            </a:r>
          </a:p>
        </p:txBody>
      </p:sp>
      <p:sp>
        <p:nvSpPr>
          <p:cNvPr id="68" name="reason_7" descr="Editable text; source id reason_7"/>
          <p:cNvSpPr txBox="1"/>
          <p:nvPr/>
        </p:nvSpPr>
        <p:spPr>
          <a:xfrm>
            <a:off x="9556929" y="2911636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3. ...</a:t>
            </a:r>
          </a:p>
        </p:txBody>
      </p:sp>
      <p:sp>
        <p:nvSpPr>
          <p:cNvPr id="69" name="reason_8" descr="Editable text; source id reason_8"/>
          <p:cNvSpPr txBox="1"/>
          <p:nvPr/>
        </p:nvSpPr>
        <p:spPr>
          <a:xfrm>
            <a:off x="9556929" y="3080650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1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Moves:</a:t>
            </a:r>
          </a:p>
        </p:txBody>
      </p:sp>
      <p:sp>
        <p:nvSpPr>
          <p:cNvPr id="70" name="reason_9" descr="Editable text; source id reason_9"/>
          <p:cNvSpPr txBox="1"/>
          <p:nvPr/>
        </p:nvSpPr>
        <p:spPr>
          <a:xfrm>
            <a:off x="9556929" y="3272710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1.  The watermelon is right of the</a:t>
            </a:r>
          </a:p>
        </p:txBody>
      </p:sp>
      <p:sp>
        <p:nvSpPr>
          <p:cNvPr id="71" name="reason_10" descr="Editable text; source id reason_10"/>
          <p:cNvSpPr txBox="1"/>
          <p:nvPr/>
        </p:nvSpPr>
        <p:spPr>
          <a:xfrm>
            <a:off x="9772037" y="3434041"/>
            <a:ext cx="2212536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robot, so it must move &lt;right&gt;</a:t>
            </a:r>
          </a:p>
        </p:txBody>
      </p:sp>
      <p:sp>
        <p:nvSpPr>
          <p:cNvPr id="72" name="reason_11" descr="Editable text; source id reason_11"/>
          <p:cNvSpPr txBox="1"/>
          <p:nvPr/>
        </p:nvSpPr>
        <p:spPr>
          <a:xfrm>
            <a:off x="9556929" y="3626101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2.  The watermelon is below the</a:t>
            </a:r>
          </a:p>
        </p:txBody>
      </p:sp>
      <p:sp>
        <p:nvSpPr>
          <p:cNvPr id="73" name="reason_12" descr="Editable text; source id reason_12"/>
          <p:cNvSpPr txBox="1"/>
          <p:nvPr/>
        </p:nvSpPr>
        <p:spPr>
          <a:xfrm>
            <a:off x="9772037" y="3787432"/>
            <a:ext cx="2212536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robot, so it must move &lt;down&gt;</a:t>
            </a:r>
          </a:p>
        </p:txBody>
      </p:sp>
      <p:sp>
        <p:nvSpPr>
          <p:cNvPr id="74" name="reason_13" descr="Editable text; source id reason_13"/>
          <p:cNvSpPr txBox="1"/>
          <p:nvPr/>
        </p:nvSpPr>
        <p:spPr>
          <a:xfrm>
            <a:off x="9556929" y="3971810"/>
            <a:ext cx="2427644" cy="2227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6"/>
              </a:lnSpc>
              <a:spcBef>
                <a:spcPts val="0"/>
              </a:spcBef>
              <a:spcAft>
                <a:spcPts val="0"/>
              </a:spcAft>
              <a:def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119" b="0" i="1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3.  ...</a:t>
            </a:r>
          </a:p>
        </p:txBody>
      </p:sp>
      <p:sp>
        <p:nvSpPr>
          <p:cNvPr id="75" name="bbox_towel" descr="Editable shape; source id bbox_towel"/>
          <p:cNvSpPr/>
          <p:nvPr/>
        </p:nvSpPr>
        <p:spPr>
          <a:xfrm>
            <a:off x="3749020" y="3119062"/>
            <a:ext cx="722147" cy="553134"/>
          </a:xfrm>
          <a:prstGeom prst="rect">
            <a:avLst/>
          </a:prstGeom>
          <a:noFill/>
          <a:ln w="15364">
            <a:solidFill>
              <a:srgbClr val="00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box_spoon" descr="Editable shape; source id bbox_spoon"/>
          <p:cNvSpPr/>
          <p:nvPr/>
        </p:nvSpPr>
        <p:spPr>
          <a:xfrm>
            <a:off x="4309837" y="3418676"/>
            <a:ext cx="553134" cy="468627"/>
          </a:xfrm>
          <a:prstGeom prst="rect">
            <a:avLst/>
          </a:prstGeom>
          <a:noFill/>
          <a:ln w="15364">
            <a:solidFill>
              <a:srgbClr val="00C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box_watermelon" descr="Editable shape; source id bbox_watermelon"/>
          <p:cNvSpPr/>
          <p:nvPr/>
        </p:nvSpPr>
        <p:spPr>
          <a:xfrm>
            <a:off x="4501897" y="3841209"/>
            <a:ext cx="1144680" cy="353391"/>
          </a:xfrm>
          <a:prstGeom prst="rect">
            <a:avLst/>
          </a:prstGeom>
          <a:noFill/>
          <a:ln w="15364">
            <a:solidFill>
              <a:srgbClr val="ED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bbox_mushroom" descr="Editable shape; source id bbox_mushroom"/>
          <p:cNvSpPr/>
          <p:nvPr/>
        </p:nvSpPr>
        <p:spPr>
          <a:xfrm>
            <a:off x="5285504" y="3449406"/>
            <a:ext cx="414850" cy="345708"/>
          </a:xfrm>
          <a:prstGeom prst="rect">
            <a:avLst/>
          </a:prstGeom>
          <a:noFill/>
          <a:ln w="15364">
            <a:solidFill>
              <a:srgbClr val="FF6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