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446706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Reconstructed from Zitkovich et al., RT-2, CoRL 2023, Figure 1, published PMLR PDF page 2. Seven local raster photo assets (including source motion annotations); all readable diagram labels and captions native.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ta" descr="Editable shape; source id data"/>
          <p:cNvSpPr/>
          <p:nvPr/>
        </p:nvSpPr>
        <p:spPr>
          <a:xfrm>
            <a:off x="84720" y="130931"/>
            <a:ext cx="4089672" cy="4320727"/>
          </a:xfrm>
          <a:prstGeom prst="roundRect">
            <a:avLst>
              <a:gd name="adj" fmla="val 2259"/>
            </a:avLst>
          </a:prstGeom>
          <a:solidFill>
            <a:srgbClr val="FFFFFF"/>
          </a:solidFill>
          <a:ln w="15403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odel" descr="Editable shape; source id model"/>
          <p:cNvSpPr/>
          <p:nvPr/>
        </p:nvSpPr>
        <p:spPr>
          <a:xfrm>
            <a:off x="4313025" y="130931"/>
            <a:ext cx="5691653" cy="3404209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 w="15403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sed" descr="Editable shape; source id closed"/>
          <p:cNvSpPr/>
          <p:nvPr/>
        </p:nvSpPr>
        <p:spPr>
          <a:xfrm>
            <a:off x="10166417" y="130931"/>
            <a:ext cx="1948563" cy="4320727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 w="15403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ta_title_bg" descr="Editable shape; source id data_title_bg"/>
          <p:cNvSpPr/>
          <p:nvPr/>
        </p:nvSpPr>
        <p:spPr>
          <a:xfrm>
            <a:off x="231054" y="0"/>
            <a:ext cx="3804704" cy="2926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del_title_bg" descr="Editable shape; source id model_title_bg"/>
          <p:cNvSpPr/>
          <p:nvPr/>
        </p:nvSpPr>
        <p:spPr>
          <a:xfrm>
            <a:off x="4459360" y="0"/>
            <a:ext cx="4343833" cy="2849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sed_title_bg" descr="Editable shape; source id closed_title_bg"/>
          <p:cNvSpPr/>
          <p:nvPr/>
        </p:nvSpPr>
        <p:spPr>
          <a:xfrm>
            <a:off x="10466789" y="0"/>
            <a:ext cx="1340118" cy="4852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qa_en" descr="Editable shape; source id vqa_en"/>
          <p:cNvSpPr/>
          <p:nvPr/>
        </p:nvSpPr>
        <p:spPr>
          <a:xfrm>
            <a:off x="238756" y="315775"/>
            <a:ext cx="3781599" cy="1232293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5403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qa_fr" descr="Editable shape; source id vqa_fr"/>
          <p:cNvSpPr/>
          <p:nvPr/>
        </p:nvSpPr>
        <p:spPr>
          <a:xfrm>
            <a:off x="238756" y="1686701"/>
            <a:ext cx="3781599" cy="1139871"/>
          </a:xfrm>
          <a:prstGeom prst="roundRect">
            <a:avLst>
              <a:gd name="adj" fmla="val 7432"/>
            </a:avLst>
          </a:prstGeom>
          <a:solidFill>
            <a:srgbClr val="FFFFFF"/>
          </a:solidFill>
          <a:ln w="15403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bot_data" descr="Editable shape; source id robot_data"/>
          <p:cNvSpPr/>
          <p:nvPr/>
        </p:nvSpPr>
        <p:spPr>
          <a:xfrm>
            <a:off x="238756" y="2957503"/>
            <a:ext cx="3781599" cy="135552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403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t2" descr="Editable shape; source id rt2"/>
          <p:cNvSpPr/>
          <p:nvPr/>
        </p:nvSpPr>
        <p:spPr>
          <a:xfrm>
            <a:off x="5968919" y="338880"/>
            <a:ext cx="3943337" cy="2017879"/>
          </a:xfrm>
          <a:prstGeom prst="roundRect">
            <a:avLst>
              <a:gd name="adj" fmla="val 6488"/>
            </a:avLst>
          </a:prstGeom>
          <a:solidFill>
            <a:srgbClr val="F7F7F7"/>
          </a:solidFill>
          <a:ln w="15403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n_answer_bg" descr="Editable shape; source id en_answer_bg"/>
          <p:cNvSpPr/>
          <p:nvPr/>
        </p:nvSpPr>
        <p:spPr>
          <a:xfrm>
            <a:off x="2048687" y="1032045"/>
            <a:ext cx="1732912" cy="446706"/>
          </a:xfrm>
          <a:prstGeom prst="roundRect">
            <a:avLst>
              <a:gd name="adj" fmla="val 12068"/>
            </a:avLst>
          </a:prstGeom>
          <a:solidFill>
            <a:srgbClr val="D9D2E8"/>
          </a:solidFill>
          <a:ln w="15403">
            <a:solidFill>
              <a:srgbClr val="7052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_answer_bg" descr="Editable shape; source id fr_answer_bg"/>
          <p:cNvSpPr/>
          <p:nvPr/>
        </p:nvSpPr>
        <p:spPr>
          <a:xfrm>
            <a:off x="485215" y="2395269"/>
            <a:ext cx="1702104" cy="277265"/>
          </a:xfrm>
          <a:prstGeom prst="roundRect">
            <a:avLst>
              <a:gd name="adj" fmla="val 13888"/>
            </a:avLst>
          </a:prstGeom>
          <a:solidFill>
            <a:srgbClr val="D9D2E8"/>
          </a:solidFill>
          <a:ln w="15403">
            <a:solidFill>
              <a:srgbClr val="7052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bot_answer_bg" descr="Editable shape; source id robot_answer_bg"/>
          <p:cNvSpPr/>
          <p:nvPr/>
        </p:nvSpPr>
        <p:spPr>
          <a:xfrm>
            <a:off x="1748315" y="3712282"/>
            <a:ext cx="2179618" cy="508320"/>
          </a:xfrm>
          <a:prstGeom prst="roundRect">
            <a:avLst>
              <a:gd name="adj" fmla="val 7575"/>
            </a:avLst>
          </a:prstGeom>
          <a:solidFill>
            <a:srgbClr val="D9D2E8"/>
          </a:solidFill>
          <a:ln w="15403">
            <a:solidFill>
              <a:srgbClr val="7052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it" descr="Editable shape; source id vit"/>
          <p:cNvSpPr/>
          <p:nvPr/>
        </p:nvSpPr>
        <p:spPr>
          <a:xfrm>
            <a:off x="6107552" y="1409435"/>
            <a:ext cx="870306" cy="762481"/>
          </a:xfrm>
          <a:prstGeom prst="roundRect">
            <a:avLst>
              <a:gd name="adj" fmla="val 17171"/>
            </a:avLst>
          </a:prstGeom>
          <a:solidFill>
            <a:srgbClr val="CC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lm" descr="Editable shape; source id llm"/>
          <p:cNvSpPr/>
          <p:nvPr/>
        </p:nvSpPr>
        <p:spPr>
          <a:xfrm>
            <a:off x="7216616" y="508320"/>
            <a:ext cx="2564709" cy="1663595"/>
          </a:xfrm>
          <a:prstGeom prst="roundRect">
            <a:avLst>
              <a:gd name="adj" fmla="val 8333"/>
            </a:avLst>
          </a:prstGeom>
          <a:solidFill>
            <a:srgbClr val="FCE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nput_token_0" descr="Editable shape; source id input_token_0"/>
          <p:cNvSpPr/>
          <p:nvPr/>
        </p:nvSpPr>
        <p:spPr>
          <a:xfrm>
            <a:off x="4567186" y="947325"/>
            <a:ext cx="138632" cy="69316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322">
            <a:solidFill>
              <a:srgbClr val="FF9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nput_token_1" descr="Editable shape; source id input_token_1"/>
          <p:cNvSpPr/>
          <p:nvPr/>
        </p:nvSpPr>
        <p:spPr>
          <a:xfrm>
            <a:off x="4752030" y="947325"/>
            <a:ext cx="138632" cy="69316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322">
            <a:solidFill>
              <a:srgbClr val="FF9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nput_token_2" descr="Editable shape; source id input_token_2"/>
          <p:cNvSpPr/>
          <p:nvPr/>
        </p:nvSpPr>
        <p:spPr>
          <a:xfrm>
            <a:off x="4944575" y="947325"/>
            <a:ext cx="138632" cy="69316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322">
            <a:solidFill>
              <a:srgbClr val="FF9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nput_token_3" descr="Editable shape; source id input_token_3"/>
          <p:cNvSpPr/>
          <p:nvPr/>
        </p:nvSpPr>
        <p:spPr>
          <a:xfrm>
            <a:off x="5137121" y="947325"/>
            <a:ext cx="138632" cy="69316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322">
            <a:solidFill>
              <a:srgbClr val="FF9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nput_token_4" descr="Editable shape; source id input_token_4"/>
          <p:cNvSpPr/>
          <p:nvPr/>
        </p:nvSpPr>
        <p:spPr>
          <a:xfrm>
            <a:off x="5329667" y="947325"/>
            <a:ext cx="138632" cy="69316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322">
            <a:solidFill>
              <a:srgbClr val="FF9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nput_token_5" descr="Editable shape; source id input_token_5"/>
          <p:cNvSpPr/>
          <p:nvPr/>
        </p:nvSpPr>
        <p:spPr>
          <a:xfrm>
            <a:off x="5514511" y="947325"/>
            <a:ext cx="138632" cy="69316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322">
            <a:solidFill>
              <a:srgbClr val="FF9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ction_tokens_bg" descr="Editable shape; source id action_tokens_bg"/>
          <p:cNvSpPr/>
          <p:nvPr/>
        </p:nvSpPr>
        <p:spPr>
          <a:xfrm>
            <a:off x="5968919" y="2880485"/>
            <a:ext cx="1563471" cy="223353"/>
          </a:xfrm>
          <a:prstGeom prst="roundRect">
            <a:avLst>
              <a:gd name="adj" fmla="val 13793"/>
            </a:avLst>
          </a:prstGeom>
          <a:solidFill>
            <a:srgbClr val="D9D2E8"/>
          </a:solidFill>
          <a:ln w="15403">
            <a:solidFill>
              <a:srgbClr val="7052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ction_bg" descr="Editable shape; source id action_bg"/>
          <p:cNvSpPr/>
          <p:nvPr/>
        </p:nvSpPr>
        <p:spPr>
          <a:xfrm>
            <a:off x="8610647" y="2687939"/>
            <a:ext cx="1301609" cy="531426"/>
          </a:xfrm>
          <a:prstGeom prst="roundRect">
            <a:avLst>
              <a:gd name="adj" fmla="val 7246"/>
            </a:avLst>
          </a:prstGeom>
          <a:solidFill>
            <a:srgbClr val="D9D2E8"/>
          </a:solidFill>
          <a:ln w="15403">
            <a:solidFill>
              <a:srgbClr val="7052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ption_bg_0" descr="Editable shape; source id caption_bg_0"/>
          <p:cNvSpPr/>
          <p:nvPr/>
        </p:nvSpPr>
        <p:spPr>
          <a:xfrm>
            <a:off x="10305050" y="1501857"/>
            <a:ext cx="1663595" cy="315775"/>
          </a:xfrm>
          <a:prstGeom prst="rect">
            <a:avLst/>
          </a:prstGeom>
          <a:solidFill>
            <a:srgbClr val="DDDDDD"/>
          </a:solidFill>
          <a:ln w="7701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ption_bg_1" descr="Editable shape; source id caption_bg_1"/>
          <p:cNvSpPr/>
          <p:nvPr/>
        </p:nvSpPr>
        <p:spPr>
          <a:xfrm>
            <a:off x="10305050" y="2880485"/>
            <a:ext cx="1663595" cy="192545"/>
          </a:xfrm>
          <a:prstGeom prst="rect">
            <a:avLst/>
          </a:prstGeom>
          <a:solidFill>
            <a:srgbClr val="DDDDDD"/>
          </a:solidFill>
          <a:ln w="7701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ption_bg_2" descr="Editable shape; source id caption_bg_2"/>
          <p:cNvSpPr/>
          <p:nvPr/>
        </p:nvSpPr>
        <p:spPr>
          <a:xfrm>
            <a:off x="10305050" y="4112778"/>
            <a:ext cx="1663595" cy="192545"/>
          </a:xfrm>
          <a:prstGeom prst="rect">
            <a:avLst/>
          </a:prstGeom>
          <a:solidFill>
            <a:srgbClr val="DDDDDD"/>
          </a:solidFill>
          <a:ln w="7701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donkey" descr="Exact source pixel crop [43, 51, 189, 140]; published RT-2 Figure1, page2, PDFium4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78" y="392793"/>
            <a:ext cx="1455646" cy="1078256"/>
          </a:xfrm>
          <a:prstGeom prst="rect">
            <a:avLst/>
          </a:prstGeom>
          <a:effectLst/>
        </p:spPr>
      </p:pic>
      <p:pic>
        <p:nvPicPr>
          <p:cNvPr id="29" name="baking" descr="Exact source pixel crop [322, 231, 188, 126]; published RT-2 Figure1, page2, PDFium4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989" y="1779123"/>
            <a:ext cx="1447944" cy="970430"/>
          </a:xfrm>
          <a:prstGeom prst="rect">
            <a:avLst/>
          </a:prstGeom>
          <a:effectLst/>
        </p:spPr>
      </p:pic>
      <p:pic>
        <p:nvPicPr>
          <p:cNvPr id="30" name="robot_train" descr="Exact source pixel crop [40, 394, 175, 145]; published RT-2 Figure1, page2, PDFium4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73" y="3034521"/>
            <a:ext cx="1347820" cy="1116765"/>
          </a:xfrm>
          <a:prstGeom prst="rect">
            <a:avLst/>
          </a:prstGeom>
          <a:effectLst/>
        </p:spPr>
      </p:pic>
      <p:sp>
        <p:nvSpPr>
          <p:cNvPr id="31" name="robot_delta_0" descr="Editable shape; source id robot_delta_0"/>
          <p:cNvSpPr/>
          <p:nvPr/>
        </p:nvSpPr>
        <p:spPr>
          <a:xfrm>
            <a:off x="1840737" y="3773897"/>
            <a:ext cx="115527" cy="130931"/>
          </a:xfrm>
          <a:prstGeom prst="triangle">
            <a:avLst/>
          </a:prstGeom>
          <a:noFill/>
          <a:ln w="15403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bot_delta_1" descr="Editable shape; source id robot_delta_1"/>
          <p:cNvSpPr/>
          <p:nvPr/>
        </p:nvSpPr>
        <p:spPr>
          <a:xfrm>
            <a:off x="1840737" y="4020356"/>
            <a:ext cx="115527" cy="130931"/>
          </a:xfrm>
          <a:prstGeom prst="triangle">
            <a:avLst/>
          </a:prstGeom>
          <a:noFill/>
          <a:ln w="15403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atches" descr="Exact source pixel crop [591, 167, 154, 129]; published RT-2 Figure1, page2, PDFium4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1782" y="1286205"/>
            <a:ext cx="1186082" cy="993536"/>
          </a:xfrm>
          <a:prstGeom prst="rect">
            <a:avLst/>
          </a:prstGeom>
          <a:effectLst/>
        </p:spPr>
      </p:pic>
      <p:sp>
        <p:nvSpPr>
          <p:cNvPr id="34" name="llm_input_0" descr="Editable shape; source id llm_input_0"/>
          <p:cNvSpPr/>
          <p:nvPr/>
        </p:nvSpPr>
        <p:spPr>
          <a:xfrm>
            <a:off x="7370653" y="985834"/>
            <a:ext cx="223353" cy="69316"/>
          </a:xfrm>
          <a:prstGeom prst="roundRect">
            <a:avLst>
              <a:gd name="adj" fmla="val 44444"/>
            </a:avLst>
          </a:prstGeom>
          <a:solidFill>
            <a:srgbClr val="CCDDF9"/>
          </a:solidFill>
          <a:ln w="15403">
            <a:solidFill>
              <a:srgbClr val="438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lm_output_0" descr="Editable shape; source id llm_output_0"/>
          <p:cNvSpPr/>
          <p:nvPr/>
        </p:nvSpPr>
        <p:spPr>
          <a:xfrm>
            <a:off x="7370653" y="1771421"/>
            <a:ext cx="223353" cy="69316"/>
          </a:xfrm>
          <a:prstGeom prst="roundRect">
            <a:avLst>
              <a:gd name="adj" fmla="val 44444"/>
            </a:avLst>
          </a:prstGeom>
          <a:solidFill>
            <a:srgbClr val="EEEEEE"/>
          </a:solidFill>
          <a:ln w="15403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lm_input_1" descr="Editable shape; source id llm_input_1"/>
          <p:cNvSpPr/>
          <p:nvPr/>
        </p:nvSpPr>
        <p:spPr>
          <a:xfrm>
            <a:off x="7663322" y="985834"/>
            <a:ext cx="223353" cy="69316"/>
          </a:xfrm>
          <a:prstGeom prst="roundRect">
            <a:avLst>
              <a:gd name="adj" fmla="val 44444"/>
            </a:avLst>
          </a:prstGeom>
          <a:solidFill>
            <a:srgbClr val="CCDDF9"/>
          </a:solidFill>
          <a:ln w="15403">
            <a:solidFill>
              <a:srgbClr val="438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lm_output_1" descr="Editable shape; source id llm_output_1"/>
          <p:cNvSpPr/>
          <p:nvPr/>
        </p:nvSpPr>
        <p:spPr>
          <a:xfrm>
            <a:off x="7663322" y="1771421"/>
            <a:ext cx="223353" cy="69316"/>
          </a:xfrm>
          <a:prstGeom prst="roundRect">
            <a:avLst>
              <a:gd name="adj" fmla="val 44444"/>
            </a:avLst>
          </a:prstGeom>
          <a:solidFill>
            <a:srgbClr val="EEEEEE"/>
          </a:solidFill>
          <a:ln w="15403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lm_input_2" descr="Editable shape; source id llm_input_2"/>
          <p:cNvSpPr/>
          <p:nvPr/>
        </p:nvSpPr>
        <p:spPr>
          <a:xfrm>
            <a:off x="7955992" y="985834"/>
            <a:ext cx="223353" cy="69316"/>
          </a:xfrm>
          <a:prstGeom prst="roundRect">
            <a:avLst>
              <a:gd name="adj" fmla="val 44444"/>
            </a:avLst>
          </a:prstGeom>
          <a:solidFill>
            <a:srgbClr val="CCDDF9"/>
          </a:solidFill>
          <a:ln w="15403">
            <a:solidFill>
              <a:srgbClr val="438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llm_output_2" descr="Editable shape; source id llm_output_2"/>
          <p:cNvSpPr/>
          <p:nvPr/>
        </p:nvSpPr>
        <p:spPr>
          <a:xfrm>
            <a:off x="7955992" y="1771421"/>
            <a:ext cx="223353" cy="69316"/>
          </a:xfrm>
          <a:prstGeom prst="roundRect">
            <a:avLst>
              <a:gd name="adj" fmla="val 44444"/>
            </a:avLst>
          </a:prstGeom>
          <a:solidFill>
            <a:srgbClr val="EEEEEE"/>
          </a:solidFill>
          <a:ln w="15403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lm_input_3" descr="Editable shape; source id llm_input_3"/>
          <p:cNvSpPr/>
          <p:nvPr/>
        </p:nvSpPr>
        <p:spPr>
          <a:xfrm>
            <a:off x="8240959" y="985834"/>
            <a:ext cx="223353" cy="69316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5403">
            <a:solidFill>
              <a:srgbClr val="FF9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lm_output_3" descr="Editable shape; source id llm_output_3"/>
          <p:cNvSpPr/>
          <p:nvPr/>
        </p:nvSpPr>
        <p:spPr>
          <a:xfrm>
            <a:off x="8240959" y="1771421"/>
            <a:ext cx="223353" cy="69316"/>
          </a:xfrm>
          <a:prstGeom prst="roundRect">
            <a:avLst>
              <a:gd name="adj" fmla="val 44444"/>
            </a:avLst>
          </a:prstGeom>
          <a:solidFill>
            <a:srgbClr val="EEEEEE"/>
          </a:solidFill>
          <a:ln w="15403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llm_input_4" descr="Editable shape; source id llm_input_4"/>
          <p:cNvSpPr/>
          <p:nvPr/>
        </p:nvSpPr>
        <p:spPr>
          <a:xfrm>
            <a:off x="8533629" y="985834"/>
            <a:ext cx="223353" cy="69316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5403">
            <a:solidFill>
              <a:srgbClr val="FF9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lm_output_4" descr="Editable shape; source id llm_output_4"/>
          <p:cNvSpPr/>
          <p:nvPr/>
        </p:nvSpPr>
        <p:spPr>
          <a:xfrm>
            <a:off x="8533629" y="1771421"/>
            <a:ext cx="223353" cy="69316"/>
          </a:xfrm>
          <a:prstGeom prst="roundRect">
            <a:avLst>
              <a:gd name="adj" fmla="val 44444"/>
            </a:avLst>
          </a:prstGeom>
          <a:solidFill>
            <a:srgbClr val="EEEEEE"/>
          </a:solidFill>
          <a:ln w="15403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llm_input_5" descr="Editable shape; source id llm_input_5"/>
          <p:cNvSpPr/>
          <p:nvPr/>
        </p:nvSpPr>
        <p:spPr>
          <a:xfrm>
            <a:off x="8818597" y="985834"/>
            <a:ext cx="223353" cy="69316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5403">
            <a:solidFill>
              <a:srgbClr val="FF9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llm_output_5" descr="Editable shape; source id llm_output_5"/>
          <p:cNvSpPr/>
          <p:nvPr/>
        </p:nvSpPr>
        <p:spPr>
          <a:xfrm>
            <a:off x="8818597" y="1771421"/>
            <a:ext cx="223353" cy="69316"/>
          </a:xfrm>
          <a:prstGeom prst="roundRect">
            <a:avLst>
              <a:gd name="adj" fmla="val 44444"/>
            </a:avLst>
          </a:prstGeom>
          <a:solidFill>
            <a:srgbClr val="D9D2E8"/>
          </a:solidFill>
          <a:ln w="15403">
            <a:solidFill>
              <a:srgbClr val="7052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lm_input_6" descr="Editable shape; source id llm_input_6"/>
          <p:cNvSpPr/>
          <p:nvPr/>
        </p:nvSpPr>
        <p:spPr>
          <a:xfrm>
            <a:off x="9111266" y="985834"/>
            <a:ext cx="223353" cy="69316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5403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llm_output_6" descr="Editable shape; source id llm_output_6"/>
          <p:cNvSpPr/>
          <p:nvPr/>
        </p:nvSpPr>
        <p:spPr>
          <a:xfrm>
            <a:off x="9111266" y="1771421"/>
            <a:ext cx="223353" cy="69316"/>
          </a:xfrm>
          <a:prstGeom prst="roundRect">
            <a:avLst>
              <a:gd name="adj" fmla="val 44444"/>
            </a:avLst>
          </a:prstGeom>
          <a:solidFill>
            <a:srgbClr val="D9D2E8"/>
          </a:solidFill>
          <a:ln w="15403">
            <a:solidFill>
              <a:srgbClr val="7052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llm_input_7" descr="Editable shape; source id llm_input_7"/>
          <p:cNvSpPr/>
          <p:nvPr/>
        </p:nvSpPr>
        <p:spPr>
          <a:xfrm>
            <a:off x="9403936" y="985834"/>
            <a:ext cx="223353" cy="69316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5403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lm_output_7" descr="Editable shape; source id llm_output_7"/>
          <p:cNvSpPr/>
          <p:nvPr/>
        </p:nvSpPr>
        <p:spPr>
          <a:xfrm>
            <a:off x="9403936" y="1771421"/>
            <a:ext cx="223353" cy="69316"/>
          </a:xfrm>
          <a:prstGeom prst="roundRect">
            <a:avLst>
              <a:gd name="adj" fmla="val 44444"/>
            </a:avLst>
          </a:prstGeom>
          <a:solidFill>
            <a:srgbClr val="D9D2E8"/>
          </a:solidFill>
          <a:ln w="15403">
            <a:solidFill>
              <a:srgbClr val="7052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ransformer" descr="Editable shape; source id transformer"/>
          <p:cNvSpPr/>
          <p:nvPr/>
        </p:nvSpPr>
        <p:spPr>
          <a:xfrm>
            <a:off x="7362951" y="1293907"/>
            <a:ext cx="2272040" cy="238756"/>
          </a:xfrm>
          <a:prstGeom prst="roundRect">
            <a:avLst>
              <a:gd name="adj" fmla="val 22580"/>
            </a:avLst>
          </a:prstGeom>
          <a:solidFill>
            <a:srgbClr val="FDE6CE"/>
          </a:solidFill>
          <a:ln w="15403">
            <a:solidFill>
              <a:srgbClr val="FF9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ction_delta_0" descr="Editable shape; source id action_delta_0"/>
          <p:cNvSpPr/>
          <p:nvPr/>
        </p:nvSpPr>
        <p:spPr>
          <a:xfrm>
            <a:off x="8695368" y="2795764"/>
            <a:ext cx="107825" cy="130931"/>
          </a:xfrm>
          <a:prstGeom prst="triangle">
            <a:avLst/>
          </a:prstGeom>
          <a:noFill/>
          <a:ln w="15403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ction_delta_1" descr="Editable shape; source id action_delta_1"/>
          <p:cNvSpPr/>
          <p:nvPr/>
        </p:nvSpPr>
        <p:spPr>
          <a:xfrm>
            <a:off x="8695368" y="2980608"/>
            <a:ext cx="107825" cy="130931"/>
          </a:xfrm>
          <a:prstGeom prst="triangle">
            <a:avLst/>
          </a:prstGeom>
          <a:noFill/>
          <a:ln w="15403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closed_photo_0" descr="Exact source pixel crop [1338, 71, 216, 124]; published RT-2 Figure1, page2, PDFium4x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5050" y="546830"/>
            <a:ext cx="1663595" cy="955027"/>
          </a:xfrm>
          <a:prstGeom prst="rect">
            <a:avLst/>
          </a:prstGeom>
          <a:effectLst/>
        </p:spPr>
      </p:pic>
      <p:pic>
        <p:nvPicPr>
          <p:cNvPr id="54" name="closed_photo_1" descr="Exact source pixel crop [1338, 252, 216, 122]; published RT-2 Figure1, page2, PDFium4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5050" y="1940861"/>
            <a:ext cx="1663595" cy="939623"/>
          </a:xfrm>
          <a:prstGeom prst="rect">
            <a:avLst/>
          </a:prstGeom>
          <a:effectLst/>
        </p:spPr>
      </p:pic>
      <p:pic>
        <p:nvPicPr>
          <p:cNvPr id="55" name="closed_photo_2" descr="Exact source pixel crop [1338, 412, 216, 122]; published RT-2 Figure1, page2, PDFium4x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5050" y="3173154"/>
            <a:ext cx="1663595" cy="939623"/>
          </a:xfrm>
          <a:prstGeom prst="rect">
            <a:avLst/>
          </a:prstGeom>
          <a:effectLst/>
        </p:spPr>
      </p:pic>
      <p:cxnSp>
        <p:nvCxnSpPr>
          <p:cNvPr id="56" name="en_curve_0" descr="Editable line; source id en_curve_0"/>
          <p:cNvCxnSpPr/>
          <p:nvPr/>
        </p:nvCxnSpPr>
        <p:spPr>
          <a:xfrm>
            <a:off x="3681475" y="870306"/>
            <a:ext cx="69317" cy="0"/>
          </a:xfrm>
          <a:prstGeom prst="line">
            <a:avLst/>
          </a:prstGeom>
          <a:ln w="15403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n_curve_1" descr="Editable line; source id en_curve_1"/>
          <p:cNvCxnSpPr/>
          <p:nvPr/>
        </p:nvCxnSpPr>
        <p:spPr>
          <a:xfrm>
            <a:off x="3750792" y="870306"/>
            <a:ext cx="61614" cy="23106"/>
          </a:xfrm>
          <a:prstGeom prst="line">
            <a:avLst/>
          </a:prstGeom>
          <a:ln w="15403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n_curve_2" descr="Editable line; source id en_curve_2"/>
          <p:cNvCxnSpPr/>
          <p:nvPr/>
        </p:nvCxnSpPr>
        <p:spPr>
          <a:xfrm>
            <a:off x="3812406" y="893412"/>
            <a:ext cx="46211" cy="46211"/>
          </a:xfrm>
          <a:prstGeom prst="line">
            <a:avLst/>
          </a:prstGeom>
          <a:ln w="15403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n_curve_3" descr="Editable line; source id en_curve_3"/>
          <p:cNvCxnSpPr/>
          <p:nvPr/>
        </p:nvCxnSpPr>
        <p:spPr>
          <a:xfrm>
            <a:off x="3858617" y="939623"/>
            <a:ext cx="30808" cy="53913"/>
          </a:xfrm>
          <a:prstGeom prst="line">
            <a:avLst/>
          </a:prstGeom>
          <a:ln w="15403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n_curve_4" descr="Editable line; source id en_curve_4"/>
          <p:cNvCxnSpPr/>
          <p:nvPr/>
        </p:nvCxnSpPr>
        <p:spPr>
          <a:xfrm>
            <a:off x="3889425" y="993536"/>
            <a:ext cx="0" cy="69316"/>
          </a:xfrm>
          <a:prstGeom prst="line">
            <a:avLst/>
          </a:prstGeom>
          <a:ln w="15403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n_curve_5" descr="Editable line; source id en_curve_5"/>
          <p:cNvSpPr/>
          <p:nvPr/>
        </p:nvSpPr>
        <p:spPr>
          <a:xfrm>
            <a:off x="3843214" y="1059164"/>
            <a:ext cx="53166" cy="88409"/>
          </a:xfrm>
          <a:custGeom>
            <a:avLst/>
            <a:gdLst/>
            <a:ahLst/>
            <a:cxnLst/>
            <a:rect l="l" t="t" r="r" b="b"/>
            <a:pathLst>
              <a:path w="6903" h="11479">
                <a:moveTo>
                  <a:pt x="6878" y="958"/>
                </a:moveTo>
                <a:lnTo>
                  <a:pt x="4709" y="4935"/>
                </a:lnTo>
                <a:lnTo>
                  <a:pt x="6903" y="6132"/>
                </a:lnTo>
                <a:lnTo>
                  <a:pt x="0" y="11479"/>
                </a:lnTo>
                <a:lnTo>
                  <a:pt x="758" y="2780"/>
                </a:lnTo>
                <a:lnTo>
                  <a:pt x="2953" y="3977"/>
                </a:lnTo>
                <a:lnTo>
                  <a:pt x="5122" y="0"/>
                </a:lnTo>
                <a:close/>
              </a:path>
            </a:pathLst>
          </a:custGeom>
          <a:solidFill>
            <a:srgbClr val="705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fr_curve_0" descr="Editable line; source id fr_curve_0"/>
          <p:cNvCxnSpPr/>
          <p:nvPr/>
        </p:nvCxnSpPr>
        <p:spPr>
          <a:xfrm>
            <a:off x="2272040" y="2272040"/>
            <a:ext cx="61615" cy="15404"/>
          </a:xfrm>
          <a:prstGeom prst="line">
            <a:avLst/>
          </a:prstGeom>
          <a:ln w="15403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fr_curve_1" descr="Editable line; source id fr_curve_1"/>
          <p:cNvCxnSpPr/>
          <p:nvPr/>
        </p:nvCxnSpPr>
        <p:spPr>
          <a:xfrm>
            <a:off x="2333655" y="2287444"/>
            <a:ext cx="46211" cy="46211"/>
          </a:xfrm>
          <a:prstGeom prst="line">
            <a:avLst/>
          </a:prstGeom>
          <a:ln w="15403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fr_curve_2" descr="Editable line; source id fr_curve_2"/>
          <p:cNvCxnSpPr/>
          <p:nvPr/>
        </p:nvCxnSpPr>
        <p:spPr>
          <a:xfrm>
            <a:off x="2379866" y="2333655"/>
            <a:ext cx="15403" cy="61614"/>
          </a:xfrm>
          <a:prstGeom prst="line">
            <a:avLst/>
          </a:prstGeom>
          <a:ln w="15403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fr_curve_3" descr="Editable line; source id fr_curve_3"/>
          <p:cNvCxnSpPr/>
          <p:nvPr/>
        </p:nvCxnSpPr>
        <p:spPr>
          <a:xfrm flipH="1">
            <a:off x="2372164" y="2395269"/>
            <a:ext cx="23105" cy="69317"/>
          </a:xfrm>
          <a:prstGeom prst="line">
            <a:avLst/>
          </a:prstGeom>
          <a:ln w="15403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fr_curve_4" descr="Editable line; source id fr_curve_4"/>
          <p:cNvSpPr/>
          <p:nvPr/>
        </p:nvSpPr>
        <p:spPr>
          <a:xfrm>
            <a:off x="2272040" y="2457593"/>
            <a:ext cx="103351" cy="53204"/>
          </a:xfrm>
          <a:custGeom>
            <a:avLst/>
            <a:gdLst/>
            <a:ahLst/>
            <a:cxnLst/>
            <a:rect l="l" t="t" r="r" b="b"/>
            <a:pathLst>
              <a:path w="13419" h="6908">
                <a:moveTo>
                  <a:pt x="13419" y="1816"/>
                </a:moveTo>
                <a:lnTo>
                  <a:pt x="7683" y="4463"/>
                </a:lnTo>
                <a:lnTo>
                  <a:pt x="8730" y="6733"/>
                </a:lnTo>
                <a:lnTo>
                  <a:pt x="0" y="6908"/>
                </a:lnTo>
                <a:lnTo>
                  <a:pt x="5797" y="378"/>
                </a:lnTo>
                <a:lnTo>
                  <a:pt x="6845" y="2648"/>
                </a:lnTo>
                <a:lnTo>
                  <a:pt x="12581" y="0"/>
                </a:lnTo>
                <a:close/>
              </a:path>
            </a:pathLst>
          </a:custGeom>
          <a:solidFill>
            <a:srgbClr val="705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robot_curve_0" descr="Editable line; source id robot_curve_0"/>
          <p:cNvCxnSpPr/>
          <p:nvPr/>
        </p:nvCxnSpPr>
        <p:spPr>
          <a:xfrm>
            <a:off x="3673773" y="3558246"/>
            <a:ext cx="46211" cy="0"/>
          </a:xfrm>
          <a:prstGeom prst="line">
            <a:avLst/>
          </a:prstGeom>
          <a:ln w="15403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robot_curve_1" descr="Editable line; source id robot_curve_1"/>
          <p:cNvCxnSpPr/>
          <p:nvPr/>
        </p:nvCxnSpPr>
        <p:spPr>
          <a:xfrm>
            <a:off x="3719984" y="3558246"/>
            <a:ext cx="53913" cy="23105"/>
          </a:xfrm>
          <a:prstGeom prst="line">
            <a:avLst/>
          </a:prstGeom>
          <a:ln w="15403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robot_curve_2" descr="Editable line; source id robot_curve_2"/>
          <p:cNvCxnSpPr/>
          <p:nvPr/>
        </p:nvCxnSpPr>
        <p:spPr>
          <a:xfrm>
            <a:off x="3773897" y="3581351"/>
            <a:ext cx="30807" cy="38509"/>
          </a:xfrm>
          <a:prstGeom prst="line">
            <a:avLst/>
          </a:prstGeom>
          <a:ln w="15403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bot_curve_3" descr="Editable line; source id robot_curve_3"/>
          <p:cNvSpPr/>
          <p:nvPr/>
        </p:nvSpPr>
        <p:spPr>
          <a:xfrm>
            <a:off x="3777748" y="3619861"/>
            <a:ext cx="53913" cy="61615"/>
          </a:xfrm>
          <a:custGeom>
            <a:avLst/>
            <a:gdLst/>
            <a:ahLst/>
            <a:cxnLst/>
            <a:rect l="l" t="t" r="r" b="b"/>
            <a:pathLst>
              <a:path w="7000" h="8000">
                <a:moveTo>
                  <a:pt x="4500" y="0"/>
                </a:moveTo>
                <a:lnTo>
                  <a:pt x="4500" y="1600"/>
                </a:lnTo>
                <a:lnTo>
                  <a:pt x="7000" y="1600"/>
                </a:lnTo>
                <a:lnTo>
                  <a:pt x="3500" y="8000"/>
                </a:lnTo>
                <a:lnTo>
                  <a:pt x="0" y="1600"/>
                </a:lnTo>
                <a:lnTo>
                  <a:pt x="2500" y="1600"/>
                </a:lnTo>
                <a:lnTo>
                  <a:pt x="2500" y="0"/>
                </a:lnTo>
                <a:close/>
              </a:path>
            </a:pathLst>
          </a:custGeom>
          <a:solidFill>
            <a:srgbClr val="705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input_arrow_0" descr="Editable line; source id input_arrow_0"/>
          <p:cNvSpPr/>
          <p:nvPr/>
        </p:nvSpPr>
        <p:spPr>
          <a:xfrm>
            <a:off x="4609546" y="762481"/>
            <a:ext cx="53913" cy="138633"/>
          </a:xfrm>
          <a:custGeom>
            <a:avLst/>
            <a:gdLst/>
            <a:ahLst/>
            <a:cxnLst/>
            <a:rect l="l" t="t" r="r" b="b"/>
            <a:pathLst>
              <a:path w="7000" h="18000">
                <a:moveTo>
                  <a:pt x="4000" y="0"/>
                </a:moveTo>
                <a:lnTo>
                  <a:pt x="4000" y="10000"/>
                </a:lnTo>
                <a:lnTo>
                  <a:pt x="7000" y="10000"/>
                </a:lnTo>
                <a:lnTo>
                  <a:pt x="3500" y="18000"/>
                </a:lnTo>
                <a:lnTo>
                  <a:pt x="0" y="10000"/>
                </a:lnTo>
                <a:lnTo>
                  <a:pt x="3000" y="10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input_arrow_1" descr="Editable line; source id input_arrow_1"/>
          <p:cNvSpPr/>
          <p:nvPr/>
        </p:nvSpPr>
        <p:spPr>
          <a:xfrm>
            <a:off x="4794390" y="762481"/>
            <a:ext cx="53913" cy="138633"/>
          </a:xfrm>
          <a:custGeom>
            <a:avLst/>
            <a:gdLst/>
            <a:ahLst/>
            <a:cxnLst/>
            <a:rect l="l" t="t" r="r" b="b"/>
            <a:pathLst>
              <a:path w="7000" h="18000">
                <a:moveTo>
                  <a:pt x="4000" y="0"/>
                </a:moveTo>
                <a:lnTo>
                  <a:pt x="4000" y="10000"/>
                </a:lnTo>
                <a:lnTo>
                  <a:pt x="7000" y="10000"/>
                </a:lnTo>
                <a:lnTo>
                  <a:pt x="3500" y="18000"/>
                </a:lnTo>
                <a:lnTo>
                  <a:pt x="0" y="10000"/>
                </a:lnTo>
                <a:lnTo>
                  <a:pt x="3000" y="10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input_arrow_2" descr="Editable line; source id input_arrow_2"/>
          <p:cNvSpPr/>
          <p:nvPr/>
        </p:nvSpPr>
        <p:spPr>
          <a:xfrm>
            <a:off x="4986936" y="762481"/>
            <a:ext cx="53913" cy="138633"/>
          </a:xfrm>
          <a:custGeom>
            <a:avLst/>
            <a:gdLst/>
            <a:ahLst/>
            <a:cxnLst/>
            <a:rect l="l" t="t" r="r" b="b"/>
            <a:pathLst>
              <a:path w="7000" h="18000">
                <a:moveTo>
                  <a:pt x="4000" y="0"/>
                </a:moveTo>
                <a:lnTo>
                  <a:pt x="4000" y="10000"/>
                </a:lnTo>
                <a:lnTo>
                  <a:pt x="7000" y="10000"/>
                </a:lnTo>
                <a:lnTo>
                  <a:pt x="3500" y="18000"/>
                </a:lnTo>
                <a:lnTo>
                  <a:pt x="0" y="10000"/>
                </a:lnTo>
                <a:lnTo>
                  <a:pt x="3000" y="10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input_arrow_3" descr="Editable line; source id input_arrow_3"/>
          <p:cNvSpPr/>
          <p:nvPr/>
        </p:nvSpPr>
        <p:spPr>
          <a:xfrm>
            <a:off x="5179482" y="762481"/>
            <a:ext cx="53913" cy="138633"/>
          </a:xfrm>
          <a:custGeom>
            <a:avLst/>
            <a:gdLst/>
            <a:ahLst/>
            <a:cxnLst/>
            <a:rect l="l" t="t" r="r" b="b"/>
            <a:pathLst>
              <a:path w="7000" h="18000">
                <a:moveTo>
                  <a:pt x="4000" y="0"/>
                </a:moveTo>
                <a:lnTo>
                  <a:pt x="4000" y="10000"/>
                </a:lnTo>
                <a:lnTo>
                  <a:pt x="7000" y="10000"/>
                </a:lnTo>
                <a:lnTo>
                  <a:pt x="3500" y="18000"/>
                </a:lnTo>
                <a:lnTo>
                  <a:pt x="0" y="10000"/>
                </a:lnTo>
                <a:lnTo>
                  <a:pt x="3000" y="10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input_arrow_4" descr="Editable line; source id input_arrow_4"/>
          <p:cNvSpPr/>
          <p:nvPr/>
        </p:nvSpPr>
        <p:spPr>
          <a:xfrm>
            <a:off x="5372028" y="762481"/>
            <a:ext cx="53913" cy="138633"/>
          </a:xfrm>
          <a:custGeom>
            <a:avLst/>
            <a:gdLst/>
            <a:ahLst/>
            <a:cxnLst/>
            <a:rect l="l" t="t" r="r" b="b"/>
            <a:pathLst>
              <a:path w="7000" h="18000">
                <a:moveTo>
                  <a:pt x="4000" y="0"/>
                </a:moveTo>
                <a:lnTo>
                  <a:pt x="4000" y="10000"/>
                </a:lnTo>
                <a:lnTo>
                  <a:pt x="7000" y="10000"/>
                </a:lnTo>
                <a:lnTo>
                  <a:pt x="3500" y="18000"/>
                </a:lnTo>
                <a:lnTo>
                  <a:pt x="0" y="10000"/>
                </a:lnTo>
                <a:lnTo>
                  <a:pt x="3000" y="10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input_arrow_5" descr="Editable line; source id input_arrow_5"/>
          <p:cNvSpPr/>
          <p:nvPr/>
        </p:nvSpPr>
        <p:spPr>
          <a:xfrm>
            <a:off x="5556872" y="762481"/>
            <a:ext cx="53913" cy="138633"/>
          </a:xfrm>
          <a:custGeom>
            <a:avLst/>
            <a:gdLst/>
            <a:ahLst/>
            <a:cxnLst/>
            <a:rect l="l" t="t" r="r" b="b"/>
            <a:pathLst>
              <a:path w="7000" h="18000">
                <a:moveTo>
                  <a:pt x="4000" y="0"/>
                </a:moveTo>
                <a:lnTo>
                  <a:pt x="4000" y="10000"/>
                </a:lnTo>
                <a:lnTo>
                  <a:pt x="7000" y="10000"/>
                </a:lnTo>
                <a:lnTo>
                  <a:pt x="3500" y="18000"/>
                </a:lnTo>
                <a:lnTo>
                  <a:pt x="0" y="10000"/>
                </a:lnTo>
                <a:lnTo>
                  <a:pt x="3000" y="10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input_text_to_llm" descr="Editable line; source id input_text_to_llm"/>
          <p:cNvSpPr/>
          <p:nvPr/>
        </p:nvSpPr>
        <p:spPr>
          <a:xfrm>
            <a:off x="5730163" y="951176"/>
            <a:ext cx="1394032" cy="53913"/>
          </a:xfrm>
          <a:custGeom>
            <a:avLst/>
            <a:gdLst/>
            <a:ahLst/>
            <a:cxnLst/>
            <a:rect l="l" t="t" r="r" b="b"/>
            <a:pathLst>
              <a:path w="181000" h="7000">
                <a:moveTo>
                  <a:pt x="0" y="2500"/>
                </a:moveTo>
                <a:lnTo>
                  <a:pt x="173000" y="2500"/>
                </a:lnTo>
                <a:lnTo>
                  <a:pt x="173000" y="0"/>
                </a:lnTo>
                <a:lnTo>
                  <a:pt x="181000" y="3500"/>
                </a:lnTo>
                <a:lnTo>
                  <a:pt x="173000" y="7000"/>
                </a:lnTo>
                <a:lnTo>
                  <a:pt x="173000" y="4500"/>
                </a:lnTo>
                <a:lnTo>
                  <a:pt x="0" y="450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input_image_to_vit" descr="Editable line; source id input_image_to_vit"/>
          <p:cNvSpPr/>
          <p:nvPr/>
        </p:nvSpPr>
        <p:spPr>
          <a:xfrm>
            <a:off x="5760970" y="1759869"/>
            <a:ext cx="308073" cy="53913"/>
          </a:xfrm>
          <a:custGeom>
            <a:avLst/>
            <a:gdLst/>
            <a:ahLst/>
            <a:cxnLst/>
            <a:rect l="l" t="t" r="r" b="b"/>
            <a:pathLst>
              <a:path w="40000" h="7000">
                <a:moveTo>
                  <a:pt x="0" y="2500"/>
                </a:moveTo>
                <a:lnTo>
                  <a:pt x="32000" y="2500"/>
                </a:lnTo>
                <a:lnTo>
                  <a:pt x="32000" y="0"/>
                </a:lnTo>
                <a:lnTo>
                  <a:pt x="40000" y="3500"/>
                </a:lnTo>
                <a:lnTo>
                  <a:pt x="32000" y="7000"/>
                </a:lnTo>
                <a:lnTo>
                  <a:pt x="32000" y="4500"/>
                </a:lnTo>
                <a:lnTo>
                  <a:pt x="0" y="450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t_to_llm" descr="Editable line; source id vit_to_llm"/>
          <p:cNvSpPr/>
          <p:nvPr/>
        </p:nvSpPr>
        <p:spPr>
          <a:xfrm>
            <a:off x="7008667" y="1759869"/>
            <a:ext cx="161738" cy="53913"/>
          </a:xfrm>
          <a:custGeom>
            <a:avLst/>
            <a:gdLst/>
            <a:ahLst/>
            <a:cxnLst/>
            <a:rect l="l" t="t" r="r" b="b"/>
            <a:pathLst>
              <a:path w="21000" h="7000">
                <a:moveTo>
                  <a:pt x="0" y="2500"/>
                </a:moveTo>
                <a:lnTo>
                  <a:pt x="13000" y="2500"/>
                </a:lnTo>
                <a:lnTo>
                  <a:pt x="13000" y="0"/>
                </a:lnTo>
                <a:lnTo>
                  <a:pt x="21000" y="3500"/>
                </a:lnTo>
                <a:lnTo>
                  <a:pt x="13000" y="7000"/>
                </a:lnTo>
                <a:lnTo>
                  <a:pt x="13000" y="4500"/>
                </a:lnTo>
                <a:lnTo>
                  <a:pt x="0" y="450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llm_downin_0" descr="Editable line; source id llm_downin_0"/>
          <p:cNvSpPr/>
          <p:nvPr/>
        </p:nvSpPr>
        <p:spPr>
          <a:xfrm>
            <a:off x="7451522" y="1101362"/>
            <a:ext cx="53913" cy="130931"/>
          </a:xfrm>
          <a:custGeom>
            <a:avLst/>
            <a:gdLst/>
            <a:ahLst/>
            <a:cxnLst/>
            <a:rect l="l" t="t" r="r" b="b"/>
            <a:pathLst>
              <a:path w="7000" h="17000">
                <a:moveTo>
                  <a:pt x="4000" y="0"/>
                </a:moveTo>
                <a:lnTo>
                  <a:pt x="4000" y="9000"/>
                </a:lnTo>
                <a:lnTo>
                  <a:pt x="7000" y="9000"/>
                </a:lnTo>
                <a:lnTo>
                  <a:pt x="3500" y="17000"/>
                </a:lnTo>
                <a:lnTo>
                  <a:pt x="0" y="9000"/>
                </a:lnTo>
                <a:lnTo>
                  <a:pt x="3000" y="9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llm_downout_0" descr="Editable line; source id llm_downout_0"/>
          <p:cNvSpPr/>
          <p:nvPr/>
        </p:nvSpPr>
        <p:spPr>
          <a:xfrm>
            <a:off x="7451522" y="1586577"/>
            <a:ext cx="53913" cy="138633"/>
          </a:xfrm>
          <a:custGeom>
            <a:avLst/>
            <a:gdLst/>
            <a:ahLst/>
            <a:cxnLst/>
            <a:rect l="l" t="t" r="r" b="b"/>
            <a:pathLst>
              <a:path w="7000" h="18000">
                <a:moveTo>
                  <a:pt x="4000" y="0"/>
                </a:moveTo>
                <a:lnTo>
                  <a:pt x="4000" y="10000"/>
                </a:lnTo>
                <a:lnTo>
                  <a:pt x="7000" y="10000"/>
                </a:lnTo>
                <a:lnTo>
                  <a:pt x="3500" y="18000"/>
                </a:lnTo>
                <a:lnTo>
                  <a:pt x="0" y="10000"/>
                </a:lnTo>
                <a:lnTo>
                  <a:pt x="3000" y="10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llm_downin_1" descr="Editable line; source id llm_downin_1"/>
          <p:cNvSpPr/>
          <p:nvPr/>
        </p:nvSpPr>
        <p:spPr>
          <a:xfrm>
            <a:off x="7744192" y="1101362"/>
            <a:ext cx="53913" cy="130931"/>
          </a:xfrm>
          <a:custGeom>
            <a:avLst/>
            <a:gdLst/>
            <a:ahLst/>
            <a:cxnLst/>
            <a:rect l="l" t="t" r="r" b="b"/>
            <a:pathLst>
              <a:path w="7000" h="17000">
                <a:moveTo>
                  <a:pt x="4000" y="0"/>
                </a:moveTo>
                <a:lnTo>
                  <a:pt x="4000" y="9000"/>
                </a:lnTo>
                <a:lnTo>
                  <a:pt x="7000" y="9000"/>
                </a:lnTo>
                <a:lnTo>
                  <a:pt x="3500" y="17000"/>
                </a:lnTo>
                <a:lnTo>
                  <a:pt x="0" y="9000"/>
                </a:lnTo>
                <a:lnTo>
                  <a:pt x="3000" y="9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llm_downout_1" descr="Editable line; source id llm_downout_1"/>
          <p:cNvSpPr/>
          <p:nvPr/>
        </p:nvSpPr>
        <p:spPr>
          <a:xfrm>
            <a:off x="7744192" y="1586577"/>
            <a:ext cx="53913" cy="138633"/>
          </a:xfrm>
          <a:custGeom>
            <a:avLst/>
            <a:gdLst/>
            <a:ahLst/>
            <a:cxnLst/>
            <a:rect l="l" t="t" r="r" b="b"/>
            <a:pathLst>
              <a:path w="7000" h="18000">
                <a:moveTo>
                  <a:pt x="4000" y="0"/>
                </a:moveTo>
                <a:lnTo>
                  <a:pt x="4000" y="10000"/>
                </a:lnTo>
                <a:lnTo>
                  <a:pt x="7000" y="10000"/>
                </a:lnTo>
                <a:lnTo>
                  <a:pt x="3500" y="18000"/>
                </a:lnTo>
                <a:lnTo>
                  <a:pt x="0" y="10000"/>
                </a:lnTo>
                <a:lnTo>
                  <a:pt x="3000" y="10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llm_downin_2" descr="Editable line; source id llm_downin_2"/>
          <p:cNvSpPr/>
          <p:nvPr/>
        </p:nvSpPr>
        <p:spPr>
          <a:xfrm>
            <a:off x="8036861" y="1101362"/>
            <a:ext cx="53913" cy="130931"/>
          </a:xfrm>
          <a:custGeom>
            <a:avLst/>
            <a:gdLst/>
            <a:ahLst/>
            <a:cxnLst/>
            <a:rect l="l" t="t" r="r" b="b"/>
            <a:pathLst>
              <a:path w="7000" h="17000">
                <a:moveTo>
                  <a:pt x="4000" y="0"/>
                </a:moveTo>
                <a:lnTo>
                  <a:pt x="4000" y="9000"/>
                </a:lnTo>
                <a:lnTo>
                  <a:pt x="7000" y="9000"/>
                </a:lnTo>
                <a:lnTo>
                  <a:pt x="3500" y="17000"/>
                </a:lnTo>
                <a:lnTo>
                  <a:pt x="0" y="9000"/>
                </a:lnTo>
                <a:lnTo>
                  <a:pt x="3000" y="9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llm_downout_2" descr="Editable line; source id llm_downout_2"/>
          <p:cNvSpPr/>
          <p:nvPr/>
        </p:nvSpPr>
        <p:spPr>
          <a:xfrm>
            <a:off x="8036861" y="1586577"/>
            <a:ext cx="53913" cy="138633"/>
          </a:xfrm>
          <a:custGeom>
            <a:avLst/>
            <a:gdLst/>
            <a:ahLst/>
            <a:cxnLst/>
            <a:rect l="l" t="t" r="r" b="b"/>
            <a:pathLst>
              <a:path w="7000" h="18000">
                <a:moveTo>
                  <a:pt x="4000" y="0"/>
                </a:moveTo>
                <a:lnTo>
                  <a:pt x="4000" y="10000"/>
                </a:lnTo>
                <a:lnTo>
                  <a:pt x="7000" y="10000"/>
                </a:lnTo>
                <a:lnTo>
                  <a:pt x="3500" y="18000"/>
                </a:lnTo>
                <a:lnTo>
                  <a:pt x="0" y="10000"/>
                </a:lnTo>
                <a:lnTo>
                  <a:pt x="3000" y="10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lm_downin_3" descr="Editable line; source id llm_downin_3"/>
          <p:cNvSpPr/>
          <p:nvPr/>
        </p:nvSpPr>
        <p:spPr>
          <a:xfrm>
            <a:off x="8321829" y="1101362"/>
            <a:ext cx="53913" cy="130931"/>
          </a:xfrm>
          <a:custGeom>
            <a:avLst/>
            <a:gdLst/>
            <a:ahLst/>
            <a:cxnLst/>
            <a:rect l="l" t="t" r="r" b="b"/>
            <a:pathLst>
              <a:path w="7000" h="17000">
                <a:moveTo>
                  <a:pt x="4000" y="0"/>
                </a:moveTo>
                <a:lnTo>
                  <a:pt x="4000" y="9000"/>
                </a:lnTo>
                <a:lnTo>
                  <a:pt x="7000" y="9000"/>
                </a:lnTo>
                <a:lnTo>
                  <a:pt x="3500" y="17000"/>
                </a:lnTo>
                <a:lnTo>
                  <a:pt x="0" y="9000"/>
                </a:lnTo>
                <a:lnTo>
                  <a:pt x="3000" y="9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llm_downout_3" descr="Editable line; source id llm_downout_3"/>
          <p:cNvSpPr/>
          <p:nvPr/>
        </p:nvSpPr>
        <p:spPr>
          <a:xfrm>
            <a:off x="8321829" y="1586577"/>
            <a:ext cx="53913" cy="138633"/>
          </a:xfrm>
          <a:custGeom>
            <a:avLst/>
            <a:gdLst/>
            <a:ahLst/>
            <a:cxnLst/>
            <a:rect l="l" t="t" r="r" b="b"/>
            <a:pathLst>
              <a:path w="7000" h="18000">
                <a:moveTo>
                  <a:pt x="4000" y="0"/>
                </a:moveTo>
                <a:lnTo>
                  <a:pt x="4000" y="10000"/>
                </a:lnTo>
                <a:lnTo>
                  <a:pt x="7000" y="10000"/>
                </a:lnTo>
                <a:lnTo>
                  <a:pt x="3500" y="18000"/>
                </a:lnTo>
                <a:lnTo>
                  <a:pt x="0" y="10000"/>
                </a:lnTo>
                <a:lnTo>
                  <a:pt x="3000" y="10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llm_downin_4" descr="Editable line; source id llm_downin_4"/>
          <p:cNvSpPr/>
          <p:nvPr/>
        </p:nvSpPr>
        <p:spPr>
          <a:xfrm>
            <a:off x="8614499" y="1101362"/>
            <a:ext cx="53913" cy="130931"/>
          </a:xfrm>
          <a:custGeom>
            <a:avLst/>
            <a:gdLst/>
            <a:ahLst/>
            <a:cxnLst/>
            <a:rect l="l" t="t" r="r" b="b"/>
            <a:pathLst>
              <a:path w="7000" h="17000">
                <a:moveTo>
                  <a:pt x="4000" y="0"/>
                </a:moveTo>
                <a:lnTo>
                  <a:pt x="4000" y="9000"/>
                </a:lnTo>
                <a:lnTo>
                  <a:pt x="7000" y="9000"/>
                </a:lnTo>
                <a:lnTo>
                  <a:pt x="3500" y="17000"/>
                </a:lnTo>
                <a:lnTo>
                  <a:pt x="0" y="9000"/>
                </a:lnTo>
                <a:lnTo>
                  <a:pt x="3000" y="9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llm_downout_4" descr="Editable line; source id llm_downout_4"/>
          <p:cNvSpPr/>
          <p:nvPr/>
        </p:nvSpPr>
        <p:spPr>
          <a:xfrm>
            <a:off x="8614499" y="1586577"/>
            <a:ext cx="53913" cy="138633"/>
          </a:xfrm>
          <a:custGeom>
            <a:avLst/>
            <a:gdLst/>
            <a:ahLst/>
            <a:cxnLst/>
            <a:rect l="l" t="t" r="r" b="b"/>
            <a:pathLst>
              <a:path w="7000" h="18000">
                <a:moveTo>
                  <a:pt x="4000" y="0"/>
                </a:moveTo>
                <a:lnTo>
                  <a:pt x="4000" y="10000"/>
                </a:lnTo>
                <a:lnTo>
                  <a:pt x="7000" y="10000"/>
                </a:lnTo>
                <a:lnTo>
                  <a:pt x="3500" y="18000"/>
                </a:lnTo>
                <a:lnTo>
                  <a:pt x="0" y="10000"/>
                </a:lnTo>
                <a:lnTo>
                  <a:pt x="3000" y="10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llm_downin_5" descr="Editable line; source id llm_downin_5"/>
          <p:cNvSpPr/>
          <p:nvPr/>
        </p:nvSpPr>
        <p:spPr>
          <a:xfrm>
            <a:off x="8899467" y="1101362"/>
            <a:ext cx="53913" cy="130931"/>
          </a:xfrm>
          <a:custGeom>
            <a:avLst/>
            <a:gdLst/>
            <a:ahLst/>
            <a:cxnLst/>
            <a:rect l="l" t="t" r="r" b="b"/>
            <a:pathLst>
              <a:path w="7000" h="17000">
                <a:moveTo>
                  <a:pt x="4000" y="0"/>
                </a:moveTo>
                <a:lnTo>
                  <a:pt x="4000" y="9000"/>
                </a:lnTo>
                <a:lnTo>
                  <a:pt x="7000" y="9000"/>
                </a:lnTo>
                <a:lnTo>
                  <a:pt x="3500" y="17000"/>
                </a:lnTo>
                <a:lnTo>
                  <a:pt x="0" y="9000"/>
                </a:lnTo>
                <a:lnTo>
                  <a:pt x="3000" y="9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lm_downout_5" descr="Editable line; source id llm_downout_5"/>
          <p:cNvSpPr/>
          <p:nvPr/>
        </p:nvSpPr>
        <p:spPr>
          <a:xfrm>
            <a:off x="8899467" y="1586577"/>
            <a:ext cx="53913" cy="138633"/>
          </a:xfrm>
          <a:custGeom>
            <a:avLst/>
            <a:gdLst/>
            <a:ahLst/>
            <a:cxnLst/>
            <a:rect l="l" t="t" r="r" b="b"/>
            <a:pathLst>
              <a:path w="7000" h="18000">
                <a:moveTo>
                  <a:pt x="4000" y="0"/>
                </a:moveTo>
                <a:lnTo>
                  <a:pt x="4000" y="10000"/>
                </a:lnTo>
                <a:lnTo>
                  <a:pt x="7000" y="10000"/>
                </a:lnTo>
                <a:lnTo>
                  <a:pt x="3500" y="18000"/>
                </a:lnTo>
                <a:lnTo>
                  <a:pt x="0" y="10000"/>
                </a:lnTo>
                <a:lnTo>
                  <a:pt x="3000" y="10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llm_downin_6" descr="Editable line; source id llm_downin_6"/>
          <p:cNvSpPr/>
          <p:nvPr/>
        </p:nvSpPr>
        <p:spPr>
          <a:xfrm>
            <a:off x="9192136" y="1101362"/>
            <a:ext cx="53913" cy="130931"/>
          </a:xfrm>
          <a:custGeom>
            <a:avLst/>
            <a:gdLst/>
            <a:ahLst/>
            <a:cxnLst/>
            <a:rect l="l" t="t" r="r" b="b"/>
            <a:pathLst>
              <a:path w="7000" h="17000">
                <a:moveTo>
                  <a:pt x="4000" y="0"/>
                </a:moveTo>
                <a:lnTo>
                  <a:pt x="4000" y="9000"/>
                </a:lnTo>
                <a:lnTo>
                  <a:pt x="7000" y="9000"/>
                </a:lnTo>
                <a:lnTo>
                  <a:pt x="3500" y="17000"/>
                </a:lnTo>
                <a:lnTo>
                  <a:pt x="0" y="9000"/>
                </a:lnTo>
                <a:lnTo>
                  <a:pt x="3000" y="9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llm_downout_6" descr="Editable line; source id llm_downout_6"/>
          <p:cNvSpPr/>
          <p:nvPr/>
        </p:nvSpPr>
        <p:spPr>
          <a:xfrm>
            <a:off x="9192136" y="1586577"/>
            <a:ext cx="53913" cy="138633"/>
          </a:xfrm>
          <a:custGeom>
            <a:avLst/>
            <a:gdLst/>
            <a:ahLst/>
            <a:cxnLst/>
            <a:rect l="l" t="t" r="r" b="b"/>
            <a:pathLst>
              <a:path w="7000" h="18000">
                <a:moveTo>
                  <a:pt x="4000" y="0"/>
                </a:moveTo>
                <a:lnTo>
                  <a:pt x="4000" y="10000"/>
                </a:lnTo>
                <a:lnTo>
                  <a:pt x="7000" y="10000"/>
                </a:lnTo>
                <a:lnTo>
                  <a:pt x="3500" y="18000"/>
                </a:lnTo>
                <a:lnTo>
                  <a:pt x="0" y="10000"/>
                </a:lnTo>
                <a:lnTo>
                  <a:pt x="3000" y="10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llm_downin_7" descr="Editable line; source id llm_downin_7"/>
          <p:cNvSpPr/>
          <p:nvPr/>
        </p:nvSpPr>
        <p:spPr>
          <a:xfrm>
            <a:off x="9484806" y="1101362"/>
            <a:ext cx="53913" cy="130931"/>
          </a:xfrm>
          <a:custGeom>
            <a:avLst/>
            <a:gdLst/>
            <a:ahLst/>
            <a:cxnLst/>
            <a:rect l="l" t="t" r="r" b="b"/>
            <a:pathLst>
              <a:path w="7000" h="17000">
                <a:moveTo>
                  <a:pt x="4000" y="0"/>
                </a:moveTo>
                <a:lnTo>
                  <a:pt x="4000" y="9000"/>
                </a:lnTo>
                <a:lnTo>
                  <a:pt x="7000" y="9000"/>
                </a:lnTo>
                <a:lnTo>
                  <a:pt x="3500" y="17000"/>
                </a:lnTo>
                <a:lnTo>
                  <a:pt x="0" y="9000"/>
                </a:lnTo>
                <a:lnTo>
                  <a:pt x="3000" y="9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llm_downout_7" descr="Editable line; source id llm_downout_7"/>
          <p:cNvSpPr/>
          <p:nvPr/>
        </p:nvSpPr>
        <p:spPr>
          <a:xfrm>
            <a:off x="9484806" y="1586577"/>
            <a:ext cx="53913" cy="138633"/>
          </a:xfrm>
          <a:custGeom>
            <a:avLst/>
            <a:gdLst/>
            <a:ahLst/>
            <a:cxnLst/>
            <a:rect l="l" t="t" r="r" b="b"/>
            <a:pathLst>
              <a:path w="7000" h="18000">
                <a:moveTo>
                  <a:pt x="4000" y="0"/>
                </a:moveTo>
                <a:lnTo>
                  <a:pt x="4000" y="10000"/>
                </a:lnTo>
                <a:lnTo>
                  <a:pt x="7000" y="10000"/>
                </a:lnTo>
                <a:lnTo>
                  <a:pt x="3500" y="18000"/>
                </a:lnTo>
                <a:lnTo>
                  <a:pt x="0" y="10000"/>
                </a:lnTo>
                <a:lnTo>
                  <a:pt x="3000" y="10000"/>
                </a:lnTo>
                <a:lnTo>
                  <a:pt x="3000" y="0"/>
                </a:lnTo>
                <a:close/>
              </a:path>
            </a:pathLst>
          </a:custGeom>
          <a:solidFill>
            <a:srgbClr val="FF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brace_0" descr="Editable line; source id brace_0"/>
          <p:cNvCxnSpPr/>
          <p:nvPr/>
        </p:nvCxnSpPr>
        <p:spPr>
          <a:xfrm>
            <a:off x="8818597" y="1886948"/>
            <a:ext cx="53913" cy="38509"/>
          </a:xfrm>
          <a:prstGeom prst="line">
            <a:avLst/>
          </a:prstGeom>
          <a:ln w="12322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brace_1" descr="Editable line; source id brace_1"/>
          <p:cNvCxnSpPr/>
          <p:nvPr/>
        </p:nvCxnSpPr>
        <p:spPr>
          <a:xfrm>
            <a:off x="8872510" y="1925457"/>
            <a:ext cx="100124" cy="23106"/>
          </a:xfrm>
          <a:prstGeom prst="line">
            <a:avLst/>
          </a:prstGeom>
          <a:ln w="12322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brace_2" descr="Editable line; source id brace_2"/>
          <p:cNvCxnSpPr/>
          <p:nvPr/>
        </p:nvCxnSpPr>
        <p:spPr>
          <a:xfrm>
            <a:off x="8972634" y="1948563"/>
            <a:ext cx="130931" cy="0"/>
          </a:xfrm>
          <a:prstGeom prst="line">
            <a:avLst/>
          </a:prstGeom>
          <a:ln w="12322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brace_3" descr="Editable line; source id brace_3"/>
          <p:cNvCxnSpPr/>
          <p:nvPr/>
        </p:nvCxnSpPr>
        <p:spPr>
          <a:xfrm>
            <a:off x="9103565" y="1948563"/>
            <a:ext cx="69316" cy="15404"/>
          </a:xfrm>
          <a:prstGeom prst="line">
            <a:avLst/>
          </a:prstGeom>
          <a:ln w="12322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brace_4" descr="Editable line; source id brace_4"/>
          <p:cNvCxnSpPr/>
          <p:nvPr/>
        </p:nvCxnSpPr>
        <p:spPr>
          <a:xfrm>
            <a:off x="9172881" y="1963967"/>
            <a:ext cx="46211" cy="38509"/>
          </a:xfrm>
          <a:prstGeom prst="line">
            <a:avLst/>
          </a:prstGeom>
          <a:ln w="12322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brace_5" descr="Editable line; source id brace_5"/>
          <p:cNvCxnSpPr/>
          <p:nvPr/>
        </p:nvCxnSpPr>
        <p:spPr>
          <a:xfrm flipV="1">
            <a:off x="9219092" y="1963967"/>
            <a:ext cx="53913" cy="38509"/>
          </a:xfrm>
          <a:prstGeom prst="line">
            <a:avLst/>
          </a:prstGeom>
          <a:ln w="12322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brace_6" descr="Editable line; source id brace_6"/>
          <p:cNvCxnSpPr/>
          <p:nvPr/>
        </p:nvCxnSpPr>
        <p:spPr>
          <a:xfrm flipV="1">
            <a:off x="9273005" y="1948563"/>
            <a:ext cx="77018" cy="15404"/>
          </a:xfrm>
          <a:prstGeom prst="line">
            <a:avLst/>
          </a:prstGeom>
          <a:ln w="12322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brace_7" descr="Editable line; source id brace_7"/>
          <p:cNvCxnSpPr/>
          <p:nvPr/>
        </p:nvCxnSpPr>
        <p:spPr>
          <a:xfrm>
            <a:off x="9350023" y="1948563"/>
            <a:ext cx="130931" cy="0"/>
          </a:xfrm>
          <a:prstGeom prst="line">
            <a:avLst/>
          </a:prstGeom>
          <a:ln w="12322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brace_8" descr="Editable line; source id brace_8"/>
          <p:cNvCxnSpPr/>
          <p:nvPr/>
        </p:nvCxnSpPr>
        <p:spPr>
          <a:xfrm flipV="1">
            <a:off x="9480954" y="1925457"/>
            <a:ext cx="92422" cy="23106"/>
          </a:xfrm>
          <a:prstGeom prst="line">
            <a:avLst/>
          </a:prstGeom>
          <a:ln w="12322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brace_9" descr="Editable line; source id brace_9"/>
          <p:cNvCxnSpPr/>
          <p:nvPr/>
        </p:nvCxnSpPr>
        <p:spPr>
          <a:xfrm flipV="1">
            <a:off x="9573376" y="1886948"/>
            <a:ext cx="53913" cy="38509"/>
          </a:xfrm>
          <a:prstGeom prst="line">
            <a:avLst/>
          </a:prstGeom>
          <a:ln w="12322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action_down" descr="Editable line; source id action_down"/>
          <p:cNvCxnSpPr/>
          <p:nvPr/>
        </p:nvCxnSpPr>
        <p:spPr>
          <a:xfrm>
            <a:off x="9219092" y="2048687"/>
            <a:ext cx="0" cy="485215"/>
          </a:xfrm>
          <a:prstGeom prst="line">
            <a:avLst/>
          </a:prstGeom>
          <a:ln w="15403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action_left" descr="Editable line; source id action_left"/>
          <p:cNvCxnSpPr/>
          <p:nvPr/>
        </p:nvCxnSpPr>
        <p:spPr>
          <a:xfrm flipH="1">
            <a:off x="6708295" y="2533902"/>
            <a:ext cx="2510797" cy="0"/>
          </a:xfrm>
          <a:prstGeom prst="line">
            <a:avLst/>
          </a:prstGeom>
          <a:ln w="15403">
            <a:solidFill>
              <a:srgbClr val="7052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action_to_tokens" descr="Editable line; source id action_to_tokens"/>
          <p:cNvSpPr/>
          <p:nvPr/>
        </p:nvSpPr>
        <p:spPr>
          <a:xfrm>
            <a:off x="6681339" y="2533903"/>
            <a:ext cx="53913" cy="284968"/>
          </a:xfrm>
          <a:custGeom>
            <a:avLst/>
            <a:gdLst/>
            <a:ahLst/>
            <a:cxnLst/>
            <a:rect l="l" t="t" r="r" b="b"/>
            <a:pathLst>
              <a:path w="7000" h="37000">
                <a:moveTo>
                  <a:pt x="4500" y="0"/>
                </a:moveTo>
                <a:lnTo>
                  <a:pt x="4500" y="29000"/>
                </a:lnTo>
                <a:lnTo>
                  <a:pt x="7000" y="29000"/>
                </a:lnTo>
                <a:lnTo>
                  <a:pt x="3500" y="37000"/>
                </a:lnTo>
                <a:lnTo>
                  <a:pt x="0" y="29000"/>
                </a:lnTo>
                <a:lnTo>
                  <a:pt x="2500" y="29000"/>
                </a:lnTo>
                <a:lnTo>
                  <a:pt x="2500" y="0"/>
                </a:lnTo>
                <a:close/>
              </a:path>
            </a:pathLst>
          </a:custGeom>
          <a:solidFill>
            <a:srgbClr val="705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detokenize_arrow" descr="Editable line; source id detokenize_arrow"/>
          <p:cNvSpPr/>
          <p:nvPr/>
        </p:nvSpPr>
        <p:spPr>
          <a:xfrm>
            <a:off x="7609410" y="2953652"/>
            <a:ext cx="916518" cy="53913"/>
          </a:xfrm>
          <a:custGeom>
            <a:avLst/>
            <a:gdLst/>
            <a:ahLst/>
            <a:cxnLst/>
            <a:rect l="l" t="t" r="r" b="b"/>
            <a:pathLst>
              <a:path w="119000" h="7000">
                <a:moveTo>
                  <a:pt x="0" y="2500"/>
                </a:moveTo>
                <a:lnTo>
                  <a:pt x="111000" y="2500"/>
                </a:lnTo>
                <a:lnTo>
                  <a:pt x="111000" y="0"/>
                </a:lnTo>
                <a:lnTo>
                  <a:pt x="119000" y="3500"/>
                </a:lnTo>
                <a:lnTo>
                  <a:pt x="111000" y="7000"/>
                </a:lnTo>
                <a:lnTo>
                  <a:pt x="111000" y="4500"/>
                </a:lnTo>
                <a:lnTo>
                  <a:pt x="0" y="4500"/>
                </a:lnTo>
                <a:close/>
              </a:path>
            </a:pathLst>
          </a:custGeom>
          <a:solidFill>
            <a:srgbClr val="705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train_horizontal" descr="Editable line; source id cotrain_horizontal"/>
          <p:cNvCxnSpPr/>
          <p:nvPr/>
        </p:nvCxnSpPr>
        <p:spPr>
          <a:xfrm>
            <a:off x="4236007" y="3881723"/>
            <a:ext cx="1725210" cy="0"/>
          </a:xfrm>
          <a:prstGeom prst="line">
            <a:avLst/>
          </a:prstGeom>
          <a:ln w="23105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cotrain_vertical" descr="Editable line; source id cotrain_vertical"/>
          <p:cNvSpPr/>
          <p:nvPr/>
        </p:nvSpPr>
        <p:spPr>
          <a:xfrm>
            <a:off x="5915007" y="3604457"/>
            <a:ext cx="92422" cy="277266"/>
          </a:xfrm>
          <a:custGeom>
            <a:avLst/>
            <a:gdLst/>
            <a:ahLst/>
            <a:cxnLst/>
            <a:rect l="l" t="t" r="r" b="b"/>
            <a:pathLst>
              <a:path w="12000" h="36000">
                <a:moveTo>
                  <a:pt x="4500" y="36000"/>
                </a:moveTo>
                <a:lnTo>
                  <a:pt x="4500" y="12000"/>
                </a:lnTo>
                <a:lnTo>
                  <a:pt x="0" y="12000"/>
                </a:lnTo>
                <a:lnTo>
                  <a:pt x="6000" y="0"/>
                </a:lnTo>
                <a:lnTo>
                  <a:pt x="12000" y="12000"/>
                </a:lnTo>
                <a:lnTo>
                  <a:pt x="7500" y="12000"/>
                </a:lnTo>
                <a:lnTo>
                  <a:pt x="7500" y="3600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deploy_vertical" descr="Editable line; source id deploy_vertical"/>
          <p:cNvCxnSpPr/>
          <p:nvPr/>
        </p:nvCxnSpPr>
        <p:spPr>
          <a:xfrm>
            <a:off x="8394996" y="3604457"/>
            <a:ext cx="0" cy="277266"/>
          </a:xfrm>
          <a:prstGeom prst="line">
            <a:avLst/>
          </a:prstGeom>
          <a:ln w="23105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deploy_horizontal" descr="Editable line; source id deploy_horizontal"/>
          <p:cNvSpPr/>
          <p:nvPr/>
        </p:nvSpPr>
        <p:spPr>
          <a:xfrm>
            <a:off x="8394997" y="3835512"/>
            <a:ext cx="1709807" cy="92422"/>
          </a:xfrm>
          <a:custGeom>
            <a:avLst/>
            <a:gdLst/>
            <a:ahLst/>
            <a:cxnLst/>
            <a:rect l="l" t="t" r="r" b="b"/>
            <a:pathLst>
              <a:path w="222000" h="12000">
                <a:moveTo>
                  <a:pt x="0" y="4500"/>
                </a:moveTo>
                <a:lnTo>
                  <a:pt x="210000" y="4500"/>
                </a:lnTo>
                <a:lnTo>
                  <a:pt x="210000" y="0"/>
                </a:lnTo>
                <a:lnTo>
                  <a:pt x="222000" y="6000"/>
                </a:lnTo>
                <a:lnTo>
                  <a:pt x="210000" y="12000"/>
                </a:lnTo>
                <a:lnTo>
                  <a:pt x="210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data_title" descr="Editable text; source id data_title"/>
          <p:cNvSpPr txBox="1"/>
          <p:nvPr/>
        </p:nvSpPr>
        <p:spPr>
          <a:xfrm>
            <a:off x="439004" y="15403"/>
            <a:ext cx="3565948" cy="26956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73"/>
              </a:lnSpc>
              <a:spcBef>
                <a:spcPts val="0"/>
              </a:spcBef>
              <a:spcAft>
                <a:spcPts val="0"/>
              </a:spcAft>
              <a:defRPr sz="1455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55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Internet-Scale VQA + Robot Action Data</a:t>
            </a:r>
          </a:p>
        </p:txBody>
      </p:sp>
      <p:sp>
        <p:nvSpPr>
          <p:cNvPr id="115" name="model_title" descr="Editable text; source id model_title"/>
          <p:cNvSpPr txBox="1"/>
          <p:nvPr/>
        </p:nvSpPr>
        <p:spPr>
          <a:xfrm>
            <a:off x="4544080" y="15403"/>
            <a:ext cx="4266814" cy="26956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73"/>
              </a:lnSpc>
              <a:spcBef>
                <a:spcPts val="0"/>
              </a:spcBef>
              <a:spcAft>
                <a:spcPts val="0"/>
              </a:spcAft>
              <a:defRPr sz="1455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55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Vision-Language-Action Models for Robot Control</a:t>
            </a:r>
          </a:p>
        </p:txBody>
      </p:sp>
      <p:sp>
        <p:nvSpPr>
          <p:cNvPr id="116" name="closed_title" descr="Editable text; source id closed_title"/>
          <p:cNvSpPr txBox="1"/>
          <p:nvPr/>
        </p:nvSpPr>
        <p:spPr>
          <a:xfrm>
            <a:off x="10482193" y="23105"/>
            <a:ext cx="1324715" cy="46981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43"/>
              </a:lnSpc>
              <a:spcBef>
                <a:spcPts val="0"/>
              </a:spcBef>
              <a:spcAft>
                <a:spcPts val="0"/>
              </a:spcAft>
              <a:defRPr sz="151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1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Closed-Loop</a:t>
            </a:r>
          </a:p>
          <a:p>
            <a:pPr algn="ctr" fontAlgn="base">
              <a:lnSpc>
                <a:spcPts val="1743"/>
              </a:lnSpc>
              <a:spcBef>
                <a:spcPts val="0"/>
              </a:spcBef>
              <a:spcAft>
                <a:spcPts val="0"/>
              </a:spcAft>
              <a:defRPr sz="151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1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Robot Control</a:t>
            </a:r>
          </a:p>
        </p:txBody>
      </p:sp>
      <p:sp>
        <p:nvSpPr>
          <p:cNvPr id="117" name="en_q" descr="Editable text; source id en_q"/>
          <p:cNvSpPr txBox="1"/>
          <p:nvPr/>
        </p:nvSpPr>
        <p:spPr>
          <a:xfrm>
            <a:off x="1802228" y="400495"/>
            <a:ext cx="1756017" cy="4081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34"/>
              </a:lnSpc>
              <a:spcBef>
                <a:spcPts val="0"/>
              </a:spcBef>
              <a:spcAft>
                <a:spcPts val="0"/>
              </a:spcAft>
              <a:def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Q: What is happening</a:t>
            </a:r>
          </a:p>
          <a:p>
            <a:pPr algn="ctr" fontAlgn="base">
              <a:lnSpc>
                <a:spcPts val="1534"/>
              </a:lnSpc>
              <a:spcBef>
                <a:spcPts val="0"/>
              </a:spcBef>
              <a:spcAft>
                <a:spcPts val="0"/>
              </a:spcAft>
              <a:def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 the image?</a:t>
            </a:r>
          </a:p>
        </p:txBody>
      </p:sp>
      <p:sp>
        <p:nvSpPr>
          <p:cNvPr id="118" name="en_tokens" descr="Editable text; source id en_tokens"/>
          <p:cNvSpPr txBox="1"/>
          <p:nvPr/>
        </p:nvSpPr>
        <p:spPr>
          <a:xfrm>
            <a:off x="1871545" y="785586"/>
            <a:ext cx="1809930" cy="22335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4"/>
              </a:lnSpc>
              <a:spcBef>
                <a:spcPts val="0"/>
              </a:spcBef>
              <a:spcAft>
                <a:spcPts val="0"/>
              </a:spcAft>
              <a:defRPr sz="1334" b="0" i="0" lang="zh-CN" dirty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334" b="0" i="0" lang="zh-CN" dirty="0">
                <a:solidFill>
                  <a:srgbClr val="D5D5D5"/>
                </a:solidFill>
                <a:latin typeface="Arial"/>
                <a:ea typeface="Arial"/>
                <a:cs typeface="Arial"/>
              </a:rPr>
              <a:t>A: 311 423 170 55 244</a:t>
            </a:r>
          </a:p>
        </p:txBody>
      </p:sp>
      <p:sp>
        <p:nvSpPr>
          <p:cNvPr id="119" name="en_answer" descr="Editable text; source id en_answer"/>
          <p:cNvSpPr txBox="1"/>
          <p:nvPr/>
        </p:nvSpPr>
        <p:spPr>
          <a:xfrm>
            <a:off x="2148811" y="1047449"/>
            <a:ext cx="1617384" cy="4236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4"/>
              </a:lnSpc>
              <a:spcBef>
                <a:spcPts val="0"/>
              </a:spcBef>
              <a:spcAft>
                <a:spcPts val="0"/>
              </a:spcAft>
              <a:def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grey donkey walks</a:t>
            </a:r>
          </a:p>
          <a:p>
            <a:pPr algn="l" fontAlgn="base">
              <a:lnSpc>
                <a:spcPts val="1534"/>
              </a:lnSpc>
              <a:spcBef>
                <a:spcPts val="0"/>
              </a:spcBef>
              <a:spcAft>
                <a:spcPts val="0"/>
              </a:spcAft>
              <a:def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down the street.</a:t>
            </a:r>
          </a:p>
        </p:txBody>
      </p:sp>
      <p:sp>
        <p:nvSpPr>
          <p:cNvPr id="120" name="fr_q" descr="Editable text; source id fr_q"/>
          <p:cNvSpPr txBox="1"/>
          <p:nvPr/>
        </p:nvSpPr>
        <p:spPr>
          <a:xfrm>
            <a:off x="315775" y="1709806"/>
            <a:ext cx="2141109" cy="4236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4"/>
              </a:lnSpc>
              <a:spcBef>
                <a:spcPts val="0"/>
              </a:spcBef>
              <a:spcAft>
                <a:spcPts val="0"/>
              </a:spcAft>
              <a:def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Q: Que puis-je faire avec</a:t>
            </a:r>
          </a:p>
          <a:p>
            <a:pPr algn="l" fontAlgn="base">
              <a:lnSpc>
                <a:spcPts val="1534"/>
              </a:lnSpc>
              <a:spcBef>
                <a:spcPts val="0"/>
              </a:spcBef>
              <a:spcAft>
                <a:spcPts val="0"/>
              </a:spcAft>
              <a:def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ces objets?</a:t>
            </a:r>
          </a:p>
        </p:txBody>
      </p:sp>
      <p:sp>
        <p:nvSpPr>
          <p:cNvPr id="121" name="fr_tokens" descr="Editable text; source id fr_tokens"/>
          <p:cNvSpPr txBox="1"/>
          <p:nvPr/>
        </p:nvSpPr>
        <p:spPr>
          <a:xfrm>
            <a:off x="315775" y="2164214"/>
            <a:ext cx="1933159" cy="22335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4"/>
              </a:lnSpc>
              <a:spcBef>
                <a:spcPts val="0"/>
              </a:spcBef>
              <a:spcAft>
                <a:spcPts val="0"/>
              </a:spcAft>
              <a:defRPr sz="1334" b="0" i="0" lang="zh-CN" dirty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334" b="0" i="0" lang="zh-CN" dirty="0">
                <a:solidFill>
                  <a:srgbClr val="D5D5D5"/>
                </a:solidFill>
                <a:latin typeface="Arial"/>
                <a:ea typeface="Arial"/>
                <a:cs typeface="Arial"/>
              </a:rPr>
              <a:t>A: 3455 1144 189 25673</a:t>
            </a:r>
          </a:p>
        </p:txBody>
      </p:sp>
      <p:sp>
        <p:nvSpPr>
          <p:cNvPr id="122" name="fr_answer" descr="Editable text; source id fr_answer"/>
          <p:cNvSpPr txBox="1"/>
          <p:nvPr/>
        </p:nvSpPr>
        <p:spPr>
          <a:xfrm>
            <a:off x="531426" y="2410673"/>
            <a:ext cx="1655893" cy="22335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4"/>
              </a:lnSpc>
              <a:spcBef>
                <a:spcPts val="0"/>
              </a:spcBef>
              <a:spcAft>
                <a:spcPts val="0"/>
              </a:spcAft>
              <a:def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Faire cuire un gâteau.</a:t>
            </a:r>
          </a:p>
        </p:txBody>
      </p:sp>
      <p:sp>
        <p:nvSpPr>
          <p:cNvPr id="123" name="robot_q" descr="Editable text; source id robot_q"/>
          <p:cNvSpPr txBox="1"/>
          <p:nvPr/>
        </p:nvSpPr>
        <p:spPr>
          <a:xfrm>
            <a:off x="1756017" y="3034521"/>
            <a:ext cx="2218127" cy="22335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4"/>
              </a:lnSpc>
              <a:spcBef>
                <a:spcPts val="0"/>
              </a:spcBef>
              <a:spcAft>
                <a:spcPts val="0"/>
              </a:spcAft>
              <a:def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Q: What should the robot</a:t>
            </a:r>
          </a:p>
        </p:txBody>
      </p:sp>
      <p:sp>
        <p:nvSpPr>
          <p:cNvPr id="124" name="robot_q2" descr="Editable text; source id robot_q2"/>
          <p:cNvSpPr txBox="1"/>
          <p:nvPr/>
        </p:nvSpPr>
        <p:spPr>
          <a:xfrm>
            <a:off x="1987072" y="3242471"/>
            <a:ext cx="1848439" cy="22335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4"/>
              </a:lnSpc>
              <a:spcBef>
                <a:spcPts val="0"/>
              </a:spcBef>
              <a:spcAft>
                <a:spcPts val="0"/>
              </a:spcAft>
              <a:def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do to </a:t>
            </a:r>
            <a:r>
              <a:rPr sz="1334" b="1" i="0" lang="zh-CN" dirty="0">
                <a:solidFill>
                  <a:srgbClr val="FF9200"/>
                </a:solidFill>
                <a:latin typeface="Arial"/>
                <a:ea typeface="Arial"/>
                <a:cs typeface="Arial"/>
              </a:rPr>
              <a:t>&lt;task&gt;</a:t>
            </a:r>
            <a:r>
              <a: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25" name="robot_tokens" descr="Editable text; source id robot_tokens"/>
          <p:cNvSpPr txBox="1"/>
          <p:nvPr/>
        </p:nvSpPr>
        <p:spPr>
          <a:xfrm>
            <a:off x="1771421" y="3473526"/>
            <a:ext cx="1940861" cy="22335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4"/>
              </a:lnSpc>
              <a:spcBef>
                <a:spcPts val="0"/>
              </a:spcBef>
              <a:spcAft>
                <a:spcPts val="0"/>
              </a:spcAft>
              <a:defRPr sz="1334" b="0" i="0" lang="zh-CN" dirty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334" b="0" i="0" lang="zh-CN" dirty="0">
                <a:solidFill>
                  <a:srgbClr val="D5D5D5"/>
                </a:solidFill>
                <a:latin typeface="Arial"/>
                <a:ea typeface="Arial"/>
                <a:cs typeface="Arial"/>
              </a:rPr>
              <a:t>A: 132 114 128 5 25 156</a:t>
            </a:r>
          </a:p>
        </p:txBody>
      </p:sp>
      <p:sp>
        <p:nvSpPr>
          <p:cNvPr id="126" name="robot_answer_0" descr="Editable text; source id robot_answer_0"/>
          <p:cNvSpPr txBox="1"/>
          <p:nvPr/>
        </p:nvSpPr>
        <p:spPr>
          <a:xfrm>
            <a:off x="1956265" y="3727686"/>
            <a:ext cx="1956265" cy="23105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4"/>
              </a:lnSpc>
              <a:spcBef>
                <a:spcPts val="0"/>
              </a:spcBef>
              <a:spcAft>
                <a:spcPts val="0"/>
              </a:spcAft>
              <a:def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Translation = [0.1, -0.2, 0]</a:t>
            </a:r>
          </a:p>
        </p:txBody>
      </p:sp>
      <p:sp>
        <p:nvSpPr>
          <p:cNvPr id="127" name="robot_answer_1" descr="Editable text; source id robot_answer_1"/>
          <p:cNvSpPr txBox="1"/>
          <p:nvPr/>
        </p:nvSpPr>
        <p:spPr>
          <a:xfrm>
            <a:off x="1956265" y="3974145"/>
            <a:ext cx="1956265" cy="23105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4"/>
              </a:lnSpc>
              <a:spcBef>
                <a:spcPts val="0"/>
              </a:spcBef>
              <a:spcAft>
                <a:spcPts val="0"/>
              </a:spcAft>
              <a:def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34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Rotation = [10°, 25°, -7°]</a:t>
            </a:r>
          </a:p>
        </p:txBody>
      </p:sp>
      <p:sp>
        <p:nvSpPr>
          <p:cNvPr id="128" name="rt2_label" descr="Editable text; source id rt2_label"/>
          <p:cNvSpPr txBox="1"/>
          <p:nvPr/>
        </p:nvSpPr>
        <p:spPr>
          <a:xfrm>
            <a:off x="6084447" y="431302"/>
            <a:ext cx="931921" cy="4081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defRPr sz="2304" b="1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304" b="1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RT-2</a:t>
            </a:r>
          </a:p>
        </p:txBody>
      </p:sp>
      <p:sp>
        <p:nvSpPr>
          <p:cNvPr id="129" name="vit_label" descr="Editable text; source id vit_label"/>
          <p:cNvSpPr txBox="1"/>
          <p:nvPr/>
        </p:nvSpPr>
        <p:spPr>
          <a:xfrm>
            <a:off x="6199974" y="1640490"/>
            <a:ext cx="677761" cy="3234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98" b="1" i="0" lang="zh-CN" dirty="0">
                <a:solidFill>
                  <a:srgbClr val="4385F5"/>
                </a:solidFill>
                <a:latin typeface="Arial"/>
                <a:ea typeface="Arial"/>
                <a:cs typeface="Arial"/>
              </a:defRPr>
            </a:pPr>
            <a:r>
              <a:rPr sz="1698" b="1" i="0" lang="zh-CN" dirty="0">
                <a:solidFill>
                  <a:srgbClr val="4385F5"/>
                </a:solidFill>
                <a:latin typeface="Arial"/>
                <a:ea typeface="Arial"/>
                <a:cs typeface="Arial"/>
              </a:rPr>
              <a:t>ViT</a:t>
            </a:r>
          </a:p>
        </p:txBody>
      </p:sp>
      <p:sp>
        <p:nvSpPr>
          <p:cNvPr id="130" name="llm_label" descr="Editable text; source id llm_label"/>
          <p:cNvSpPr txBox="1"/>
          <p:nvPr/>
        </p:nvSpPr>
        <p:spPr>
          <a:xfrm>
            <a:off x="7316740" y="593041"/>
            <a:ext cx="2364462" cy="3003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43"/>
              </a:lnSpc>
              <a:spcBef>
                <a:spcPts val="0"/>
              </a:spcBef>
              <a:spcAft>
                <a:spcPts val="0"/>
              </a:spcAft>
              <a:defRPr sz="1516" b="1" i="0" lang="zh-CN" dirty="0">
                <a:solidFill>
                  <a:srgbClr val="FF9200"/>
                </a:solidFill>
                <a:latin typeface="Arial"/>
                <a:ea typeface="Arial"/>
                <a:cs typeface="Arial"/>
              </a:defRPr>
            </a:pPr>
            <a:r>
              <a:rPr sz="1516" b="1" i="0" lang="zh-CN" dirty="0">
                <a:solidFill>
                  <a:srgbClr val="FF9200"/>
                </a:solidFill>
                <a:latin typeface="Arial"/>
                <a:ea typeface="Arial"/>
                <a:cs typeface="Arial"/>
              </a:rPr>
              <a:t>Large Language Model</a:t>
            </a:r>
          </a:p>
        </p:txBody>
      </p:sp>
      <p:sp>
        <p:nvSpPr>
          <p:cNvPr id="131" name="input_q" descr="Editable text; source id input_q"/>
          <p:cNvSpPr txBox="1"/>
          <p:nvPr/>
        </p:nvSpPr>
        <p:spPr>
          <a:xfrm>
            <a:off x="4459360" y="431302"/>
            <a:ext cx="1447944" cy="16944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46"/>
              </a:lnSpc>
              <a:spcBef>
                <a:spcPts val="0"/>
              </a:spcBef>
              <a:spcAft>
                <a:spcPts val="0"/>
              </a:spcAft>
              <a:defRPr sz="909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9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Q: What should the robot</a:t>
            </a:r>
          </a:p>
        </p:txBody>
      </p:sp>
      <p:sp>
        <p:nvSpPr>
          <p:cNvPr id="132" name="input_q2" descr="Editable text; source id input_q2"/>
          <p:cNvSpPr txBox="1"/>
          <p:nvPr/>
        </p:nvSpPr>
        <p:spPr>
          <a:xfrm>
            <a:off x="4628800" y="577637"/>
            <a:ext cx="1286205" cy="16944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46"/>
              </a:lnSpc>
              <a:spcBef>
                <a:spcPts val="0"/>
              </a:spcBef>
              <a:spcAft>
                <a:spcPts val="0"/>
              </a:spcAft>
              <a:defRPr sz="909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9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do to </a:t>
            </a:r>
            <a:r>
              <a:rPr sz="909" b="1" i="0" lang="zh-CN" dirty="0">
                <a:solidFill>
                  <a:srgbClr val="FF9200"/>
                </a:solidFill>
                <a:latin typeface="Arial"/>
                <a:ea typeface="Arial"/>
                <a:cs typeface="Arial"/>
              </a:rPr>
              <a:t>&lt;task&gt;</a:t>
            </a:r>
            <a:r>
              <a:rPr sz="909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? A: …</a:t>
            </a:r>
          </a:p>
        </p:txBody>
      </p:sp>
      <p:sp>
        <p:nvSpPr>
          <p:cNvPr id="133" name="action_tokens" descr="Editable text; source id action_tokens"/>
          <p:cNvSpPr txBox="1"/>
          <p:nvPr/>
        </p:nvSpPr>
        <p:spPr>
          <a:xfrm>
            <a:off x="6015130" y="2895888"/>
            <a:ext cx="1509559" cy="18484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5"/>
              </a:lnSpc>
              <a:spcBef>
                <a:spcPts val="0"/>
              </a:spcBef>
              <a:spcAft>
                <a:spcPts val="0"/>
              </a:spcAft>
              <a:defRPr sz="1030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30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A: 132 114 128 5 25 156</a:t>
            </a:r>
          </a:p>
        </p:txBody>
      </p:sp>
      <p:sp>
        <p:nvSpPr>
          <p:cNvPr id="134" name="detokenize" descr="Editable text; source id detokenize"/>
          <p:cNvSpPr txBox="1"/>
          <p:nvPr/>
        </p:nvSpPr>
        <p:spPr>
          <a:xfrm>
            <a:off x="7632515" y="3034521"/>
            <a:ext cx="916517" cy="2387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94"/>
              </a:lnSpc>
              <a:spcBef>
                <a:spcPts val="0"/>
              </a:spcBef>
              <a:spcAft>
                <a:spcPts val="0"/>
              </a:spcAft>
              <a:defRPr sz="1212" b="0" i="0" lang="zh-CN" dirty="0">
                <a:solidFill>
                  <a:srgbClr val="7052B5"/>
                </a:solidFill>
                <a:latin typeface="Arial"/>
                <a:ea typeface="Arial"/>
                <a:cs typeface="Arial"/>
              </a:defRPr>
            </a:pPr>
            <a:r>
              <a:rPr sz="1212" b="0" i="0" lang="zh-CN" dirty="0">
                <a:solidFill>
                  <a:srgbClr val="7052B5"/>
                </a:solidFill>
                <a:latin typeface="Arial"/>
                <a:ea typeface="Arial"/>
                <a:cs typeface="Arial"/>
              </a:rPr>
              <a:t>De-Tokenize</a:t>
            </a:r>
          </a:p>
        </p:txBody>
      </p:sp>
      <p:sp>
        <p:nvSpPr>
          <p:cNvPr id="135" name="action_0" descr="Editable text; source id action_0"/>
          <p:cNvSpPr txBox="1"/>
          <p:nvPr/>
        </p:nvSpPr>
        <p:spPr>
          <a:xfrm>
            <a:off x="8826299" y="2764957"/>
            <a:ext cx="1062852" cy="2002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5"/>
              </a:lnSpc>
              <a:spcBef>
                <a:spcPts val="0"/>
              </a:spcBef>
              <a:spcAft>
                <a:spcPts val="0"/>
              </a:spcAft>
              <a:defRPr sz="1030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30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 = [0.1, -0.2, 0]</a:t>
            </a:r>
          </a:p>
        </p:txBody>
      </p:sp>
      <p:sp>
        <p:nvSpPr>
          <p:cNvPr id="136" name="action_1" descr="Editable text; source id action_1"/>
          <p:cNvSpPr txBox="1"/>
          <p:nvPr/>
        </p:nvSpPr>
        <p:spPr>
          <a:xfrm>
            <a:off x="8826299" y="2949801"/>
            <a:ext cx="1062852" cy="2002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5"/>
              </a:lnSpc>
              <a:spcBef>
                <a:spcPts val="0"/>
              </a:spcBef>
              <a:spcAft>
                <a:spcPts val="0"/>
              </a:spcAft>
              <a:defRPr sz="1030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30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 = [10°, 25°, -7°]</a:t>
            </a:r>
          </a:p>
        </p:txBody>
      </p:sp>
      <p:sp>
        <p:nvSpPr>
          <p:cNvPr id="137" name="action_label" descr="Editable text; source id action_label"/>
          <p:cNvSpPr txBox="1"/>
          <p:nvPr/>
        </p:nvSpPr>
        <p:spPr>
          <a:xfrm>
            <a:off x="8849404" y="3242471"/>
            <a:ext cx="1070554" cy="21565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94"/>
              </a:lnSpc>
              <a:spcBef>
                <a:spcPts val="0"/>
              </a:spcBef>
              <a:spcAft>
                <a:spcPts val="0"/>
              </a:spcAft>
              <a:defRPr sz="1212" b="0" i="0" lang="zh-CN" dirty="0">
                <a:solidFill>
                  <a:srgbClr val="7052B5"/>
                </a:solidFill>
                <a:latin typeface="Arial"/>
                <a:ea typeface="Arial"/>
                <a:cs typeface="Arial"/>
              </a:defRPr>
            </a:pPr>
            <a:r>
              <a:rPr sz="1212" b="0" i="0" lang="zh-CN" dirty="0">
                <a:solidFill>
                  <a:srgbClr val="7052B5"/>
                </a:solidFill>
                <a:latin typeface="Arial"/>
                <a:ea typeface="Arial"/>
                <a:cs typeface="Arial"/>
              </a:rPr>
              <a:t>Robot Action</a:t>
            </a:r>
          </a:p>
        </p:txBody>
      </p:sp>
      <p:sp>
        <p:nvSpPr>
          <p:cNvPr id="138" name="cotrain_label" descr="Editable text; source id cotrain_label"/>
          <p:cNvSpPr txBox="1"/>
          <p:nvPr/>
        </p:nvSpPr>
        <p:spPr>
          <a:xfrm>
            <a:off x="4359236" y="3920232"/>
            <a:ext cx="1732912" cy="3003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43"/>
              </a:lnSpc>
              <a:spcBef>
                <a:spcPts val="0"/>
              </a:spcBef>
              <a:spcAft>
                <a:spcPts val="0"/>
              </a:spcAft>
              <a:defRPr sz="151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1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Co-Fine-Tune</a:t>
            </a:r>
          </a:p>
        </p:txBody>
      </p:sp>
      <p:sp>
        <p:nvSpPr>
          <p:cNvPr id="139" name="deploy_label" descr="Editable text; source id deploy_label"/>
          <p:cNvSpPr txBox="1"/>
          <p:nvPr/>
        </p:nvSpPr>
        <p:spPr>
          <a:xfrm>
            <a:off x="9326918" y="3920232"/>
            <a:ext cx="785586" cy="3003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43"/>
              </a:lnSpc>
              <a:spcBef>
                <a:spcPts val="0"/>
              </a:spcBef>
              <a:spcAft>
                <a:spcPts val="0"/>
              </a:spcAft>
              <a:defRPr sz="151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1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140" name="caption_0" descr="Editable text; source id caption_0"/>
          <p:cNvSpPr txBox="1"/>
          <p:nvPr/>
        </p:nvSpPr>
        <p:spPr>
          <a:xfrm>
            <a:off x="10328156" y="1494155"/>
            <a:ext cx="1617384" cy="33117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85"/>
              </a:lnSpc>
              <a:spcBef>
                <a:spcPts val="0"/>
              </a:spcBef>
              <a:spcAft>
                <a:spcPts val="0"/>
              </a:spcAft>
              <a:defRPr sz="1030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30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Put the strawberry</a:t>
            </a:r>
          </a:p>
          <a:p>
            <a:pPr algn="ctr" fontAlgn="base">
              <a:lnSpc>
                <a:spcPts val="1185"/>
              </a:lnSpc>
              <a:spcBef>
                <a:spcPts val="0"/>
              </a:spcBef>
              <a:spcAft>
                <a:spcPts val="0"/>
              </a:spcAft>
              <a:defRPr sz="1030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30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into the correct bowl</a:t>
            </a:r>
          </a:p>
        </p:txBody>
      </p:sp>
      <p:sp>
        <p:nvSpPr>
          <p:cNvPr id="141" name="caption_1" descr="Editable text; source id caption_1"/>
          <p:cNvSpPr txBox="1"/>
          <p:nvPr/>
        </p:nvSpPr>
        <p:spPr>
          <a:xfrm>
            <a:off x="10328156" y="2872783"/>
            <a:ext cx="1617384" cy="20794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85"/>
              </a:lnSpc>
              <a:spcBef>
                <a:spcPts val="0"/>
              </a:spcBef>
              <a:spcAft>
                <a:spcPts val="0"/>
              </a:spcAft>
              <a:defRPr sz="1030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30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Pick the nearly falling bag</a:t>
            </a:r>
          </a:p>
        </p:txBody>
      </p:sp>
      <p:sp>
        <p:nvSpPr>
          <p:cNvPr id="142" name="caption_2" descr="Editable text; source id caption_2"/>
          <p:cNvSpPr txBox="1"/>
          <p:nvPr/>
        </p:nvSpPr>
        <p:spPr>
          <a:xfrm>
            <a:off x="10328156" y="4105076"/>
            <a:ext cx="1617384" cy="20794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85"/>
              </a:lnSpc>
              <a:spcBef>
                <a:spcPts val="0"/>
              </a:spcBef>
              <a:spcAft>
                <a:spcPts val="0"/>
              </a:spcAft>
              <a:defRPr sz="1030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30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Pick object that is different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RT-2 Figure 1: full architecture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