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7043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ViNT Figure 2, Shah et al., CoRL 2023, PMLR 229:711–733. Source pixels only. Three separate text-free photographic montage crops remain raster; all labels are editable. Positional-encoding internal curve is segmented native geometry. Stopwatch native primitives. Source font not uniquely identifiable; Arial substitute.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observations_photo" descr="Exact text-free photo/montage crop from published Figure 2 pixels; actions crop includes original white trajectory marker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38" y="730670"/>
            <a:ext cx="1563294" cy="1104501"/>
          </a:xfrm>
          <a:prstGeom prst="rect">
            <a:avLst/>
          </a:prstGeom>
          <a:effectLst/>
        </p:spPr>
      </p:pic>
      <p:pic>
        <p:nvPicPr>
          <p:cNvPr id="3" name="goal_photo" descr="Exact text-free photo/montage crop from published Figure 2 pixels; actions crop includes original white trajectory marker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08" y="2217499"/>
            <a:ext cx="1469836" cy="994051"/>
          </a:xfrm>
          <a:prstGeom prst="rect">
            <a:avLst/>
          </a:prstGeom>
          <a:effectLst/>
        </p:spPr>
      </p:pic>
      <p:pic>
        <p:nvPicPr>
          <p:cNvPr id="4" name="actions_photo" descr="Exact text-free photo/montage crop from published Figure 2 pixels; actions crop includes original white trajectory marker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507" y="1588783"/>
            <a:ext cx="2107049" cy="1359386"/>
          </a:xfrm>
          <a:prstGeom prst="rect">
            <a:avLst/>
          </a:prstGeom>
          <a:effectLst/>
        </p:spPr>
      </p:pic>
      <p:sp>
        <p:nvSpPr>
          <p:cNvPr id="5" name="encoder_stack_0" descr="Editable shape; source id encoder_stack_0"/>
          <p:cNvSpPr/>
          <p:nvPr/>
        </p:nvSpPr>
        <p:spPr>
          <a:xfrm>
            <a:off x="2141034" y="144434"/>
            <a:ext cx="3135085" cy="1444348"/>
          </a:xfrm>
          <a:prstGeom prst="roundRect">
            <a:avLst>
              <a:gd name="adj" fmla="val 16470"/>
            </a:avLst>
          </a:prstGeom>
          <a:solidFill>
            <a:srgbClr val="E8D2DC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coder_stack_1" descr="Editable shape; source id encoder_stack_1"/>
          <p:cNvSpPr/>
          <p:nvPr/>
        </p:nvSpPr>
        <p:spPr>
          <a:xfrm>
            <a:off x="2202206" y="205607"/>
            <a:ext cx="3135085" cy="1444348"/>
          </a:xfrm>
          <a:prstGeom prst="roundRect">
            <a:avLst>
              <a:gd name="adj" fmla="val 16470"/>
            </a:avLst>
          </a:prstGeom>
          <a:solidFill>
            <a:srgbClr val="E8D2DC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coder_stack_2" descr="Editable shape; source id encoder_stack_2"/>
          <p:cNvSpPr/>
          <p:nvPr/>
        </p:nvSpPr>
        <p:spPr>
          <a:xfrm>
            <a:off x="2263378" y="266779"/>
            <a:ext cx="3135085" cy="1444348"/>
          </a:xfrm>
          <a:prstGeom prst="roundRect">
            <a:avLst>
              <a:gd name="adj" fmla="val 16470"/>
            </a:avLst>
          </a:prstGeom>
          <a:solidFill>
            <a:srgbClr val="E8D2DC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ncoder_stack_3" descr="Editable shape; source id encoder_stack_3"/>
          <p:cNvSpPr/>
          <p:nvPr/>
        </p:nvSpPr>
        <p:spPr>
          <a:xfrm>
            <a:off x="2324551" y="327952"/>
            <a:ext cx="3135085" cy="1444348"/>
          </a:xfrm>
          <a:prstGeom prst="roundRect">
            <a:avLst>
              <a:gd name="adj" fmla="val 16470"/>
            </a:avLst>
          </a:prstGeom>
          <a:solidFill>
            <a:srgbClr val="E8D2DC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ncoder_stack_4" descr="Editable shape; source id encoder_stack_4"/>
          <p:cNvSpPr/>
          <p:nvPr/>
        </p:nvSpPr>
        <p:spPr>
          <a:xfrm>
            <a:off x="2385723" y="389124"/>
            <a:ext cx="3135085" cy="1444348"/>
          </a:xfrm>
          <a:prstGeom prst="roundRect">
            <a:avLst>
              <a:gd name="adj" fmla="val 16470"/>
            </a:avLst>
          </a:prstGeom>
          <a:solidFill>
            <a:srgbClr val="E8D2DC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ncoder_stack_5" descr="Editable shape; source id encoder_stack_5"/>
          <p:cNvSpPr/>
          <p:nvPr/>
        </p:nvSpPr>
        <p:spPr>
          <a:xfrm>
            <a:off x="2446896" y="450296"/>
            <a:ext cx="3135085" cy="1444348"/>
          </a:xfrm>
          <a:prstGeom prst="roundRect">
            <a:avLst>
              <a:gd name="adj" fmla="val 16470"/>
            </a:avLst>
          </a:prstGeom>
          <a:solidFill>
            <a:srgbClr val="E8D2DC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oal_encoder" descr="Editable shape; source id goal_encoder"/>
          <p:cNvSpPr/>
          <p:nvPr/>
        </p:nvSpPr>
        <p:spPr>
          <a:xfrm>
            <a:off x="2446896" y="2005095"/>
            <a:ext cx="3135085" cy="1444348"/>
          </a:xfrm>
          <a:prstGeom prst="roundRect">
            <a:avLst>
              <a:gd name="adj" fmla="val 16470"/>
            </a:avLst>
          </a:prstGeom>
          <a:solidFill>
            <a:srgbClr val="D9EBD2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bservation_arrow_0" descr="Editable line; source id observation_arrow_0"/>
          <p:cNvSpPr/>
          <p:nvPr/>
        </p:nvSpPr>
        <p:spPr>
          <a:xfrm>
            <a:off x="1699233" y="1045029"/>
            <a:ext cx="441801" cy="50977"/>
          </a:xfrm>
          <a:custGeom>
            <a:avLst/>
            <a:gdLst/>
            <a:ahLst/>
            <a:cxnLst/>
            <a:rect l="l" t="t" r="r" b="b"/>
            <a:pathLst>
              <a:path w="52000" h="6000">
                <a:moveTo>
                  <a:pt x="0" y="2200"/>
                </a:moveTo>
                <a:lnTo>
                  <a:pt x="44000" y="2200"/>
                </a:lnTo>
                <a:lnTo>
                  <a:pt x="44000" y="0"/>
                </a:lnTo>
                <a:lnTo>
                  <a:pt x="52000" y="3000"/>
                </a:lnTo>
                <a:lnTo>
                  <a:pt x="44000" y="6000"/>
                </a:lnTo>
                <a:lnTo>
                  <a:pt x="440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bservation_arrow_1" descr="Editable line; source id observation_arrow_1"/>
          <p:cNvSpPr/>
          <p:nvPr/>
        </p:nvSpPr>
        <p:spPr>
          <a:xfrm>
            <a:off x="1699233" y="1100254"/>
            <a:ext cx="502973" cy="50977"/>
          </a:xfrm>
          <a:custGeom>
            <a:avLst/>
            <a:gdLst/>
            <a:ahLst/>
            <a:cxnLst/>
            <a:rect l="l" t="t" r="r" b="b"/>
            <a:pathLst>
              <a:path w="59200" h="6000">
                <a:moveTo>
                  <a:pt x="0" y="2200"/>
                </a:moveTo>
                <a:lnTo>
                  <a:pt x="51200" y="2200"/>
                </a:lnTo>
                <a:lnTo>
                  <a:pt x="51200" y="0"/>
                </a:lnTo>
                <a:lnTo>
                  <a:pt x="59200" y="3000"/>
                </a:lnTo>
                <a:lnTo>
                  <a:pt x="51200" y="6000"/>
                </a:lnTo>
                <a:lnTo>
                  <a:pt x="512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bservation_arrow_2" descr="Editable line; source id observation_arrow_2"/>
          <p:cNvSpPr/>
          <p:nvPr/>
        </p:nvSpPr>
        <p:spPr>
          <a:xfrm>
            <a:off x="1699233" y="1155479"/>
            <a:ext cx="564145" cy="50977"/>
          </a:xfrm>
          <a:custGeom>
            <a:avLst/>
            <a:gdLst/>
            <a:ahLst/>
            <a:cxnLst/>
            <a:rect l="l" t="t" r="r" b="b"/>
            <a:pathLst>
              <a:path w="66400" h="6000">
                <a:moveTo>
                  <a:pt x="0" y="2200"/>
                </a:moveTo>
                <a:lnTo>
                  <a:pt x="58400" y="2200"/>
                </a:lnTo>
                <a:lnTo>
                  <a:pt x="58400" y="0"/>
                </a:lnTo>
                <a:lnTo>
                  <a:pt x="66400" y="3000"/>
                </a:lnTo>
                <a:lnTo>
                  <a:pt x="58400" y="6000"/>
                </a:lnTo>
                <a:lnTo>
                  <a:pt x="584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bservation_arrow_3" descr="Editable line; source id observation_arrow_3"/>
          <p:cNvSpPr/>
          <p:nvPr/>
        </p:nvSpPr>
        <p:spPr>
          <a:xfrm>
            <a:off x="1699233" y="1210704"/>
            <a:ext cx="625318" cy="50977"/>
          </a:xfrm>
          <a:custGeom>
            <a:avLst/>
            <a:gdLst/>
            <a:ahLst/>
            <a:cxnLst/>
            <a:rect l="l" t="t" r="r" b="b"/>
            <a:pathLst>
              <a:path w="73600" h="6000">
                <a:moveTo>
                  <a:pt x="0" y="2200"/>
                </a:moveTo>
                <a:lnTo>
                  <a:pt x="65600" y="2200"/>
                </a:lnTo>
                <a:lnTo>
                  <a:pt x="65600" y="0"/>
                </a:lnTo>
                <a:lnTo>
                  <a:pt x="73600" y="3000"/>
                </a:lnTo>
                <a:lnTo>
                  <a:pt x="65600" y="6000"/>
                </a:lnTo>
                <a:lnTo>
                  <a:pt x="656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bservation_arrow_4" descr="Editable line; source id observation_arrow_4"/>
          <p:cNvSpPr/>
          <p:nvPr/>
        </p:nvSpPr>
        <p:spPr>
          <a:xfrm>
            <a:off x="1699233" y="1265929"/>
            <a:ext cx="686490" cy="50977"/>
          </a:xfrm>
          <a:custGeom>
            <a:avLst/>
            <a:gdLst/>
            <a:ahLst/>
            <a:cxnLst/>
            <a:rect l="l" t="t" r="r" b="b"/>
            <a:pathLst>
              <a:path w="80800" h="6000">
                <a:moveTo>
                  <a:pt x="0" y="2200"/>
                </a:moveTo>
                <a:lnTo>
                  <a:pt x="72800" y="2200"/>
                </a:lnTo>
                <a:lnTo>
                  <a:pt x="72800" y="0"/>
                </a:lnTo>
                <a:lnTo>
                  <a:pt x="80800" y="3000"/>
                </a:lnTo>
                <a:lnTo>
                  <a:pt x="72800" y="6000"/>
                </a:lnTo>
                <a:lnTo>
                  <a:pt x="728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bservation_arrow_5" descr="Editable line; source id observation_arrow_5"/>
          <p:cNvSpPr/>
          <p:nvPr/>
        </p:nvSpPr>
        <p:spPr>
          <a:xfrm>
            <a:off x="1699233" y="1321154"/>
            <a:ext cx="747663" cy="50977"/>
          </a:xfrm>
          <a:custGeom>
            <a:avLst/>
            <a:gdLst/>
            <a:ahLst/>
            <a:cxnLst/>
            <a:rect l="l" t="t" r="r" b="b"/>
            <a:pathLst>
              <a:path w="88000" h="6000">
                <a:moveTo>
                  <a:pt x="0" y="2200"/>
                </a:moveTo>
                <a:lnTo>
                  <a:pt x="80000" y="2200"/>
                </a:lnTo>
                <a:lnTo>
                  <a:pt x="80000" y="0"/>
                </a:lnTo>
                <a:lnTo>
                  <a:pt x="88000" y="3000"/>
                </a:lnTo>
                <a:lnTo>
                  <a:pt x="80000" y="6000"/>
                </a:lnTo>
                <a:lnTo>
                  <a:pt x="800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oal_arrow" descr="Editable line; source id goal_arrow"/>
          <p:cNvSpPr/>
          <p:nvPr/>
        </p:nvSpPr>
        <p:spPr>
          <a:xfrm>
            <a:off x="1673745" y="2701781"/>
            <a:ext cx="764655" cy="50977"/>
          </a:xfrm>
          <a:custGeom>
            <a:avLst/>
            <a:gdLst/>
            <a:ahLst/>
            <a:cxnLst/>
            <a:rect l="l" t="t" r="r" b="b"/>
            <a:pathLst>
              <a:path w="90000" h="6000">
                <a:moveTo>
                  <a:pt x="0" y="2200"/>
                </a:moveTo>
                <a:lnTo>
                  <a:pt x="82000" y="2200"/>
                </a:lnTo>
                <a:lnTo>
                  <a:pt x="82000" y="0"/>
                </a:lnTo>
                <a:lnTo>
                  <a:pt x="90000" y="3000"/>
                </a:lnTo>
                <a:lnTo>
                  <a:pt x="82000" y="6000"/>
                </a:lnTo>
                <a:lnTo>
                  <a:pt x="820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bs_efficient" descr="Editable shape; source id obs_efficient"/>
          <p:cNvSpPr/>
          <p:nvPr/>
        </p:nvSpPr>
        <p:spPr>
          <a:xfrm>
            <a:off x="2710277" y="671197"/>
            <a:ext cx="1435852" cy="994052"/>
          </a:xfrm>
          <a:custGeom>
            <a:avLst/>
            <a:gdLst/>
            <a:ahLst/>
            <a:cxnLst/>
            <a:rect l="l" t="t" r="r" b="b"/>
            <a:pathLst>
              <a:path w="169000" h="117000">
                <a:moveTo>
                  <a:pt x="0" y="0"/>
                </a:moveTo>
                <a:lnTo>
                  <a:pt x="169000" y="29250"/>
                </a:lnTo>
                <a:lnTo>
                  <a:pt x="169000" y="87750"/>
                </a:lnTo>
                <a:lnTo>
                  <a:pt x="0" y="117000"/>
                </a:lnTo>
                <a:close/>
              </a:path>
            </a:pathLst>
          </a:custGeom>
          <a:solidFill>
            <a:srgbClr val="3979D8"/>
          </a:solidFill>
          <a:ln w="12744">
            <a:solidFill>
              <a:srgbClr val="62626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bs_efficient_label" descr="Editable text; source id obs_efficient_label"/>
          <p:cNvSpPr txBox="1"/>
          <p:nvPr/>
        </p:nvSpPr>
        <p:spPr>
          <a:xfrm>
            <a:off x="2778246" y="1053524"/>
            <a:ext cx="1308409" cy="2463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471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1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21" name="obs_parameters" descr="Editable text; source id obs_parameters"/>
          <p:cNvSpPr txBox="1"/>
          <p:nvPr/>
        </p:nvSpPr>
        <p:spPr>
          <a:xfrm>
            <a:off x="3559893" y="501273"/>
            <a:ext cx="1036532" cy="2039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5M Parameters</a:t>
            </a:r>
          </a:p>
        </p:txBody>
      </p:sp>
      <p:sp>
        <p:nvSpPr>
          <p:cNvPr id="22" name="obs_feature_0" descr="Editable shape; source id obs_feature_0"/>
          <p:cNvSpPr/>
          <p:nvPr/>
        </p:nvSpPr>
        <p:spPr>
          <a:xfrm>
            <a:off x="4290564" y="773151"/>
            <a:ext cx="135938" cy="832624"/>
          </a:xfrm>
          <a:prstGeom prst="rect">
            <a:avLst/>
          </a:prstGeom>
          <a:solidFill>
            <a:srgbClr val="C7DBF7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bs_feature_1" descr="Editable shape; source id obs_feature_1"/>
          <p:cNvSpPr/>
          <p:nvPr/>
        </p:nvSpPr>
        <p:spPr>
          <a:xfrm>
            <a:off x="4511464" y="909089"/>
            <a:ext cx="135938" cy="526762"/>
          </a:xfrm>
          <a:prstGeom prst="rect">
            <a:avLst/>
          </a:prstGeom>
          <a:solidFill>
            <a:srgbClr val="C7DBF7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bs_feature_2" descr="Editable shape; source id obs_feature_2"/>
          <p:cNvSpPr/>
          <p:nvPr/>
        </p:nvSpPr>
        <p:spPr>
          <a:xfrm>
            <a:off x="4740861" y="1053524"/>
            <a:ext cx="135938" cy="288869"/>
          </a:xfrm>
          <a:prstGeom prst="rect">
            <a:avLst/>
          </a:prstGeom>
          <a:solidFill>
            <a:srgbClr val="C7DBF7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bs_encoding_0" descr="Editable shape; source id obs_encoding_0"/>
          <p:cNvSpPr/>
          <p:nvPr/>
        </p:nvSpPr>
        <p:spPr>
          <a:xfrm>
            <a:off x="5114692" y="773151"/>
            <a:ext cx="84961" cy="104078"/>
          </a:xfrm>
          <a:prstGeom prst="rect">
            <a:avLst/>
          </a:prstGeom>
          <a:solidFill>
            <a:srgbClr val="D989B0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bs_encoding_1" descr="Editable shape; source id obs_encoding_1"/>
          <p:cNvSpPr/>
          <p:nvPr/>
        </p:nvSpPr>
        <p:spPr>
          <a:xfrm>
            <a:off x="5114692" y="877229"/>
            <a:ext cx="84961" cy="104078"/>
          </a:xfrm>
          <a:prstGeom prst="rect">
            <a:avLst/>
          </a:prstGeom>
          <a:solidFill>
            <a:srgbClr val="EAA4C5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bs_encoding_2" descr="Editable shape; source id obs_encoding_2"/>
          <p:cNvSpPr/>
          <p:nvPr/>
        </p:nvSpPr>
        <p:spPr>
          <a:xfrm>
            <a:off x="5114692" y="981307"/>
            <a:ext cx="84961" cy="104078"/>
          </a:xfrm>
          <a:prstGeom prst="rect">
            <a:avLst/>
          </a:prstGeom>
          <a:solidFill>
            <a:srgbClr val="F2C499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bs_encoding_3" descr="Editable shape; source id obs_encoding_3"/>
          <p:cNvSpPr/>
          <p:nvPr/>
        </p:nvSpPr>
        <p:spPr>
          <a:xfrm>
            <a:off x="5114692" y="1085385"/>
            <a:ext cx="84961" cy="104078"/>
          </a:xfrm>
          <a:prstGeom prst="rect">
            <a:avLst/>
          </a:prstGeom>
          <a:solidFill>
            <a:srgbClr val="F9D937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bs_encoding_4" descr="Editable shape; source id obs_encoding_4"/>
          <p:cNvSpPr/>
          <p:nvPr/>
        </p:nvSpPr>
        <p:spPr>
          <a:xfrm>
            <a:off x="5114692" y="1189463"/>
            <a:ext cx="84961" cy="104078"/>
          </a:xfrm>
          <a:prstGeom prst="rect">
            <a:avLst/>
          </a:prstGeom>
          <a:solidFill>
            <a:srgbClr val="F0BE88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bs_encoding_5" descr="Editable shape; source id obs_encoding_5"/>
          <p:cNvSpPr/>
          <p:nvPr/>
        </p:nvSpPr>
        <p:spPr>
          <a:xfrm>
            <a:off x="5114692" y="1293541"/>
            <a:ext cx="84961" cy="104078"/>
          </a:xfrm>
          <a:prstGeom prst="rect">
            <a:avLst/>
          </a:prstGeom>
          <a:solidFill>
            <a:srgbClr val="EBA0C2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bs_encoding_6" descr="Editable shape; source id obs_encoding_6"/>
          <p:cNvSpPr/>
          <p:nvPr/>
        </p:nvSpPr>
        <p:spPr>
          <a:xfrm>
            <a:off x="5114692" y="1397619"/>
            <a:ext cx="84961" cy="104078"/>
          </a:xfrm>
          <a:prstGeom prst="rect">
            <a:avLst/>
          </a:prstGeom>
          <a:solidFill>
            <a:srgbClr val="D689B0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bs_encoding_7" descr="Editable shape; source id obs_encoding_7"/>
          <p:cNvSpPr/>
          <p:nvPr/>
        </p:nvSpPr>
        <p:spPr>
          <a:xfrm>
            <a:off x="5114692" y="1501697"/>
            <a:ext cx="84961" cy="104078"/>
          </a:xfrm>
          <a:prstGeom prst="rect">
            <a:avLst/>
          </a:prstGeom>
          <a:solidFill>
            <a:srgbClr val="D58CAD"/>
          </a:solidFill>
          <a:ln w="16992">
            <a:solidFill>
              <a:srgbClr val="A34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bs_512" descr="Editable text; source id obs_512"/>
          <p:cNvSpPr txBox="1"/>
          <p:nvPr/>
        </p:nvSpPr>
        <p:spPr>
          <a:xfrm>
            <a:off x="4961761" y="1648256"/>
            <a:ext cx="560747" cy="2209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512-D</a:t>
            </a:r>
          </a:p>
        </p:txBody>
      </p:sp>
      <p:sp>
        <p:nvSpPr>
          <p:cNvPr id="34" name="obs_symbol" descr="Editable text; source id obs_symbol"/>
          <p:cNvSpPr txBox="1"/>
          <p:nvPr/>
        </p:nvSpPr>
        <p:spPr>
          <a:xfrm>
            <a:off x="3967710" y="1478333"/>
            <a:ext cx="322854" cy="3313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61"/>
              </a:lnSpc>
              <a:spcBef>
                <a:spcPts val="0"/>
              </a:spcBef>
              <a:spcAft>
                <a:spcPts val="0"/>
              </a:spcAft>
              <a:defRPr sz="2140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0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ψ</a:t>
            </a:r>
          </a:p>
        </p:txBody>
      </p:sp>
      <p:sp>
        <p:nvSpPr>
          <p:cNvPr id="35" name="goal_efficient" descr="Editable shape; source id goal_efficient"/>
          <p:cNvSpPr/>
          <p:nvPr/>
        </p:nvSpPr>
        <p:spPr>
          <a:xfrm>
            <a:off x="2710277" y="2225996"/>
            <a:ext cx="1435852" cy="994052"/>
          </a:xfrm>
          <a:custGeom>
            <a:avLst/>
            <a:gdLst/>
            <a:ahLst/>
            <a:cxnLst/>
            <a:rect l="l" t="t" r="r" b="b"/>
            <a:pathLst>
              <a:path w="169000" h="117000">
                <a:moveTo>
                  <a:pt x="0" y="0"/>
                </a:moveTo>
                <a:lnTo>
                  <a:pt x="169000" y="29250"/>
                </a:lnTo>
                <a:lnTo>
                  <a:pt x="169000" y="87750"/>
                </a:lnTo>
                <a:lnTo>
                  <a:pt x="0" y="117000"/>
                </a:lnTo>
                <a:close/>
              </a:path>
            </a:pathLst>
          </a:custGeom>
          <a:solidFill>
            <a:srgbClr val="3979D8"/>
          </a:solidFill>
          <a:ln w="12744">
            <a:solidFill>
              <a:srgbClr val="62626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oal_efficient_label" descr="Editable text; source id goal_efficient_label"/>
          <p:cNvSpPr txBox="1"/>
          <p:nvPr/>
        </p:nvSpPr>
        <p:spPr>
          <a:xfrm>
            <a:off x="2778246" y="2608323"/>
            <a:ext cx="1308409" cy="2463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471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1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37" name="goal_parameters" descr="Editable text; source id goal_parameters"/>
          <p:cNvSpPr txBox="1"/>
          <p:nvPr/>
        </p:nvSpPr>
        <p:spPr>
          <a:xfrm>
            <a:off x="3559893" y="2056072"/>
            <a:ext cx="1036532" cy="2039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5M Parameters</a:t>
            </a:r>
          </a:p>
        </p:txBody>
      </p:sp>
      <p:sp>
        <p:nvSpPr>
          <p:cNvPr id="38" name="goal_feature_0" descr="Editable shape; source id goal_feature_0"/>
          <p:cNvSpPr/>
          <p:nvPr/>
        </p:nvSpPr>
        <p:spPr>
          <a:xfrm>
            <a:off x="4290564" y="2327949"/>
            <a:ext cx="135938" cy="832624"/>
          </a:xfrm>
          <a:prstGeom prst="rect">
            <a:avLst/>
          </a:prstGeom>
          <a:solidFill>
            <a:srgbClr val="C7DBF7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oal_feature_1" descr="Editable shape; source id goal_feature_1"/>
          <p:cNvSpPr/>
          <p:nvPr/>
        </p:nvSpPr>
        <p:spPr>
          <a:xfrm>
            <a:off x="4511464" y="2463888"/>
            <a:ext cx="135938" cy="526762"/>
          </a:xfrm>
          <a:prstGeom prst="rect">
            <a:avLst/>
          </a:prstGeom>
          <a:solidFill>
            <a:srgbClr val="C7DBF7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oal_feature_2" descr="Editable shape; source id goal_feature_2"/>
          <p:cNvSpPr/>
          <p:nvPr/>
        </p:nvSpPr>
        <p:spPr>
          <a:xfrm>
            <a:off x="4740861" y="2608323"/>
            <a:ext cx="135938" cy="288869"/>
          </a:xfrm>
          <a:prstGeom prst="rect">
            <a:avLst/>
          </a:prstGeom>
          <a:solidFill>
            <a:srgbClr val="C7DBF7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oal_encoding_0" descr="Editable shape; source id goal_encoding_0"/>
          <p:cNvSpPr/>
          <p:nvPr/>
        </p:nvSpPr>
        <p:spPr>
          <a:xfrm>
            <a:off x="5114692" y="2327949"/>
            <a:ext cx="84961" cy="104078"/>
          </a:xfrm>
          <a:prstGeom prst="rect">
            <a:avLst/>
          </a:prstGeom>
          <a:solidFill>
            <a:srgbClr val="A4C978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oal_encoding_1" descr="Editable shape; source id goal_encoding_1"/>
          <p:cNvSpPr/>
          <p:nvPr/>
        </p:nvSpPr>
        <p:spPr>
          <a:xfrm>
            <a:off x="5114692" y="2432027"/>
            <a:ext cx="84961" cy="104078"/>
          </a:xfrm>
          <a:prstGeom prst="rect">
            <a:avLst/>
          </a:prstGeom>
          <a:solidFill>
            <a:srgbClr val="D5E9BD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oal_encoding_2" descr="Editable shape; source id goal_encoding_2"/>
          <p:cNvSpPr/>
          <p:nvPr/>
        </p:nvSpPr>
        <p:spPr>
          <a:xfrm>
            <a:off x="5114692" y="2536105"/>
            <a:ext cx="84961" cy="104078"/>
          </a:xfrm>
          <a:prstGeom prst="rect">
            <a:avLst/>
          </a:prstGeom>
          <a:solidFill>
            <a:srgbClr val="C9E49A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oal_encoding_3" descr="Editable shape; source id goal_encoding_3"/>
          <p:cNvSpPr/>
          <p:nvPr/>
        </p:nvSpPr>
        <p:spPr>
          <a:xfrm>
            <a:off x="5114692" y="2640183"/>
            <a:ext cx="84961" cy="104078"/>
          </a:xfrm>
          <a:prstGeom prst="rect">
            <a:avLst/>
          </a:prstGeom>
          <a:solidFill>
            <a:srgbClr val="FBDD2E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l_encoding_4" descr="Editable shape; source id goal_encoding_4"/>
          <p:cNvSpPr/>
          <p:nvPr/>
        </p:nvSpPr>
        <p:spPr>
          <a:xfrm>
            <a:off x="5114692" y="2744261"/>
            <a:ext cx="84961" cy="104078"/>
          </a:xfrm>
          <a:prstGeom prst="rect">
            <a:avLst/>
          </a:prstGeom>
          <a:solidFill>
            <a:srgbClr val="BBDC85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oal_encoding_5" descr="Editable shape; source id goal_encoding_5"/>
          <p:cNvSpPr/>
          <p:nvPr/>
        </p:nvSpPr>
        <p:spPr>
          <a:xfrm>
            <a:off x="5114692" y="2848339"/>
            <a:ext cx="84961" cy="104078"/>
          </a:xfrm>
          <a:prstGeom prst="rect">
            <a:avLst/>
          </a:prstGeom>
          <a:solidFill>
            <a:srgbClr val="94C675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oal_encoding_6" descr="Editable shape; source id goal_encoding_6"/>
          <p:cNvSpPr/>
          <p:nvPr/>
        </p:nvSpPr>
        <p:spPr>
          <a:xfrm>
            <a:off x="5114692" y="2952418"/>
            <a:ext cx="84961" cy="104078"/>
          </a:xfrm>
          <a:prstGeom prst="rect">
            <a:avLst/>
          </a:prstGeom>
          <a:solidFill>
            <a:srgbClr val="BBDC85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oal_encoding_7" descr="Editable shape; source id goal_encoding_7"/>
          <p:cNvSpPr/>
          <p:nvPr/>
        </p:nvSpPr>
        <p:spPr>
          <a:xfrm>
            <a:off x="5114692" y="3056496"/>
            <a:ext cx="84961" cy="104078"/>
          </a:xfrm>
          <a:prstGeom prst="rect">
            <a:avLst/>
          </a:prstGeom>
          <a:solidFill>
            <a:srgbClr val="A4C978"/>
          </a:solidFill>
          <a:ln w="16992">
            <a:solidFill>
              <a:srgbClr val="397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oal_512" descr="Editable text; source id goal_512"/>
          <p:cNvSpPr txBox="1"/>
          <p:nvPr/>
        </p:nvSpPr>
        <p:spPr>
          <a:xfrm>
            <a:off x="4961761" y="3203054"/>
            <a:ext cx="560747" cy="2209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512-D</a:t>
            </a:r>
          </a:p>
        </p:txBody>
      </p:sp>
      <p:sp>
        <p:nvSpPr>
          <p:cNvPr id="50" name="goal_symbol" descr="Editable text; source id goal_symbol"/>
          <p:cNvSpPr txBox="1"/>
          <p:nvPr/>
        </p:nvSpPr>
        <p:spPr>
          <a:xfrm>
            <a:off x="3967710" y="3033131"/>
            <a:ext cx="322854" cy="3313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61"/>
              </a:lnSpc>
              <a:spcBef>
                <a:spcPts val="0"/>
              </a:spcBef>
              <a:spcAft>
                <a:spcPts val="0"/>
              </a:spcAft>
              <a:defRPr sz="2140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0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ϕ</a:t>
            </a:r>
          </a:p>
        </p:txBody>
      </p:sp>
      <p:sp>
        <p:nvSpPr>
          <p:cNvPr id="51" name="obs_token_arrow" descr="Editable line; source id obs_token_arrow"/>
          <p:cNvSpPr/>
          <p:nvPr/>
        </p:nvSpPr>
        <p:spPr>
          <a:xfrm>
            <a:off x="5581982" y="1146983"/>
            <a:ext cx="271877" cy="50977"/>
          </a:xfrm>
          <a:custGeom>
            <a:avLst/>
            <a:gdLst/>
            <a:ahLst/>
            <a:cxnLst/>
            <a:rect l="l" t="t" r="r" b="b"/>
            <a:pathLst>
              <a:path w="32000" h="6000">
                <a:moveTo>
                  <a:pt x="0" y="2200"/>
                </a:moveTo>
                <a:lnTo>
                  <a:pt x="24000" y="2200"/>
                </a:lnTo>
                <a:lnTo>
                  <a:pt x="24000" y="0"/>
                </a:lnTo>
                <a:lnTo>
                  <a:pt x="32000" y="3000"/>
                </a:lnTo>
                <a:lnTo>
                  <a:pt x="24000" y="6000"/>
                </a:lnTo>
                <a:lnTo>
                  <a:pt x="240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oal_token_arrow" descr="Editable line; source id goal_token_arrow"/>
          <p:cNvSpPr/>
          <p:nvPr/>
        </p:nvSpPr>
        <p:spPr>
          <a:xfrm>
            <a:off x="5581982" y="2701781"/>
            <a:ext cx="271877" cy="50977"/>
          </a:xfrm>
          <a:custGeom>
            <a:avLst/>
            <a:gdLst/>
            <a:ahLst/>
            <a:cxnLst/>
            <a:rect l="l" t="t" r="r" b="b"/>
            <a:pathLst>
              <a:path w="32000" h="6000">
                <a:moveTo>
                  <a:pt x="0" y="2200"/>
                </a:moveTo>
                <a:lnTo>
                  <a:pt x="24000" y="2200"/>
                </a:lnTo>
                <a:lnTo>
                  <a:pt x="24000" y="0"/>
                </a:lnTo>
                <a:lnTo>
                  <a:pt x="32000" y="3000"/>
                </a:lnTo>
                <a:lnTo>
                  <a:pt x="24000" y="6000"/>
                </a:lnTo>
                <a:lnTo>
                  <a:pt x="240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peat" descr="Editable text; source id repeat"/>
          <p:cNvSpPr txBox="1"/>
          <p:nvPr/>
        </p:nvSpPr>
        <p:spPr>
          <a:xfrm>
            <a:off x="5624462" y="926082"/>
            <a:ext cx="254885" cy="21240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x6</a:t>
            </a:r>
          </a:p>
        </p:txBody>
      </p:sp>
      <p:sp>
        <p:nvSpPr>
          <p:cNvPr id="54" name="input_token_frame" descr="Editable shape; source id input_token_frame"/>
          <p:cNvSpPr/>
          <p:nvPr/>
        </p:nvSpPr>
        <p:spPr>
          <a:xfrm>
            <a:off x="5875099" y="216652"/>
            <a:ext cx="475785" cy="2922681"/>
          </a:xfrm>
          <a:prstGeom prst="rect">
            <a:avLst/>
          </a:prstGeom>
          <a:noFill/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nput_token_0" descr="Editable shape; source id input_token_0"/>
          <p:cNvSpPr/>
          <p:nvPr/>
        </p:nvSpPr>
        <p:spPr>
          <a:xfrm>
            <a:off x="6006790" y="348342"/>
            <a:ext cx="220900" cy="220900"/>
          </a:xfrm>
          <a:prstGeom prst="rect">
            <a:avLst/>
          </a:prstGeom>
          <a:solidFill>
            <a:srgbClr val="AD4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nput_token_1" descr="Editable shape; source id input_token_1"/>
          <p:cNvSpPr/>
          <p:nvPr/>
        </p:nvSpPr>
        <p:spPr>
          <a:xfrm>
            <a:off x="6006790" y="637212"/>
            <a:ext cx="220900" cy="220900"/>
          </a:xfrm>
          <a:prstGeom prst="rect">
            <a:avLst/>
          </a:prstGeom>
          <a:solidFill>
            <a:srgbClr val="AD4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nput_token_2" descr="Editable shape; source id input_token_2"/>
          <p:cNvSpPr/>
          <p:nvPr/>
        </p:nvSpPr>
        <p:spPr>
          <a:xfrm>
            <a:off x="6006790" y="934578"/>
            <a:ext cx="220900" cy="220900"/>
          </a:xfrm>
          <a:prstGeom prst="rect">
            <a:avLst/>
          </a:prstGeom>
          <a:solidFill>
            <a:srgbClr val="AD4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input_token_3" descr="Editable shape; source id input_token_3"/>
          <p:cNvSpPr/>
          <p:nvPr/>
        </p:nvSpPr>
        <p:spPr>
          <a:xfrm>
            <a:off x="6006790" y="1231944"/>
            <a:ext cx="220900" cy="220900"/>
          </a:xfrm>
          <a:prstGeom prst="rect">
            <a:avLst/>
          </a:prstGeom>
          <a:solidFill>
            <a:srgbClr val="AD4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nput_token_4" descr="Editable shape; source id input_token_4"/>
          <p:cNvSpPr/>
          <p:nvPr/>
        </p:nvSpPr>
        <p:spPr>
          <a:xfrm>
            <a:off x="6006790" y="1529310"/>
            <a:ext cx="220900" cy="220900"/>
          </a:xfrm>
          <a:prstGeom prst="rect">
            <a:avLst/>
          </a:prstGeom>
          <a:solidFill>
            <a:srgbClr val="AD4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nput_token_5" descr="Editable shape; source id input_token_5"/>
          <p:cNvSpPr/>
          <p:nvPr/>
        </p:nvSpPr>
        <p:spPr>
          <a:xfrm>
            <a:off x="6006790" y="1818179"/>
            <a:ext cx="220900" cy="220900"/>
          </a:xfrm>
          <a:prstGeom prst="rect">
            <a:avLst/>
          </a:prstGeom>
          <a:solidFill>
            <a:srgbClr val="AD4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nput_token_6" descr="Editable shape; source id input_token_6"/>
          <p:cNvSpPr/>
          <p:nvPr/>
        </p:nvSpPr>
        <p:spPr>
          <a:xfrm>
            <a:off x="6006790" y="2752758"/>
            <a:ext cx="220900" cy="220900"/>
          </a:xfrm>
          <a:prstGeom prst="rect">
            <a:avLst/>
          </a:prstGeom>
          <a:solidFill>
            <a:srgbClr val="34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oken_to_attention" descr="Editable line; source id token_to_attention"/>
          <p:cNvSpPr/>
          <p:nvPr/>
        </p:nvSpPr>
        <p:spPr>
          <a:xfrm>
            <a:off x="6355133" y="1652504"/>
            <a:ext cx="1121494" cy="50977"/>
          </a:xfrm>
          <a:custGeom>
            <a:avLst/>
            <a:gdLst/>
            <a:ahLst/>
            <a:cxnLst/>
            <a:rect l="l" t="t" r="r" b="b"/>
            <a:pathLst>
              <a:path w="132000" h="6000">
                <a:moveTo>
                  <a:pt x="0" y="2200"/>
                </a:moveTo>
                <a:lnTo>
                  <a:pt x="124000" y="2200"/>
                </a:lnTo>
                <a:lnTo>
                  <a:pt x="124000" y="0"/>
                </a:lnTo>
                <a:lnTo>
                  <a:pt x="132000" y="3000"/>
                </a:lnTo>
                <a:lnTo>
                  <a:pt x="124000" y="6000"/>
                </a:lnTo>
                <a:lnTo>
                  <a:pt x="124000" y="3800"/>
                </a:lnTo>
                <a:lnTo>
                  <a:pt x="0" y="38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ddition_circle" descr="Editable shape; source id addition_circle"/>
          <p:cNvSpPr/>
          <p:nvPr/>
        </p:nvSpPr>
        <p:spPr>
          <a:xfrm>
            <a:off x="6677987" y="1440100"/>
            <a:ext cx="471537" cy="471537"/>
          </a:xfrm>
          <a:prstGeom prst="ellipse">
            <a:avLst/>
          </a:prstGeom>
          <a:solidFill>
            <a:srgbClr val="EEEEEE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addition_horizontal" descr="Editable line; source id addition_horizontal"/>
          <p:cNvCxnSpPr/>
          <p:nvPr/>
        </p:nvCxnSpPr>
        <p:spPr>
          <a:xfrm>
            <a:off x="6686483" y="1677992"/>
            <a:ext cx="450297" cy="0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addition_vertical" descr="Editable line; source id addition_vertical"/>
          <p:cNvCxnSpPr/>
          <p:nvPr/>
        </p:nvCxnSpPr>
        <p:spPr>
          <a:xfrm>
            <a:off x="6915879" y="1452844"/>
            <a:ext cx="0" cy="450297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position_down" descr="Editable line; source id position_down"/>
          <p:cNvCxnSpPr/>
          <p:nvPr/>
        </p:nvCxnSpPr>
        <p:spPr>
          <a:xfrm>
            <a:off x="6915879" y="989803"/>
            <a:ext cx="0" cy="446049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position_circle" descr="Editable shape; source id position_circle"/>
          <p:cNvSpPr/>
          <p:nvPr/>
        </p:nvSpPr>
        <p:spPr>
          <a:xfrm>
            <a:off x="6728964" y="615972"/>
            <a:ext cx="373831" cy="373831"/>
          </a:xfrm>
          <a:prstGeom prst="ellipse">
            <a:avLst/>
          </a:prstGeom>
          <a:noFill/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position_wave_0" descr="Editable line; source id position_wave_0"/>
          <p:cNvCxnSpPr/>
          <p:nvPr/>
        </p:nvCxnSpPr>
        <p:spPr>
          <a:xfrm flipV="1">
            <a:off x="6737460" y="739166"/>
            <a:ext cx="16992" cy="50977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position_wave_1" descr="Editable line; source id position_wave_1"/>
          <p:cNvCxnSpPr/>
          <p:nvPr/>
        </p:nvCxnSpPr>
        <p:spPr>
          <a:xfrm flipV="1">
            <a:off x="6754452" y="705181"/>
            <a:ext cx="33985" cy="33985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position_wave_2" descr="Editable line; source id position_wave_2"/>
          <p:cNvCxnSpPr/>
          <p:nvPr/>
        </p:nvCxnSpPr>
        <p:spPr>
          <a:xfrm>
            <a:off x="6788437" y="705181"/>
            <a:ext cx="42481" cy="0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position_wave_3" descr="Editable line; source id position_wave_3"/>
          <p:cNvCxnSpPr/>
          <p:nvPr/>
        </p:nvCxnSpPr>
        <p:spPr>
          <a:xfrm>
            <a:off x="6830918" y="705181"/>
            <a:ext cx="42481" cy="16993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position_wave_4" descr="Editable line; source id position_wave_4"/>
          <p:cNvCxnSpPr/>
          <p:nvPr/>
        </p:nvCxnSpPr>
        <p:spPr>
          <a:xfrm>
            <a:off x="6873399" y="722174"/>
            <a:ext cx="25488" cy="42481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position_wave_5" descr="Editable line; source id position_wave_5"/>
          <p:cNvCxnSpPr/>
          <p:nvPr/>
        </p:nvCxnSpPr>
        <p:spPr>
          <a:xfrm>
            <a:off x="6898887" y="764655"/>
            <a:ext cx="8496" cy="59473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position_wave_6" descr="Editable line; source id position_wave_6"/>
          <p:cNvCxnSpPr/>
          <p:nvPr/>
        </p:nvCxnSpPr>
        <p:spPr>
          <a:xfrm>
            <a:off x="6907383" y="824128"/>
            <a:ext cx="25489" cy="50977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position_wave_7" descr="Editable line; source id position_wave_7"/>
          <p:cNvCxnSpPr/>
          <p:nvPr/>
        </p:nvCxnSpPr>
        <p:spPr>
          <a:xfrm>
            <a:off x="6932872" y="875105"/>
            <a:ext cx="42481" cy="25488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position_wave_8" descr="Editable line; source id position_wave_8"/>
          <p:cNvCxnSpPr/>
          <p:nvPr/>
        </p:nvCxnSpPr>
        <p:spPr>
          <a:xfrm>
            <a:off x="6975353" y="900593"/>
            <a:ext cx="50977" cy="0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position_wave_9" descr="Editable line; source id position_wave_9"/>
          <p:cNvCxnSpPr/>
          <p:nvPr/>
        </p:nvCxnSpPr>
        <p:spPr>
          <a:xfrm flipV="1">
            <a:off x="7026330" y="866609"/>
            <a:ext cx="42480" cy="33984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position_wave_10" descr="Editable line; source id position_wave_10"/>
          <p:cNvCxnSpPr/>
          <p:nvPr/>
        </p:nvCxnSpPr>
        <p:spPr>
          <a:xfrm flipV="1">
            <a:off x="7068810" y="824128"/>
            <a:ext cx="25489" cy="42481"/>
          </a:xfrm>
          <a:prstGeom prst="line">
            <a:avLst/>
          </a:prstGeom>
          <a:ln w="13593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ttention_1" descr="Editable shape; source id attention_1"/>
          <p:cNvSpPr/>
          <p:nvPr/>
        </p:nvSpPr>
        <p:spPr>
          <a:xfrm>
            <a:off x="7493619" y="564995"/>
            <a:ext cx="509770" cy="2234491"/>
          </a:xfrm>
          <a:prstGeom prst="roundRect">
            <a:avLst>
              <a:gd name="adj" fmla="val 16666"/>
            </a:avLst>
          </a:prstGeom>
          <a:solidFill>
            <a:srgbClr val="FCE6CF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ttention_1_label" descr="Editable text; source id attention_1_label"/>
          <p:cNvSpPr txBox="1"/>
          <p:nvPr/>
        </p:nvSpPr>
        <p:spPr>
          <a:xfrm rot="16200000">
            <a:off x="6988097" y="1435852"/>
            <a:ext cx="1571790" cy="31435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07"/>
              </a:lnSpc>
              <a:spcBef>
                <a:spcPts val="0"/>
              </a:spcBef>
              <a:spcAft>
                <a:spcPts val="0"/>
              </a:spcAft>
              <a:defRPr sz="1806" b="0" i="0" lang="zh-CN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6" b="0" i="0" lang="zh-CN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Self-Attention</a:t>
            </a:r>
          </a:p>
        </p:txBody>
      </p:sp>
      <p:sp>
        <p:nvSpPr>
          <p:cNvPr id="81" name="attention_2" descr="Editable shape; source id attention_2"/>
          <p:cNvSpPr/>
          <p:nvPr/>
        </p:nvSpPr>
        <p:spPr>
          <a:xfrm>
            <a:off x="8445190" y="564995"/>
            <a:ext cx="509770" cy="2234491"/>
          </a:xfrm>
          <a:prstGeom prst="roundRect">
            <a:avLst>
              <a:gd name="adj" fmla="val 16666"/>
            </a:avLst>
          </a:prstGeom>
          <a:solidFill>
            <a:srgbClr val="FCE6CF"/>
          </a:solidFill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ttention_2_label" descr="Editable text; source id attention_2_label"/>
          <p:cNvSpPr txBox="1"/>
          <p:nvPr/>
        </p:nvSpPr>
        <p:spPr>
          <a:xfrm rot="16200000">
            <a:off x="7939668" y="1435852"/>
            <a:ext cx="1571790" cy="31435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07"/>
              </a:lnSpc>
              <a:spcBef>
                <a:spcPts val="0"/>
              </a:spcBef>
              <a:spcAft>
                <a:spcPts val="0"/>
              </a:spcAft>
              <a:defRPr sz="1806" b="0" i="0" lang="zh-CN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6" b="0" i="0" lang="zh-CN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Self-Attention</a:t>
            </a:r>
          </a:p>
        </p:txBody>
      </p:sp>
      <p:sp>
        <p:nvSpPr>
          <p:cNvPr id="83" name="attention_dot_0" descr="Editable shape; source id attention_dot_0"/>
          <p:cNvSpPr/>
          <p:nvPr/>
        </p:nvSpPr>
        <p:spPr>
          <a:xfrm>
            <a:off x="8088351" y="1656752"/>
            <a:ext cx="46728" cy="4672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ttention_dot_1" descr="Editable shape; source id attention_dot_1"/>
          <p:cNvSpPr/>
          <p:nvPr/>
        </p:nvSpPr>
        <p:spPr>
          <a:xfrm>
            <a:off x="8198801" y="1656752"/>
            <a:ext cx="46728" cy="4672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ttention_dot_2" descr="Editable shape; source id attention_dot_2"/>
          <p:cNvSpPr/>
          <p:nvPr/>
        </p:nvSpPr>
        <p:spPr>
          <a:xfrm>
            <a:off x="8309251" y="1656752"/>
            <a:ext cx="46728" cy="4672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ction_token_frame" descr="Editable shape; source id action_token_frame"/>
          <p:cNvSpPr/>
          <p:nvPr/>
        </p:nvSpPr>
        <p:spPr>
          <a:xfrm>
            <a:off x="9218341" y="216652"/>
            <a:ext cx="475785" cy="2922681"/>
          </a:xfrm>
          <a:prstGeom prst="rect">
            <a:avLst/>
          </a:prstGeom>
          <a:noFill/>
          <a:ln w="12744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ction_token_0" descr="Editable shape; source id action_token_0"/>
          <p:cNvSpPr/>
          <p:nvPr/>
        </p:nvSpPr>
        <p:spPr>
          <a:xfrm>
            <a:off x="9345783" y="348342"/>
            <a:ext cx="220900" cy="220900"/>
          </a:xfrm>
          <a:prstGeom prst="rect">
            <a:avLst/>
          </a:prstGeom>
          <a:solidFill>
            <a:srgbClr val="BB1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action_token_1" descr="Editable shape; source id action_token_1"/>
          <p:cNvSpPr/>
          <p:nvPr/>
        </p:nvSpPr>
        <p:spPr>
          <a:xfrm>
            <a:off x="9345783" y="645708"/>
            <a:ext cx="220900" cy="220900"/>
          </a:xfrm>
          <a:prstGeom prst="rect">
            <a:avLst/>
          </a:prstGeom>
          <a:solidFill>
            <a:srgbClr val="694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action_token_2" descr="Editable shape; source id action_token_2"/>
          <p:cNvSpPr/>
          <p:nvPr/>
        </p:nvSpPr>
        <p:spPr>
          <a:xfrm>
            <a:off x="9345783" y="934578"/>
            <a:ext cx="220900" cy="220900"/>
          </a:xfrm>
          <a:prstGeom prst="rect">
            <a:avLst/>
          </a:prstGeom>
          <a:solidFill>
            <a:srgbClr val="694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ction_token_3" descr="Editable shape; source id action_token_3"/>
          <p:cNvSpPr/>
          <p:nvPr/>
        </p:nvSpPr>
        <p:spPr>
          <a:xfrm>
            <a:off x="9345783" y="1231944"/>
            <a:ext cx="220900" cy="220900"/>
          </a:xfrm>
          <a:prstGeom prst="rect">
            <a:avLst/>
          </a:prstGeom>
          <a:solidFill>
            <a:srgbClr val="694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ction_token_4" descr="Editable shape; source id action_token_4"/>
          <p:cNvSpPr/>
          <p:nvPr/>
        </p:nvSpPr>
        <p:spPr>
          <a:xfrm>
            <a:off x="9345783" y="1529310"/>
            <a:ext cx="220900" cy="220900"/>
          </a:xfrm>
          <a:prstGeom prst="rect">
            <a:avLst/>
          </a:prstGeom>
          <a:solidFill>
            <a:srgbClr val="694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ction_token_5" descr="Editable shape; source id action_token_5"/>
          <p:cNvSpPr/>
          <p:nvPr/>
        </p:nvSpPr>
        <p:spPr>
          <a:xfrm>
            <a:off x="9345783" y="2200507"/>
            <a:ext cx="220900" cy="220900"/>
          </a:xfrm>
          <a:prstGeom prst="rect">
            <a:avLst/>
          </a:prstGeom>
          <a:solidFill>
            <a:srgbClr val="694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action_token_6" descr="Editable shape; source id action_token_6"/>
          <p:cNvSpPr/>
          <p:nvPr/>
        </p:nvSpPr>
        <p:spPr>
          <a:xfrm>
            <a:off x="9345783" y="2489376"/>
            <a:ext cx="220900" cy="220900"/>
          </a:xfrm>
          <a:prstGeom prst="rect">
            <a:avLst/>
          </a:prstGeom>
          <a:solidFill>
            <a:srgbClr val="694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action_token_7" descr="Editable shape; source id action_token_7"/>
          <p:cNvSpPr/>
          <p:nvPr/>
        </p:nvSpPr>
        <p:spPr>
          <a:xfrm>
            <a:off x="9345783" y="2778246"/>
            <a:ext cx="220900" cy="220900"/>
          </a:xfrm>
          <a:prstGeom prst="rect">
            <a:avLst/>
          </a:prstGeom>
          <a:solidFill>
            <a:srgbClr val="694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ction_dot_0" descr="Editable shape; source id action_dot_0"/>
          <p:cNvSpPr/>
          <p:nvPr/>
        </p:nvSpPr>
        <p:spPr>
          <a:xfrm>
            <a:off x="9430745" y="1835172"/>
            <a:ext cx="46728" cy="4672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ction_dot_1" descr="Editable shape; source id action_dot_1"/>
          <p:cNvSpPr/>
          <p:nvPr/>
        </p:nvSpPr>
        <p:spPr>
          <a:xfrm>
            <a:off x="9430745" y="1954118"/>
            <a:ext cx="46728" cy="4672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ion_dot_2" descr="Editable shape; source id action_dot_2"/>
          <p:cNvSpPr/>
          <p:nvPr/>
        </p:nvSpPr>
        <p:spPr>
          <a:xfrm>
            <a:off x="9430745" y="2073064"/>
            <a:ext cx="46728" cy="4672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opwatch_ring" descr="Editable shape; source id stopwatch_ring"/>
          <p:cNvSpPr/>
          <p:nvPr/>
        </p:nvSpPr>
        <p:spPr>
          <a:xfrm>
            <a:off x="10756147" y="407816"/>
            <a:ext cx="484281" cy="484281"/>
          </a:xfrm>
          <a:prstGeom prst="ellipse">
            <a:avLst/>
          </a:prstGeom>
          <a:noFill/>
          <a:ln w="424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topwatch_stem" descr="Editable shape; source id stopwatch_stem"/>
          <p:cNvSpPr/>
          <p:nvPr/>
        </p:nvSpPr>
        <p:spPr>
          <a:xfrm>
            <a:off x="10951559" y="288869"/>
            <a:ext cx="93457" cy="11894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topwatch_button" descr="Editable shape; source id stopwatch_button"/>
          <p:cNvSpPr/>
          <p:nvPr/>
        </p:nvSpPr>
        <p:spPr>
          <a:xfrm>
            <a:off x="10934566" y="220900"/>
            <a:ext cx="135938" cy="101954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topwatch_side_button" descr="Editable shape; source id stopwatch_side_button"/>
          <p:cNvSpPr/>
          <p:nvPr/>
        </p:nvSpPr>
        <p:spPr>
          <a:xfrm>
            <a:off x="11189452" y="373831"/>
            <a:ext cx="84962" cy="42481"/>
          </a:xfrm>
          <a:custGeom>
            <a:avLst/>
            <a:gdLst/>
            <a:ahLst/>
            <a:cxnLst/>
            <a:rect l="l" t="t" r="r" b="b"/>
            <a:pathLst>
              <a:path w="10000" h="5000">
                <a:moveTo>
                  <a:pt x="0" y="0"/>
                </a:moveTo>
                <a:lnTo>
                  <a:pt x="4000" y="0"/>
                </a:lnTo>
                <a:lnTo>
                  <a:pt x="10000" y="5000"/>
                </a:lnTo>
                <a:lnTo>
                  <a:pt x="6000" y="5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topwatch_hand" descr="Editable shape; source id stopwatch_hand"/>
          <p:cNvSpPr/>
          <p:nvPr/>
        </p:nvSpPr>
        <p:spPr>
          <a:xfrm>
            <a:off x="11002536" y="492778"/>
            <a:ext cx="144435" cy="246389"/>
          </a:xfrm>
          <a:custGeom>
            <a:avLst/>
            <a:gdLst/>
            <a:ahLst/>
            <a:cxnLst/>
            <a:rect l="l" t="t" r="r" b="b"/>
            <a:pathLst>
              <a:path w="17000" h="29000">
                <a:moveTo>
                  <a:pt x="0" y="0"/>
                </a:moveTo>
                <a:lnTo>
                  <a:pt x="8500" y="4060"/>
                </a:lnTo>
                <a:lnTo>
                  <a:pt x="17000" y="18850"/>
                </a:lnTo>
                <a:lnTo>
                  <a:pt x="12750" y="29000"/>
                </a:lnTo>
                <a:lnTo>
                  <a:pt x="0" y="174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stopwatch_tick" descr="Editable line; source id stopwatch_tick"/>
          <p:cNvCxnSpPr/>
          <p:nvPr/>
        </p:nvCxnSpPr>
        <p:spPr>
          <a:xfrm>
            <a:off x="10773139" y="645708"/>
            <a:ext cx="67970" cy="0"/>
          </a:xfrm>
          <a:prstGeom prst="line">
            <a:avLst/>
          </a:prstGeom>
          <a:ln w="2548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bservations" descr="Editable text; source id observations"/>
          <p:cNvSpPr txBox="1"/>
          <p:nvPr/>
        </p:nvSpPr>
        <p:spPr>
          <a:xfrm>
            <a:off x="365335" y="67969"/>
            <a:ext cx="1614271" cy="25488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05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5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105" name="past" descr="Editable text; source id past"/>
          <p:cNvSpPr txBox="1"/>
          <p:nvPr/>
        </p:nvSpPr>
        <p:spPr>
          <a:xfrm>
            <a:off x="433304" y="322854"/>
            <a:ext cx="1461340" cy="2039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07"/>
              </a:lnSpc>
              <a:spcBef>
                <a:spcPts val="0"/>
              </a:spcBef>
              <a:spcAft>
                <a:spcPts val="0"/>
              </a:spcAft>
              <a:defRPr sz="1137" b="0" i="0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37" b="0" i="0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Past 5 timesteps</a:t>
            </a:r>
          </a:p>
        </p:txBody>
      </p:sp>
      <p:sp>
        <p:nvSpPr>
          <p:cNvPr id="106" name="rgb" descr="Editable text; source id rgb"/>
          <p:cNvSpPr txBox="1"/>
          <p:nvPr/>
        </p:nvSpPr>
        <p:spPr>
          <a:xfrm>
            <a:off x="569243" y="492777"/>
            <a:ext cx="1163974" cy="1869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85x64x3 RGB</a:t>
            </a:r>
          </a:p>
        </p:txBody>
      </p:sp>
      <p:sp>
        <p:nvSpPr>
          <p:cNvPr id="107" name="goal_label" descr="Editable text; source id goal_label"/>
          <p:cNvSpPr txBox="1"/>
          <p:nvPr/>
        </p:nvSpPr>
        <p:spPr>
          <a:xfrm>
            <a:off x="101954" y="3220047"/>
            <a:ext cx="2081560" cy="2633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defRPr sz="1538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Goal + Observation</a:t>
            </a:r>
          </a:p>
        </p:txBody>
      </p:sp>
      <p:sp>
        <p:nvSpPr>
          <p:cNvPr id="108" name="fusion" descr="Editable text; source id fusion"/>
          <p:cNvSpPr txBox="1"/>
          <p:nvPr/>
        </p:nvSpPr>
        <p:spPr>
          <a:xfrm>
            <a:off x="594731" y="3466436"/>
            <a:ext cx="1189463" cy="21240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Early Fusion</a:t>
            </a:r>
          </a:p>
        </p:txBody>
      </p:sp>
      <p:sp>
        <p:nvSpPr>
          <p:cNvPr id="109" name="position_label" descr="Editable text; source id position_label"/>
          <p:cNvSpPr txBox="1"/>
          <p:nvPr/>
        </p:nvSpPr>
        <p:spPr>
          <a:xfrm>
            <a:off x="6431598" y="280373"/>
            <a:ext cx="1452844" cy="2293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Positional Encoding</a:t>
            </a:r>
          </a:p>
        </p:txBody>
      </p:sp>
      <p:sp>
        <p:nvSpPr>
          <p:cNvPr id="110" name="tokens_label" descr="Editable text; source id tokens_label"/>
          <p:cNvSpPr txBox="1"/>
          <p:nvPr/>
        </p:nvSpPr>
        <p:spPr>
          <a:xfrm>
            <a:off x="5828370" y="3220047"/>
            <a:ext cx="832624" cy="21240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defRPr sz="1204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4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 Tokens</a:t>
            </a:r>
          </a:p>
        </p:txBody>
      </p:sp>
      <p:sp>
        <p:nvSpPr>
          <p:cNvPr id="111" name="token_dim" descr="Editable text; source id token_dim"/>
          <p:cNvSpPr txBox="1"/>
          <p:nvPr/>
        </p:nvSpPr>
        <p:spPr>
          <a:xfrm>
            <a:off x="5879347" y="3415459"/>
            <a:ext cx="764655" cy="21240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x512-D</a:t>
            </a:r>
          </a:p>
        </p:txBody>
      </p:sp>
      <p:sp>
        <p:nvSpPr>
          <p:cNvPr id="112" name="transformer" descr="Editable text; source id transformer"/>
          <p:cNvSpPr txBox="1"/>
          <p:nvPr/>
        </p:nvSpPr>
        <p:spPr>
          <a:xfrm>
            <a:off x="7689031" y="2905689"/>
            <a:ext cx="1444348" cy="2803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05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5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113" name="layers" descr="Editable text; source id layers"/>
          <p:cNvSpPr txBox="1"/>
          <p:nvPr/>
        </p:nvSpPr>
        <p:spPr>
          <a:xfrm>
            <a:off x="7706023" y="3143581"/>
            <a:ext cx="1359386" cy="2039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 Layers, 4 Heads</a:t>
            </a:r>
          </a:p>
        </p:txBody>
      </p:sp>
      <p:sp>
        <p:nvSpPr>
          <p:cNvPr id="114" name="param" descr="Editable text; source id param"/>
          <p:cNvSpPr txBox="1"/>
          <p:nvPr/>
        </p:nvSpPr>
        <p:spPr>
          <a:xfrm>
            <a:off x="7723015" y="3338993"/>
            <a:ext cx="1291417" cy="2039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21M Parameters</a:t>
            </a:r>
          </a:p>
        </p:txBody>
      </p:sp>
      <p:sp>
        <p:nvSpPr>
          <p:cNvPr id="115" name="actions" descr="Editable text; source id actions"/>
          <p:cNvSpPr txBox="1"/>
          <p:nvPr/>
        </p:nvSpPr>
        <p:spPr>
          <a:xfrm>
            <a:off x="9201348" y="3203054"/>
            <a:ext cx="747662" cy="21240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defRPr sz="1204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4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16" name="temporal" descr="Editable text; source id temporal"/>
          <p:cNvSpPr txBox="1"/>
          <p:nvPr/>
        </p:nvSpPr>
        <p:spPr>
          <a:xfrm>
            <a:off x="10195400" y="968563"/>
            <a:ext cx="1911637" cy="2803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defRPr sz="1538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Temporal Distance</a:t>
            </a:r>
          </a:p>
        </p:txBody>
      </p:sp>
      <p:sp>
        <p:nvSpPr>
          <p:cNvPr id="117" name="temporal_dim" descr="Editable text; source id temporal_dim"/>
          <p:cNvSpPr txBox="1"/>
          <p:nvPr/>
        </p:nvSpPr>
        <p:spPr>
          <a:xfrm>
            <a:off x="10518254" y="1214951"/>
            <a:ext cx="1452844" cy="2209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C55F50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C55F50"/>
                </a:solidFill>
                <a:latin typeface="Arial"/>
                <a:ea typeface="Arial"/>
                <a:cs typeface="Arial"/>
              </a:rPr>
              <a:t>1-D, Continuous</a:t>
            </a:r>
          </a:p>
        </p:txBody>
      </p:sp>
      <p:sp>
        <p:nvSpPr>
          <p:cNvPr id="118" name="normalized" descr="Editable text; source id normalized"/>
          <p:cNvSpPr txBox="1"/>
          <p:nvPr/>
        </p:nvSpPr>
        <p:spPr>
          <a:xfrm>
            <a:off x="10152919" y="3033131"/>
            <a:ext cx="2022087" cy="2718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defRPr sz="1538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 b="0" i="0" lang="zh-CN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 Actions</a:t>
            </a:r>
          </a:p>
        </p:txBody>
      </p:sp>
      <p:sp>
        <p:nvSpPr>
          <p:cNvPr id="119" name="normalized_dim" descr="Editable text; source id normalized_dim"/>
          <p:cNvSpPr txBox="1"/>
          <p:nvPr/>
        </p:nvSpPr>
        <p:spPr>
          <a:xfrm>
            <a:off x="10441789" y="3271024"/>
            <a:ext cx="1656752" cy="2209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70" b="0" i="1" lang="zh-CN" dirty="0">
                <a:solidFill>
                  <a:srgbClr val="8870BC"/>
                </a:solidFill>
                <a:latin typeface="Arial"/>
                <a:ea typeface="Arial"/>
                <a:cs typeface="Arial"/>
              </a:defRPr>
            </a:pPr>
            <a:r>
              <a:rPr sz="1070" b="0" i="1" lang="zh-CN" dirty="0">
                <a:solidFill>
                  <a:srgbClr val="8870BC"/>
                </a:solidFill>
                <a:latin typeface="Arial"/>
                <a:ea typeface="Arial"/>
                <a:cs typeface="Arial"/>
              </a:rPr>
              <a:t>3x5-D, Continuous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